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slide+xml" PartName="/ppt/slides/slide25.xml"/>
  <Override ContentType="application/vnd.openxmlformats-officedocument.presentationml.slide+xml" PartName="/ppt/slides/slide26.xml"/>
  <Override ContentType="application/vnd.openxmlformats-officedocument.presentationml.slide+xml" PartName="/ppt/slides/slide27.xml"/>
  <Override ContentType="application/vnd.openxmlformats-officedocument.presentationml.slide+xml" PartName="/ppt/slides/slide28.xml"/>
  <Override ContentType="application/vnd.openxmlformats-officedocument.presentationml.slide+xml" PartName="/ppt/slides/slide29.xml"/>
  <Override ContentType="application/vnd.openxmlformats-officedocument.presentationml.slide+xml" PartName="/ppt/slides/slide30.xml"/>
  <Override ContentType="application/vnd.openxmlformats-officedocument.presentationml.slide+xml" PartName="/ppt/slides/slide31.xml"/>
  <Override ContentType="application/vnd.openxmlformats-officedocument.presentationml.slide+xml" PartName="/ppt/slides/slide32.xml"/>
  <Override ContentType="application/vnd.openxmlformats-officedocument.presentationml.slide+xml" PartName="/ppt/slides/slide33.xml"/>
  <Override ContentType="application/vnd.openxmlformats-officedocument.presentationml.slide+xml" PartName="/ppt/slides/slide34.xml"/>
  <Override ContentType="application/vnd.openxmlformats-officedocument.presentationml.slide+xml" PartName="/ppt/slides/slide35.xml"/>
  <Override ContentType="application/vnd.openxmlformats-officedocument.presentationml.slide+xml" PartName="/ppt/slides/slide36.xml"/>
  <Override ContentType="application/vnd.openxmlformats-officedocument.presentationml.slide+xml" PartName="/ppt/slides/slide37.xml"/>
  <Override ContentType="application/vnd.openxmlformats-officedocument.presentationml.slide+xml" PartName="/ppt/slides/slide38.xml"/>
  <Override ContentType="application/vnd.openxmlformats-officedocument.presentationml.slide+xml" PartName="/ppt/slides/slide39.xml"/>
  <Override ContentType="application/vnd.openxmlformats-officedocument.presentationml.slide+xml" PartName="/ppt/slides/slide40.xml"/>
  <Override ContentType="application/vnd.openxmlformats-officedocument.presentationml.slide+xml" PartName="/ppt/slides/slide41.xml"/>
  <Override ContentType="application/vnd.openxmlformats-officedocument.presentationml.slide+xml" PartName="/ppt/slides/slide42.xml"/>
  <Override ContentType="application/vnd.openxmlformats-officedocument.presentationml.slide+xml" PartName="/ppt/slides/slide43.xml"/>
  <Override ContentType="application/vnd.openxmlformats-officedocument.presentationml.slide+xml" PartName="/ppt/slides/slide44.xml"/>
  <Override ContentType="application/vnd.openxmlformats-officedocument.presentationml.slide+xml" PartName="/ppt/slides/slide45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</p:sldIdLst>
  <p:sldSz cx="18288000" cy="10287000"/>
  <p:notesSz cx="6858000" cy="9144000"/>
  <p:embeddedFontLst>
    <p:embeddedFont>
      <p:font typeface="Calibri (MS) Bold" charset="1" panose="020F0702030404030204"/>
      <p:regular r:id="rId51"/>
    </p:embeddedFont>
    <p:embeddedFont>
      <p:font typeface="Calibri (MS)" charset="1" panose="020F0502020204030204"/>
      <p:regular r:id="rId52"/>
    </p:embeddedFont>
    <p:embeddedFont>
      <p:font typeface="Calibri (MS) Italics" charset="1" panose="020F05020202040A0204"/>
      <p:regular r:id="rId5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slides/slide22.xml" Type="http://schemas.openxmlformats.org/officeDocument/2006/relationships/slide"/><Relationship Id="rId28" Target="slides/slide23.xml" Type="http://schemas.openxmlformats.org/officeDocument/2006/relationships/slide"/><Relationship Id="rId29" Target="slides/slide24.xml" Type="http://schemas.openxmlformats.org/officeDocument/2006/relationships/slide"/><Relationship Id="rId3" Target="viewProps.xml" Type="http://schemas.openxmlformats.org/officeDocument/2006/relationships/viewProps"/><Relationship Id="rId30" Target="slides/slide25.xml" Type="http://schemas.openxmlformats.org/officeDocument/2006/relationships/slide"/><Relationship Id="rId31" Target="slides/slide26.xml" Type="http://schemas.openxmlformats.org/officeDocument/2006/relationships/slide"/><Relationship Id="rId32" Target="slides/slide27.xml" Type="http://schemas.openxmlformats.org/officeDocument/2006/relationships/slide"/><Relationship Id="rId33" Target="slides/slide28.xml" Type="http://schemas.openxmlformats.org/officeDocument/2006/relationships/slide"/><Relationship Id="rId34" Target="slides/slide29.xml" Type="http://schemas.openxmlformats.org/officeDocument/2006/relationships/slide"/><Relationship Id="rId35" Target="slides/slide30.xml" Type="http://schemas.openxmlformats.org/officeDocument/2006/relationships/slide"/><Relationship Id="rId36" Target="slides/slide31.xml" Type="http://schemas.openxmlformats.org/officeDocument/2006/relationships/slide"/><Relationship Id="rId37" Target="slides/slide32.xml" Type="http://schemas.openxmlformats.org/officeDocument/2006/relationships/slide"/><Relationship Id="rId38" Target="slides/slide33.xml" Type="http://schemas.openxmlformats.org/officeDocument/2006/relationships/slide"/><Relationship Id="rId39" Target="slides/slide34.xml" Type="http://schemas.openxmlformats.org/officeDocument/2006/relationships/slide"/><Relationship Id="rId4" Target="theme/theme1.xml" Type="http://schemas.openxmlformats.org/officeDocument/2006/relationships/theme"/><Relationship Id="rId40" Target="slides/slide35.xml" Type="http://schemas.openxmlformats.org/officeDocument/2006/relationships/slide"/><Relationship Id="rId41" Target="slides/slide36.xml" Type="http://schemas.openxmlformats.org/officeDocument/2006/relationships/slide"/><Relationship Id="rId42" Target="slides/slide37.xml" Type="http://schemas.openxmlformats.org/officeDocument/2006/relationships/slide"/><Relationship Id="rId43" Target="slides/slide38.xml" Type="http://schemas.openxmlformats.org/officeDocument/2006/relationships/slide"/><Relationship Id="rId44" Target="slides/slide39.xml" Type="http://schemas.openxmlformats.org/officeDocument/2006/relationships/slide"/><Relationship Id="rId45" Target="slides/slide40.xml" Type="http://schemas.openxmlformats.org/officeDocument/2006/relationships/slide"/><Relationship Id="rId46" Target="slides/slide41.xml" Type="http://schemas.openxmlformats.org/officeDocument/2006/relationships/slide"/><Relationship Id="rId47" Target="slides/slide42.xml" Type="http://schemas.openxmlformats.org/officeDocument/2006/relationships/slide"/><Relationship Id="rId48" Target="slides/slide43.xml" Type="http://schemas.openxmlformats.org/officeDocument/2006/relationships/slide"/><Relationship Id="rId49" Target="slides/slide44.xml" Type="http://schemas.openxmlformats.org/officeDocument/2006/relationships/slide"/><Relationship Id="rId5" Target="tableStyles.xml" Type="http://schemas.openxmlformats.org/officeDocument/2006/relationships/tableStyles"/><Relationship Id="rId50" Target="slides/slide45.xml" Type="http://schemas.openxmlformats.org/officeDocument/2006/relationships/slide"/><Relationship Id="rId51" Target="fonts/font51.fntdata" Type="http://schemas.openxmlformats.org/officeDocument/2006/relationships/font"/><Relationship Id="rId52" Target="fonts/font52.fntdata" Type="http://schemas.openxmlformats.org/officeDocument/2006/relationships/font"/><Relationship Id="rId53" Target="fonts/font53.fntdata" Type="http://schemas.openxmlformats.org/officeDocument/2006/relationships/font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3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4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5.png" Type="http://schemas.openxmlformats.org/officeDocument/2006/relationships/image"/><Relationship Id="rId4" Target="../media/image6.png" Type="http://schemas.openxmlformats.org/officeDocument/2006/relationships/image"/><Relationship Id="rId5" Target="../media/image7.png" Type="http://schemas.openxmlformats.org/officeDocument/2006/relationships/image"/><Relationship Id="rId6" Target="../media/image8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9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10.png" Type="http://schemas.openxmlformats.org/officeDocument/2006/relationships/image"/><Relationship Id="rId4" Target="../media/image11.png" Type="http://schemas.openxmlformats.org/officeDocument/2006/relationships/image"/><Relationship Id="rId5" Target="../media/image12.png" Type="http://schemas.openxmlformats.org/officeDocument/2006/relationships/image"/><Relationship Id="rId6" Target="../media/image7.png" Type="http://schemas.openxmlformats.org/officeDocument/2006/relationships/image"/><Relationship Id="rId7" Target="../media/image4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13.png" Type="http://schemas.openxmlformats.org/officeDocument/2006/relationships/image"/><Relationship Id="rId4" Target="../media/image14.png" Type="http://schemas.openxmlformats.org/officeDocument/2006/relationships/image"/><Relationship Id="rId5" Target="../media/image15.png" Type="http://schemas.openxmlformats.org/officeDocument/2006/relationships/image"/><Relationship Id="rId6" Target="../media/image16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17.png" Type="http://schemas.openxmlformats.org/officeDocument/2006/relationships/image"/><Relationship Id="rId4" Target="../media/image18.png" Type="http://schemas.openxmlformats.org/officeDocument/2006/relationships/image"/><Relationship Id="rId5" Target="../media/image19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0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1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2.pn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3.png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17.png" Type="http://schemas.openxmlformats.org/officeDocument/2006/relationships/image"/><Relationship Id="rId4" Target="../media/image24.png" Type="http://schemas.openxmlformats.org/officeDocument/2006/relationships/image"/><Relationship Id="rId5" Target="../media/image25.png" Type="http://schemas.openxmlformats.org/officeDocument/2006/relationships/image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6.png" Type="http://schemas.openxmlformats.org/officeDocument/2006/relationships/image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7.png" Type="http://schemas.openxmlformats.org/officeDocument/2006/relationships/image"/></Relationships>
</file>

<file path=ppt/slides/_rels/slide2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8.png" Type="http://schemas.openxmlformats.org/officeDocument/2006/relationships/image"/></Relationships>
</file>

<file path=ppt/slides/_rels/slide2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17.png" Type="http://schemas.openxmlformats.org/officeDocument/2006/relationships/image"/><Relationship Id="rId4" Target="../media/image18.png" Type="http://schemas.openxmlformats.org/officeDocument/2006/relationships/image"/><Relationship Id="rId5" Target="../media/image29.png" Type="http://schemas.openxmlformats.org/officeDocument/2006/relationships/image"/><Relationship Id="rId6" Target="../media/image19.png" Type="http://schemas.openxmlformats.org/officeDocument/2006/relationships/image"/></Relationships>
</file>

<file path=ppt/slides/_rels/slide2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1.png" Type="http://schemas.openxmlformats.org/officeDocument/2006/relationships/image"/></Relationships>
</file>

<file path=ppt/slides/_rels/slide2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10.png" Type="http://schemas.openxmlformats.org/officeDocument/2006/relationships/image"/><Relationship Id="rId4" Target="../media/image11.png" Type="http://schemas.openxmlformats.org/officeDocument/2006/relationships/image"/><Relationship Id="rId5" Target="../media/image12.png" Type="http://schemas.openxmlformats.org/officeDocument/2006/relationships/image"/><Relationship Id="rId6" Target="../media/image30.png" Type="http://schemas.openxmlformats.org/officeDocument/2006/relationships/image"/><Relationship Id="rId7" Target="../media/image4.png" Type="http://schemas.openxmlformats.org/officeDocument/2006/relationships/image"/></Relationships>
</file>

<file path=ppt/slides/_rels/slide2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31.png" Type="http://schemas.openxmlformats.org/officeDocument/2006/relationships/image"/></Relationships>
</file>

<file path=ppt/slides/_rels/slide2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2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30.png" Type="http://schemas.openxmlformats.org/officeDocument/2006/relationships/image"/><Relationship Id="rId4" Target="../media/image32.png" Type="http://schemas.openxmlformats.org/officeDocument/2006/relationships/image"/><Relationship Id="rId5" Target="../media/image33.png" Type="http://schemas.openxmlformats.org/officeDocument/2006/relationships/image"/></Relationships>
</file>

<file path=ppt/slides/_rels/slide3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34.png" Type="http://schemas.openxmlformats.org/officeDocument/2006/relationships/image"/></Relationships>
</file>

<file path=ppt/slides/_rels/slide3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4.png" Type="http://schemas.openxmlformats.org/officeDocument/2006/relationships/image"/></Relationships>
</file>

<file path=ppt/slides/_rels/slide3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4.png" Type="http://schemas.openxmlformats.org/officeDocument/2006/relationships/image"/></Relationships>
</file>

<file path=ppt/slides/_rels/slide3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4.png" Type="http://schemas.openxmlformats.org/officeDocument/2006/relationships/image"/></Relationships>
</file>

<file path=ppt/slides/_rels/slide3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35.png" Type="http://schemas.openxmlformats.org/officeDocument/2006/relationships/image"/></Relationships>
</file>

<file path=ppt/slides/_rels/slide3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36.png" Type="http://schemas.openxmlformats.org/officeDocument/2006/relationships/image"/></Relationships>
</file>

<file path=ppt/slides/_rels/slide3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15.png" Type="http://schemas.openxmlformats.org/officeDocument/2006/relationships/image"/><Relationship Id="rId4" Target="../media/image25.png" Type="http://schemas.openxmlformats.org/officeDocument/2006/relationships/image"/><Relationship Id="rId5" Target="../media/image37.png" Type="http://schemas.openxmlformats.org/officeDocument/2006/relationships/image"/><Relationship Id="rId6" Target="../media/image19.png" Type="http://schemas.openxmlformats.org/officeDocument/2006/relationships/image"/></Relationships>
</file>

<file path=ppt/slides/_rels/slide3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38.png" Type="http://schemas.openxmlformats.org/officeDocument/2006/relationships/image"/></Relationships>
</file>

<file path=ppt/slides/_rels/slide3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8.png" Type="http://schemas.openxmlformats.org/officeDocument/2006/relationships/image"/></Relationships>
</file>

<file path=ppt/slides/_rels/slide3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6.png" Type="http://schemas.openxmlformats.org/officeDocument/2006/relationships/image"/></Relationships>
</file>

<file path=ppt/slides/_rels/slide4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36.png" Type="http://schemas.openxmlformats.org/officeDocument/2006/relationships/image"/></Relationships>
</file>

<file path=ppt/slides/_rels/slide4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30.png" Type="http://schemas.openxmlformats.org/officeDocument/2006/relationships/image"/><Relationship Id="rId4" Target="../media/image8.png" Type="http://schemas.openxmlformats.org/officeDocument/2006/relationships/image"/><Relationship Id="rId5" Target="../media/image14.png" Type="http://schemas.openxmlformats.org/officeDocument/2006/relationships/image"/><Relationship Id="rId6" Target="../media/image2.png" Type="http://schemas.openxmlformats.org/officeDocument/2006/relationships/image"/><Relationship Id="rId7" Target="../media/image4.png" Type="http://schemas.openxmlformats.org/officeDocument/2006/relationships/image"/></Relationships>
</file>

<file path=ppt/slides/_rels/slide4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4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6.png" Type="http://schemas.openxmlformats.org/officeDocument/2006/relationships/image"/><Relationship Id="rId4" Target="../media/image24.png" Type="http://schemas.openxmlformats.org/officeDocument/2006/relationships/image"/><Relationship Id="rId5" Target="../media/image15.png" Type="http://schemas.openxmlformats.org/officeDocument/2006/relationships/image"/></Relationships>
</file>

<file path=ppt/slides/_rels/slide4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4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9.png" Type="http://schemas.openxmlformats.org/officeDocument/2006/relationships/image"/><Relationship Id="rId3" Target="../media/image1.jpe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F2C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1521440" y="0"/>
            <a:ext cx="6766560" cy="10287000"/>
            <a:chOff x="0" y="0"/>
            <a:chExt cx="902208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02208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9022080">
                  <a:moveTo>
                    <a:pt x="0" y="0"/>
                  </a:moveTo>
                  <a:lnTo>
                    <a:pt x="9022080" y="0"/>
                  </a:lnTo>
                  <a:lnTo>
                    <a:pt x="902208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0345B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618720" y="1280160"/>
            <a:ext cx="2011680" cy="1810512"/>
            <a:chOff x="0" y="0"/>
            <a:chExt cx="2682240" cy="241401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682240" cy="2414016"/>
            </a:xfrm>
            <a:custGeom>
              <a:avLst/>
              <a:gdLst/>
              <a:ahLst/>
              <a:cxnLst/>
              <a:rect r="r" b="b" t="t" l="l"/>
              <a:pathLst>
                <a:path h="2414016" w="2682240">
                  <a:moveTo>
                    <a:pt x="0" y="1207008"/>
                  </a:moveTo>
                  <a:lnTo>
                    <a:pt x="603504" y="0"/>
                  </a:lnTo>
                  <a:lnTo>
                    <a:pt x="2078736" y="0"/>
                  </a:lnTo>
                  <a:lnTo>
                    <a:pt x="2682240" y="1207008"/>
                  </a:lnTo>
                  <a:lnTo>
                    <a:pt x="2078736" y="2414016"/>
                  </a:lnTo>
                  <a:lnTo>
                    <a:pt x="603504" y="2414016"/>
                  </a:lnTo>
                  <a:close/>
                </a:path>
              </a:pathLst>
            </a:custGeom>
            <a:solidFill>
              <a:srgbClr val="1B4470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4996160" y="2926080"/>
            <a:ext cx="1280160" cy="1152144"/>
            <a:chOff x="0" y="0"/>
            <a:chExt cx="1706880" cy="1536192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706880" cy="1536192"/>
            </a:xfrm>
            <a:custGeom>
              <a:avLst/>
              <a:gdLst/>
              <a:ahLst/>
              <a:cxnLst/>
              <a:rect r="r" b="b" t="t" l="l"/>
              <a:pathLst>
                <a:path h="1536192" w="1706880">
                  <a:moveTo>
                    <a:pt x="0" y="768096"/>
                  </a:moveTo>
                  <a:lnTo>
                    <a:pt x="384048" y="0"/>
                  </a:lnTo>
                  <a:lnTo>
                    <a:pt x="1322832" y="0"/>
                  </a:lnTo>
                  <a:lnTo>
                    <a:pt x="1706880" y="768096"/>
                  </a:lnTo>
                  <a:lnTo>
                    <a:pt x="1322832" y="1536192"/>
                  </a:lnTo>
                  <a:lnTo>
                    <a:pt x="384048" y="1536192"/>
                  </a:lnTo>
                  <a:close/>
                </a:path>
              </a:pathLst>
            </a:custGeom>
            <a:solidFill>
              <a:srgbClr val="4A6FA5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13533120" y="4572000"/>
            <a:ext cx="822960" cy="740664"/>
            <a:chOff x="0" y="0"/>
            <a:chExt cx="1097280" cy="98755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097280" cy="987552"/>
            </a:xfrm>
            <a:custGeom>
              <a:avLst/>
              <a:gdLst/>
              <a:ahLst/>
              <a:cxnLst/>
              <a:rect r="r" b="b" t="t" l="l"/>
              <a:pathLst>
                <a:path h="987552" w="1097280">
                  <a:moveTo>
                    <a:pt x="0" y="493776"/>
                  </a:moveTo>
                  <a:lnTo>
                    <a:pt x="246888" y="0"/>
                  </a:lnTo>
                  <a:lnTo>
                    <a:pt x="850392" y="0"/>
                  </a:lnTo>
                  <a:lnTo>
                    <a:pt x="1097280" y="493776"/>
                  </a:lnTo>
                  <a:lnTo>
                    <a:pt x="850392" y="987552"/>
                  </a:lnTo>
                  <a:lnTo>
                    <a:pt x="246888" y="987552"/>
                  </a:lnTo>
                  <a:close/>
                </a:path>
              </a:pathLst>
            </a:custGeom>
            <a:solidFill>
              <a:srgbClr val="38BDF8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5544800" y="6217920"/>
            <a:ext cx="1645920" cy="1481328"/>
            <a:chOff x="0" y="0"/>
            <a:chExt cx="2194560" cy="1975104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194560" cy="1975104"/>
            </a:xfrm>
            <a:custGeom>
              <a:avLst/>
              <a:gdLst/>
              <a:ahLst/>
              <a:cxnLst/>
              <a:rect r="r" b="b" t="t" l="l"/>
              <a:pathLst>
                <a:path h="1975104" w="2194560">
                  <a:moveTo>
                    <a:pt x="0" y="987552"/>
                  </a:moveTo>
                  <a:lnTo>
                    <a:pt x="493776" y="0"/>
                  </a:lnTo>
                  <a:lnTo>
                    <a:pt x="1700784" y="0"/>
                  </a:lnTo>
                  <a:lnTo>
                    <a:pt x="2194560" y="987552"/>
                  </a:lnTo>
                  <a:lnTo>
                    <a:pt x="1700784" y="1975104"/>
                  </a:lnTo>
                  <a:lnTo>
                    <a:pt x="493776" y="1975104"/>
                  </a:lnTo>
                  <a:close/>
                </a:path>
              </a:pathLst>
            </a:custGeom>
            <a:solidFill>
              <a:srgbClr val="1B4470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2801600" y="7498080"/>
            <a:ext cx="1097280" cy="987552"/>
            <a:chOff x="0" y="0"/>
            <a:chExt cx="1463040" cy="131673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463040" cy="1316736"/>
            </a:xfrm>
            <a:custGeom>
              <a:avLst/>
              <a:gdLst/>
              <a:ahLst/>
              <a:cxnLst/>
              <a:rect r="r" b="b" t="t" l="l"/>
              <a:pathLst>
                <a:path h="1316736" w="1463040">
                  <a:moveTo>
                    <a:pt x="0" y="658368"/>
                  </a:moveTo>
                  <a:lnTo>
                    <a:pt x="329184" y="0"/>
                  </a:lnTo>
                  <a:lnTo>
                    <a:pt x="1133856" y="0"/>
                  </a:lnTo>
                  <a:lnTo>
                    <a:pt x="1463040" y="658368"/>
                  </a:lnTo>
                  <a:lnTo>
                    <a:pt x="1133856" y="1316736"/>
                  </a:lnTo>
                  <a:lnTo>
                    <a:pt x="329184" y="1316736"/>
                  </a:lnTo>
                  <a:close/>
                </a:path>
              </a:pathLst>
            </a:custGeom>
            <a:solidFill>
              <a:srgbClr val="23507F"/>
            </a:solid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1097280" y="1809542"/>
            <a:ext cx="11338560" cy="842218"/>
            <a:chOff x="0" y="0"/>
            <a:chExt cx="15118080" cy="1122958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5118080" cy="1122958"/>
            </a:xfrm>
            <a:custGeom>
              <a:avLst/>
              <a:gdLst/>
              <a:ahLst/>
              <a:cxnLst/>
              <a:rect r="r" b="b" t="t" l="l"/>
              <a:pathLst>
                <a:path h="1122958" w="15118080">
                  <a:moveTo>
                    <a:pt x="0" y="0"/>
                  </a:moveTo>
                  <a:lnTo>
                    <a:pt x="15118080" y="0"/>
                  </a:lnTo>
                  <a:lnTo>
                    <a:pt x="15118080" y="1122958"/>
                  </a:lnTo>
                  <a:lnTo>
                    <a:pt x="0" y="112295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29750" r="0" b="-194892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15118080" cy="116105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b="true" sz="2400" spc="400">
                  <a:solidFill>
                    <a:srgbClr val="93C5F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SEMINÁRIO ACADÊMICO · DISCIPLINA DE INTERNET DAS COISAS (IOT)</a:t>
              </a:r>
            </a:p>
          </p:txBody>
        </p:sp>
      </p:grpSp>
      <p:sp>
        <p:nvSpPr>
          <p:cNvPr name="TextBox 17" id="17"/>
          <p:cNvSpPr txBox="true"/>
          <p:nvPr/>
        </p:nvSpPr>
        <p:spPr>
          <a:xfrm rot="0">
            <a:off x="1097280" y="2581275"/>
            <a:ext cx="11704320" cy="2905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600"/>
              </a:lnSpc>
            </a:pPr>
            <a:r>
              <a:rPr lang="en-US" sz="8000" b="true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Segurança em IoT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097280" y="4981575"/>
            <a:ext cx="10241280" cy="1602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>
                <a:solidFill>
                  <a:srgbClr val="C9D7EA"/>
                </a:solidFill>
                <a:latin typeface="Calibri (MS)"/>
                <a:ea typeface="Calibri (MS)"/>
                <a:cs typeface="Calibri (MS)"/>
                <a:sym typeface="Calibri (MS)"/>
              </a:rPr>
              <a:t>Lorem ipsum dolor sit amet, consectetur adipiscing elit. Sed do eiusmod tempor incididunt ut labore et dolore magna aliqua.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1087755" y="7031355"/>
            <a:ext cx="1930146" cy="787146"/>
            <a:chOff x="0" y="0"/>
            <a:chExt cx="2573528" cy="1049528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573528" cy="1049528"/>
            </a:xfrm>
            <a:custGeom>
              <a:avLst/>
              <a:gdLst/>
              <a:ahLst/>
              <a:cxnLst/>
              <a:rect r="r" b="b" t="t" l="l"/>
              <a:pathLst>
                <a:path h="1049528" w="2573528">
                  <a:moveTo>
                    <a:pt x="0" y="524764"/>
                  </a:moveTo>
                  <a:cubicBezTo>
                    <a:pt x="0" y="234950"/>
                    <a:pt x="234950" y="0"/>
                    <a:pt x="524764" y="0"/>
                  </a:cubicBezTo>
                  <a:lnTo>
                    <a:pt x="2048764" y="0"/>
                  </a:lnTo>
                  <a:cubicBezTo>
                    <a:pt x="2338578" y="0"/>
                    <a:pt x="2573528" y="234950"/>
                    <a:pt x="2573528" y="524764"/>
                  </a:cubicBezTo>
                  <a:cubicBezTo>
                    <a:pt x="2573528" y="814578"/>
                    <a:pt x="2338578" y="1049528"/>
                    <a:pt x="2048764" y="1049528"/>
                  </a:cubicBezTo>
                  <a:lnTo>
                    <a:pt x="524764" y="1049528"/>
                  </a:lnTo>
                  <a:cubicBezTo>
                    <a:pt x="234950" y="1049528"/>
                    <a:pt x="0" y="814578"/>
                    <a:pt x="0" y="524764"/>
                  </a:cubicBezTo>
                  <a:close/>
                </a:path>
              </a:pathLst>
            </a:custGeom>
            <a:solidFill>
              <a:srgbClr val="1B4470"/>
            </a:solidFill>
            <a:ln w="19050" cap="sq">
              <a:solidFill>
                <a:srgbClr val="2E5384"/>
              </a:solidFill>
              <a:prstDash val="solid"/>
              <a:miter/>
            </a:ln>
          </p:spPr>
        </p:sp>
      </p:grpSp>
      <p:grpSp>
        <p:nvGrpSpPr>
          <p:cNvPr name="Group 21" id="21"/>
          <p:cNvGrpSpPr/>
          <p:nvPr/>
        </p:nvGrpSpPr>
        <p:grpSpPr>
          <a:xfrm rot="0">
            <a:off x="1097280" y="7040880"/>
            <a:ext cx="1911096" cy="768096"/>
            <a:chOff x="0" y="0"/>
            <a:chExt cx="2548128" cy="1024128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548128" cy="1024128"/>
            </a:xfrm>
            <a:custGeom>
              <a:avLst/>
              <a:gdLst/>
              <a:ahLst/>
              <a:cxnLst/>
              <a:rect r="r" b="b" t="t" l="l"/>
              <a:pathLst>
                <a:path h="1024128" w="2548128">
                  <a:moveTo>
                    <a:pt x="0" y="0"/>
                  </a:moveTo>
                  <a:lnTo>
                    <a:pt x="2548128" y="0"/>
                  </a:lnTo>
                  <a:lnTo>
                    <a:pt x="2548128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566" t="0" r="-1566" b="0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38100"/>
              <a:ext cx="2548128" cy="106222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>
                  <a:solidFill>
                    <a:srgbClr val="DCE8F7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Grupo 6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3328035" y="7031355"/>
            <a:ext cx="3795522" cy="787146"/>
            <a:chOff x="0" y="0"/>
            <a:chExt cx="5060696" cy="1049528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5060696" cy="1049528"/>
            </a:xfrm>
            <a:custGeom>
              <a:avLst/>
              <a:gdLst/>
              <a:ahLst/>
              <a:cxnLst/>
              <a:rect r="r" b="b" t="t" l="l"/>
              <a:pathLst>
                <a:path h="1049528" w="5060696">
                  <a:moveTo>
                    <a:pt x="0" y="524764"/>
                  </a:moveTo>
                  <a:cubicBezTo>
                    <a:pt x="0" y="234950"/>
                    <a:pt x="234950" y="0"/>
                    <a:pt x="524764" y="0"/>
                  </a:cubicBezTo>
                  <a:lnTo>
                    <a:pt x="4535932" y="0"/>
                  </a:lnTo>
                  <a:cubicBezTo>
                    <a:pt x="4825746" y="0"/>
                    <a:pt x="5060696" y="234950"/>
                    <a:pt x="5060696" y="524764"/>
                  </a:cubicBezTo>
                  <a:cubicBezTo>
                    <a:pt x="5060696" y="814578"/>
                    <a:pt x="4825746" y="1049528"/>
                    <a:pt x="4535932" y="1049528"/>
                  </a:cubicBezTo>
                  <a:lnTo>
                    <a:pt x="524764" y="1049528"/>
                  </a:lnTo>
                  <a:cubicBezTo>
                    <a:pt x="234950" y="1049528"/>
                    <a:pt x="0" y="814578"/>
                    <a:pt x="0" y="524764"/>
                  </a:cubicBezTo>
                  <a:close/>
                </a:path>
              </a:pathLst>
            </a:custGeom>
            <a:solidFill>
              <a:srgbClr val="1B4470"/>
            </a:solidFill>
            <a:ln w="19050" cap="sq">
              <a:solidFill>
                <a:srgbClr val="2E5384"/>
              </a:solidFill>
              <a:prstDash val="solid"/>
              <a:miter/>
            </a:ln>
          </p:spPr>
        </p:sp>
      </p:grpSp>
      <p:grpSp>
        <p:nvGrpSpPr>
          <p:cNvPr name="Group 26" id="26"/>
          <p:cNvGrpSpPr/>
          <p:nvPr/>
        </p:nvGrpSpPr>
        <p:grpSpPr>
          <a:xfrm rot="0">
            <a:off x="3337560" y="7040880"/>
            <a:ext cx="3776472" cy="768096"/>
            <a:chOff x="0" y="0"/>
            <a:chExt cx="5035296" cy="1024128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5035296" cy="1024128"/>
            </a:xfrm>
            <a:custGeom>
              <a:avLst/>
              <a:gdLst/>
              <a:ahLst/>
              <a:cxnLst/>
              <a:rect r="r" b="b" t="t" l="l"/>
              <a:pathLst>
                <a:path h="1024128" w="5035296">
                  <a:moveTo>
                    <a:pt x="0" y="0"/>
                  </a:moveTo>
                  <a:lnTo>
                    <a:pt x="5035296" y="0"/>
                  </a:lnTo>
                  <a:lnTo>
                    <a:pt x="5035296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5801" r="0" b="-45801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38100"/>
              <a:ext cx="5035296" cy="106222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>
                  <a:solidFill>
                    <a:srgbClr val="DCE8F7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Duração: 40 minutos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7433691" y="7031355"/>
            <a:ext cx="3484626" cy="787146"/>
            <a:chOff x="0" y="0"/>
            <a:chExt cx="4646168" cy="1049528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4646168" cy="1049528"/>
            </a:xfrm>
            <a:custGeom>
              <a:avLst/>
              <a:gdLst/>
              <a:ahLst/>
              <a:cxnLst/>
              <a:rect r="r" b="b" t="t" l="l"/>
              <a:pathLst>
                <a:path h="1049528" w="4646168">
                  <a:moveTo>
                    <a:pt x="0" y="524764"/>
                  </a:moveTo>
                  <a:cubicBezTo>
                    <a:pt x="0" y="234950"/>
                    <a:pt x="234950" y="0"/>
                    <a:pt x="524764" y="0"/>
                  </a:cubicBezTo>
                  <a:lnTo>
                    <a:pt x="4121404" y="0"/>
                  </a:lnTo>
                  <a:cubicBezTo>
                    <a:pt x="4411218" y="0"/>
                    <a:pt x="4646168" y="234950"/>
                    <a:pt x="4646168" y="524764"/>
                  </a:cubicBezTo>
                  <a:cubicBezTo>
                    <a:pt x="4646168" y="814578"/>
                    <a:pt x="4411218" y="1049528"/>
                    <a:pt x="4121404" y="1049528"/>
                  </a:cubicBezTo>
                  <a:lnTo>
                    <a:pt x="524764" y="1049528"/>
                  </a:lnTo>
                  <a:cubicBezTo>
                    <a:pt x="234950" y="1049528"/>
                    <a:pt x="0" y="814578"/>
                    <a:pt x="0" y="524764"/>
                  </a:cubicBezTo>
                  <a:close/>
                </a:path>
              </a:pathLst>
            </a:custGeom>
            <a:solidFill>
              <a:srgbClr val="1B4470"/>
            </a:solidFill>
            <a:ln w="19050" cap="sq">
              <a:solidFill>
                <a:srgbClr val="2E5384"/>
              </a:solidFill>
              <a:prstDash val="solid"/>
              <a:miter/>
            </a:ln>
          </p:spPr>
        </p:sp>
      </p:grpSp>
      <p:grpSp>
        <p:nvGrpSpPr>
          <p:cNvPr name="Group 31" id="31"/>
          <p:cNvGrpSpPr/>
          <p:nvPr/>
        </p:nvGrpSpPr>
        <p:grpSpPr>
          <a:xfrm rot="0">
            <a:off x="7443216" y="7040880"/>
            <a:ext cx="3465576" cy="768096"/>
            <a:chOff x="0" y="0"/>
            <a:chExt cx="4620768" cy="1024128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4620768" cy="1024128"/>
            </a:xfrm>
            <a:custGeom>
              <a:avLst/>
              <a:gdLst/>
              <a:ahLst/>
              <a:cxnLst/>
              <a:rect r="r" b="b" t="t" l="l"/>
              <a:pathLst>
                <a:path h="1024128" w="4620768">
                  <a:moveTo>
                    <a:pt x="0" y="0"/>
                  </a:moveTo>
                  <a:lnTo>
                    <a:pt x="4620768" y="0"/>
                  </a:lnTo>
                  <a:lnTo>
                    <a:pt x="4620768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7914" r="0" b="-37914"/>
              </a:stretch>
            </a:blip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38100"/>
              <a:ext cx="4620768" cy="106222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>
                  <a:solidFill>
                    <a:srgbClr val="DCE8F7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Lorem ipsum, 2026</a:t>
              </a: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1097280" y="8686800"/>
            <a:ext cx="11704320" cy="548640"/>
            <a:chOff x="0" y="0"/>
            <a:chExt cx="15605760" cy="73152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15605761" cy="731520"/>
            </a:xfrm>
            <a:custGeom>
              <a:avLst/>
              <a:gdLst/>
              <a:ahLst/>
              <a:cxnLst/>
              <a:rect r="r" b="b" t="t" l="l"/>
              <a:pathLst>
                <a:path h="731520" w="15605761">
                  <a:moveTo>
                    <a:pt x="0" y="0"/>
                  </a:moveTo>
                  <a:lnTo>
                    <a:pt x="15605761" y="0"/>
                  </a:lnTo>
                  <a:lnTo>
                    <a:pt x="15605761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65680" r="0" b="-365680"/>
              </a:stretch>
            </a:blipFill>
          </p:spPr>
        </p:sp>
        <p:sp>
          <p:nvSpPr>
            <p:cNvPr name="TextBox 36" id="36"/>
            <p:cNvSpPr txBox="true"/>
            <p:nvPr/>
          </p:nvSpPr>
          <p:spPr>
            <a:xfrm>
              <a:off x="0" y="-47625"/>
              <a:ext cx="15605760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9FB4C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Higor Ferreia Silva</a:t>
              </a:r>
              <a:r>
                <a:rPr lang="en-US" sz="2200">
                  <a:solidFill>
                    <a:srgbClr val="9FB4C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· Integrante B · Integrante C · Integrante D  |  Prof. Lorem Ipsum</a:t>
              </a:r>
            </a:p>
          </p:txBody>
        </p:sp>
      </p:grpSp>
      <p:grpSp>
        <p:nvGrpSpPr>
          <p:cNvPr name="Group 37" id="37"/>
          <p:cNvGrpSpPr/>
          <p:nvPr/>
        </p:nvGrpSpPr>
        <p:grpSpPr>
          <a:xfrm rot="0">
            <a:off x="1097280" y="9692640"/>
            <a:ext cx="10058400" cy="457200"/>
            <a:chOff x="0" y="0"/>
            <a:chExt cx="13411200" cy="60960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13411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3411200">
                  <a:moveTo>
                    <a:pt x="0" y="0"/>
                  </a:moveTo>
                  <a:lnTo>
                    <a:pt x="13411200" y="0"/>
                  </a:lnTo>
                  <a:lnTo>
                    <a:pt x="13411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78670" r="0" b="-378670"/>
              </a:stretch>
            </a:blipFill>
          </p:spPr>
        </p:sp>
        <p:sp>
          <p:nvSpPr>
            <p:cNvPr name="TextBox 39" id="39"/>
            <p:cNvSpPr txBox="true"/>
            <p:nvPr/>
          </p:nvSpPr>
          <p:spPr>
            <a:xfrm>
              <a:off x="0" y="-38100"/>
              <a:ext cx="13411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6E85A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Seminário de IoT — Segurança em IoT · Grupo 6</a:t>
              </a:r>
            </a:p>
          </p:txBody>
        </p:sp>
      </p:grpSp>
      <p:grpSp>
        <p:nvGrpSpPr>
          <p:cNvPr name="Group 40" id="40"/>
          <p:cNvGrpSpPr/>
          <p:nvPr/>
        </p:nvGrpSpPr>
        <p:grpSpPr>
          <a:xfrm rot="0">
            <a:off x="16367760" y="9692640"/>
            <a:ext cx="914400" cy="457200"/>
            <a:chOff x="0" y="0"/>
            <a:chExt cx="1219200" cy="60960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1219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42" id="42"/>
            <p:cNvSpPr txBox="true"/>
            <p:nvPr/>
          </p:nvSpPr>
          <p:spPr>
            <a:xfrm>
              <a:off x="0" y="-38100"/>
              <a:ext cx="1219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6E85A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05840" y="914400"/>
            <a:ext cx="621792" cy="559613"/>
            <a:chOff x="0" y="0"/>
            <a:chExt cx="829056" cy="74615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29056" cy="746125"/>
            </a:xfrm>
            <a:custGeom>
              <a:avLst/>
              <a:gdLst/>
              <a:ahLst/>
              <a:cxnLst/>
              <a:rect r="r" b="b" t="t" l="l"/>
              <a:pathLst>
                <a:path h="746125" w="829056">
                  <a:moveTo>
                    <a:pt x="0" y="373126"/>
                  </a:moveTo>
                  <a:lnTo>
                    <a:pt x="186563" y="0"/>
                  </a:lnTo>
                  <a:lnTo>
                    <a:pt x="642493" y="0"/>
                  </a:lnTo>
                  <a:lnTo>
                    <a:pt x="829056" y="373126"/>
                  </a:lnTo>
                  <a:lnTo>
                    <a:pt x="642493" y="746125"/>
                  </a:lnTo>
                  <a:lnTo>
                    <a:pt x="186563" y="746125"/>
                  </a:lnTo>
                  <a:close/>
                </a:path>
              </a:pathLst>
            </a:custGeom>
            <a:solidFill>
              <a:srgbClr val="38BDF8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865376" y="859536"/>
            <a:ext cx="13898880" cy="475488"/>
            <a:chOff x="0" y="0"/>
            <a:chExt cx="18531840" cy="63398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8531839" cy="633984"/>
            </a:xfrm>
            <a:custGeom>
              <a:avLst/>
              <a:gdLst/>
              <a:ahLst/>
              <a:cxnLst/>
              <a:rect r="r" b="b" t="t" l="l"/>
              <a:pathLst>
                <a:path h="633984" w="18531839">
                  <a:moveTo>
                    <a:pt x="0" y="0"/>
                  </a:moveTo>
                  <a:lnTo>
                    <a:pt x="18531839" y="0"/>
                  </a:lnTo>
                  <a:lnTo>
                    <a:pt x="18531839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19562" r="0" b="-519562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18531840" cy="68160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b="true" sz="2200" spc="399">
                  <a:solidFill>
                    <a:srgbClr val="4A6FA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APRESENTAÇÃO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005840" y="1426464"/>
            <a:ext cx="15727680" cy="1097280"/>
            <a:chOff x="0" y="0"/>
            <a:chExt cx="20970240" cy="146304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0970239" cy="1463040"/>
            </a:xfrm>
            <a:custGeom>
              <a:avLst/>
              <a:gdLst/>
              <a:ahLst/>
              <a:cxnLst/>
              <a:rect r="r" b="b" t="t" l="l"/>
              <a:pathLst>
                <a:path h="1463040" w="20970239">
                  <a:moveTo>
                    <a:pt x="0" y="0"/>
                  </a:moveTo>
                  <a:lnTo>
                    <a:pt x="20970239" y="0"/>
                  </a:lnTo>
                  <a:lnTo>
                    <a:pt x="20970239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29285" r="0" b="-229285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42875"/>
              <a:ext cx="20970240" cy="16059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920"/>
                </a:lnSpc>
              </a:pPr>
              <a:r>
                <a:rPr lang="en-US" sz="66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Equipe e Organização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993143" y="2913383"/>
            <a:ext cx="3829307" cy="4780283"/>
            <a:chOff x="0" y="0"/>
            <a:chExt cx="5105743" cy="6373711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5105654" cy="6373622"/>
            </a:xfrm>
            <a:custGeom>
              <a:avLst/>
              <a:gdLst/>
              <a:ahLst/>
              <a:cxnLst/>
              <a:rect r="r" b="b" t="t" l="l"/>
              <a:pathLst>
                <a:path h="6373622" w="5105654">
                  <a:moveTo>
                    <a:pt x="0" y="196342"/>
                  </a:moveTo>
                  <a:cubicBezTo>
                    <a:pt x="0" y="87884"/>
                    <a:pt x="87884" y="0"/>
                    <a:pt x="196342" y="0"/>
                  </a:cubicBezTo>
                  <a:lnTo>
                    <a:pt x="4909312" y="0"/>
                  </a:lnTo>
                  <a:cubicBezTo>
                    <a:pt x="5017770" y="0"/>
                    <a:pt x="5105654" y="87884"/>
                    <a:pt x="5105654" y="196342"/>
                  </a:cubicBezTo>
                  <a:lnTo>
                    <a:pt x="5105654" y="6177280"/>
                  </a:lnTo>
                  <a:cubicBezTo>
                    <a:pt x="5105654" y="6285738"/>
                    <a:pt x="5017770" y="6373622"/>
                    <a:pt x="4909312" y="6373622"/>
                  </a:cubicBezTo>
                  <a:lnTo>
                    <a:pt x="196342" y="6373622"/>
                  </a:lnTo>
                  <a:cubicBezTo>
                    <a:pt x="87884" y="6373749"/>
                    <a:pt x="0" y="6285738"/>
                    <a:pt x="0" y="6177280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3DEEA"/>
              </a:solidFill>
              <a:prstDash val="solid"/>
              <a:miter/>
            </a:ln>
          </p:spPr>
        </p:sp>
      </p:grpSp>
      <p:grpSp>
        <p:nvGrpSpPr>
          <p:cNvPr name="Group 12" id="12"/>
          <p:cNvGrpSpPr/>
          <p:nvPr/>
        </p:nvGrpSpPr>
        <p:grpSpPr>
          <a:xfrm rot="0">
            <a:off x="2139696" y="3511296"/>
            <a:ext cx="1536192" cy="1536192"/>
            <a:chOff x="0" y="0"/>
            <a:chExt cx="2048256" cy="204825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048256" cy="2048256"/>
            </a:xfrm>
            <a:custGeom>
              <a:avLst/>
              <a:gdLst/>
              <a:ahLst/>
              <a:cxnLst/>
              <a:rect r="r" b="b" t="t" l="l"/>
              <a:pathLst>
                <a:path h="2048256" w="2048256">
                  <a:moveTo>
                    <a:pt x="0" y="1024128"/>
                  </a:moveTo>
                  <a:cubicBezTo>
                    <a:pt x="0" y="458470"/>
                    <a:pt x="458470" y="0"/>
                    <a:pt x="1024128" y="0"/>
                  </a:cubicBezTo>
                  <a:cubicBezTo>
                    <a:pt x="1589786" y="0"/>
                    <a:pt x="2048256" y="458470"/>
                    <a:pt x="2048256" y="1024128"/>
                  </a:cubicBezTo>
                  <a:cubicBezTo>
                    <a:pt x="2048256" y="1589786"/>
                    <a:pt x="1589786" y="2048256"/>
                    <a:pt x="1024128" y="2048256"/>
                  </a:cubicBezTo>
                  <a:cubicBezTo>
                    <a:pt x="458470" y="2048256"/>
                    <a:pt x="0" y="1589786"/>
                    <a:pt x="0" y="1024128"/>
                  </a:cubicBezTo>
                  <a:close/>
                </a:path>
              </a:pathLst>
            </a:custGeom>
            <a:solidFill>
              <a:srgbClr val="4A6FA5"/>
            </a:solid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2523744" y="3895344"/>
            <a:ext cx="768096" cy="768096"/>
            <a:chOff x="0" y="0"/>
            <a:chExt cx="1024128" cy="1024128"/>
          </a:xfrm>
        </p:grpSpPr>
        <p:sp>
          <p:nvSpPr>
            <p:cNvPr name="Freeform 15" id="15" descr="/home/claude/icons/FiUsers_FFFFFF.png"/>
            <p:cNvSpPr/>
            <p:nvPr/>
          </p:nvSpPr>
          <p:spPr>
            <a:xfrm flipH="false" flipV="false" rot="0">
              <a:off x="0" y="0"/>
              <a:ext cx="1024128" cy="1024128"/>
            </a:xfrm>
            <a:custGeom>
              <a:avLst/>
              <a:gdLst/>
              <a:ahLst/>
              <a:cxnLst/>
              <a:rect r="r" b="b" t="t" l="l"/>
              <a:pathLst>
                <a:path h="1024128" w="1024128">
                  <a:moveTo>
                    <a:pt x="0" y="0"/>
                  </a:moveTo>
                  <a:lnTo>
                    <a:pt x="1024128" y="0"/>
                  </a:lnTo>
                  <a:lnTo>
                    <a:pt x="1024128" y="1024128"/>
                  </a:lnTo>
                  <a:lnTo>
                    <a:pt x="0" y="10241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1188720" y="5303520"/>
            <a:ext cx="3438144" cy="914400"/>
            <a:chOff x="0" y="0"/>
            <a:chExt cx="4584192" cy="12192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4584192" cy="1219200"/>
            </a:xfrm>
            <a:custGeom>
              <a:avLst/>
              <a:gdLst/>
              <a:ahLst/>
              <a:cxnLst/>
              <a:rect r="r" b="b" t="t" l="l"/>
              <a:pathLst>
                <a:path h="1219200" w="4584192">
                  <a:moveTo>
                    <a:pt x="0" y="0"/>
                  </a:moveTo>
                  <a:lnTo>
                    <a:pt x="4584192" y="0"/>
                  </a:lnTo>
                  <a:lnTo>
                    <a:pt x="4584192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3263" r="0" b="-23263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66675"/>
              <a:ext cx="4584192" cy="12858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Nome do Integrante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1188720" y="6217920"/>
            <a:ext cx="3438144" cy="1097280"/>
            <a:chOff x="0" y="0"/>
            <a:chExt cx="4584192" cy="146304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4584192" cy="1463040"/>
            </a:xfrm>
            <a:custGeom>
              <a:avLst/>
              <a:gdLst/>
              <a:ahLst/>
              <a:cxnLst/>
              <a:rect r="r" b="b" t="t" l="l"/>
              <a:pathLst>
                <a:path h="1463040" w="4584192">
                  <a:moveTo>
                    <a:pt x="0" y="0"/>
                  </a:moveTo>
                  <a:lnTo>
                    <a:pt x="4584192" y="0"/>
                  </a:lnTo>
                  <a:lnTo>
                    <a:pt x="4584192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1053" r="0" b="-11053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47625"/>
              <a:ext cx="4584192" cy="15106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640"/>
                </a:lnSpc>
              </a:pPr>
              <a:r>
                <a:rPr lang="en-US" sz="2200">
                  <a:solidFill>
                    <a:srgbClr val="7E8F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Função no seminário</a:t>
              </a:r>
            </a:p>
            <a:p>
              <a:pPr algn="ctr">
                <a:lnSpc>
                  <a:spcPts val="2640"/>
                </a:lnSpc>
              </a:pPr>
              <a:r>
                <a:rPr lang="en-US" sz="2200">
                  <a:solidFill>
                    <a:srgbClr val="7E8F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Lorem ipsum dolor</a:t>
              </a: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5162807" y="2913383"/>
            <a:ext cx="3829307" cy="4780283"/>
            <a:chOff x="0" y="0"/>
            <a:chExt cx="5105743" cy="6373711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5105654" cy="6373622"/>
            </a:xfrm>
            <a:custGeom>
              <a:avLst/>
              <a:gdLst/>
              <a:ahLst/>
              <a:cxnLst/>
              <a:rect r="r" b="b" t="t" l="l"/>
              <a:pathLst>
                <a:path h="6373622" w="5105654">
                  <a:moveTo>
                    <a:pt x="0" y="196342"/>
                  </a:moveTo>
                  <a:cubicBezTo>
                    <a:pt x="0" y="87884"/>
                    <a:pt x="87884" y="0"/>
                    <a:pt x="196342" y="0"/>
                  </a:cubicBezTo>
                  <a:lnTo>
                    <a:pt x="4909312" y="0"/>
                  </a:lnTo>
                  <a:cubicBezTo>
                    <a:pt x="5017770" y="0"/>
                    <a:pt x="5105654" y="87884"/>
                    <a:pt x="5105654" y="196342"/>
                  </a:cubicBezTo>
                  <a:lnTo>
                    <a:pt x="5105654" y="6177280"/>
                  </a:lnTo>
                  <a:cubicBezTo>
                    <a:pt x="5105654" y="6285738"/>
                    <a:pt x="5017770" y="6373622"/>
                    <a:pt x="4909312" y="6373622"/>
                  </a:cubicBezTo>
                  <a:lnTo>
                    <a:pt x="196342" y="6373622"/>
                  </a:lnTo>
                  <a:cubicBezTo>
                    <a:pt x="87884" y="6373749"/>
                    <a:pt x="0" y="6285738"/>
                    <a:pt x="0" y="6177280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3DEEA"/>
              </a:solidFill>
              <a:prstDash val="solid"/>
              <a:miter/>
            </a:ln>
          </p:spPr>
        </p:sp>
      </p:grpSp>
      <p:grpSp>
        <p:nvGrpSpPr>
          <p:cNvPr name="Group 24" id="24"/>
          <p:cNvGrpSpPr/>
          <p:nvPr/>
        </p:nvGrpSpPr>
        <p:grpSpPr>
          <a:xfrm rot="0">
            <a:off x="6309360" y="3511296"/>
            <a:ext cx="1536192" cy="1536192"/>
            <a:chOff x="0" y="0"/>
            <a:chExt cx="2048256" cy="2048256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2048256" cy="2048256"/>
            </a:xfrm>
            <a:custGeom>
              <a:avLst/>
              <a:gdLst/>
              <a:ahLst/>
              <a:cxnLst/>
              <a:rect r="r" b="b" t="t" l="l"/>
              <a:pathLst>
                <a:path h="2048256" w="2048256">
                  <a:moveTo>
                    <a:pt x="0" y="1024128"/>
                  </a:moveTo>
                  <a:cubicBezTo>
                    <a:pt x="0" y="458470"/>
                    <a:pt x="458470" y="0"/>
                    <a:pt x="1024128" y="0"/>
                  </a:cubicBezTo>
                  <a:cubicBezTo>
                    <a:pt x="1589786" y="0"/>
                    <a:pt x="2048256" y="458470"/>
                    <a:pt x="2048256" y="1024128"/>
                  </a:cubicBezTo>
                  <a:cubicBezTo>
                    <a:pt x="2048256" y="1589786"/>
                    <a:pt x="1589786" y="2048256"/>
                    <a:pt x="1024128" y="2048256"/>
                  </a:cubicBezTo>
                  <a:cubicBezTo>
                    <a:pt x="458470" y="2048256"/>
                    <a:pt x="0" y="1589786"/>
                    <a:pt x="0" y="1024128"/>
                  </a:cubicBezTo>
                  <a:close/>
                </a:path>
              </a:pathLst>
            </a:custGeom>
            <a:solidFill>
              <a:srgbClr val="4A6FA5"/>
            </a:solid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6693408" y="3895344"/>
            <a:ext cx="768096" cy="768096"/>
            <a:chOff x="0" y="0"/>
            <a:chExt cx="1024128" cy="1024128"/>
          </a:xfrm>
        </p:grpSpPr>
        <p:sp>
          <p:nvSpPr>
            <p:cNvPr name="Freeform 27" id="27" descr="/home/claude/icons/FiUsers_FFFFFF.png"/>
            <p:cNvSpPr/>
            <p:nvPr/>
          </p:nvSpPr>
          <p:spPr>
            <a:xfrm flipH="false" flipV="false" rot="0">
              <a:off x="0" y="0"/>
              <a:ext cx="1024128" cy="1024128"/>
            </a:xfrm>
            <a:custGeom>
              <a:avLst/>
              <a:gdLst/>
              <a:ahLst/>
              <a:cxnLst/>
              <a:rect r="r" b="b" t="t" l="l"/>
              <a:pathLst>
                <a:path h="1024128" w="1024128">
                  <a:moveTo>
                    <a:pt x="0" y="0"/>
                  </a:moveTo>
                  <a:lnTo>
                    <a:pt x="1024128" y="0"/>
                  </a:lnTo>
                  <a:lnTo>
                    <a:pt x="1024128" y="1024128"/>
                  </a:lnTo>
                  <a:lnTo>
                    <a:pt x="0" y="10241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5358384" y="5303520"/>
            <a:ext cx="3438144" cy="914400"/>
            <a:chOff x="0" y="0"/>
            <a:chExt cx="4584192" cy="12192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4584192" cy="1219200"/>
            </a:xfrm>
            <a:custGeom>
              <a:avLst/>
              <a:gdLst/>
              <a:ahLst/>
              <a:cxnLst/>
              <a:rect r="r" b="b" t="t" l="l"/>
              <a:pathLst>
                <a:path h="1219200" w="4584192">
                  <a:moveTo>
                    <a:pt x="0" y="0"/>
                  </a:moveTo>
                  <a:lnTo>
                    <a:pt x="4584192" y="0"/>
                  </a:lnTo>
                  <a:lnTo>
                    <a:pt x="4584192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3263" r="0" b="-23263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66675"/>
              <a:ext cx="4584192" cy="12858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Nome do Integrante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5358384" y="6217920"/>
            <a:ext cx="3438144" cy="1097280"/>
            <a:chOff x="0" y="0"/>
            <a:chExt cx="4584192" cy="146304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4584192" cy="1463040"/>
            </a:xfrm>
            <a:custGeom>
              <a:avLst/>
              <a:gdLst/>
              <a:ahLst/>
              <a:cxnLst/>
              <a:rect r="r" b="b" t="t" l="l"/>
              <a:pathLst>
                <a:path h="1463040" w="4584192">
                  <a:moveTo>
                    <a:pt x="0" y="0"/>
                  </a:moveTo>
                  <a:lnTo>
                    <a:pt x="4584192" y="0"/>
                  </a:lnTo>
                  <a:lnTo>
                    <a:pt x="4584192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1053" r="0" b="-11053"/>
              </a:stretch>
            </a:blip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47625"/>
              <a:ext cx="4584192" cy="15106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640"/>
                </a:lnSpc>
              </a:pPr>
              <a:r>
                <a:rPr lang="en-US" sz="2200">
                  <a:solidFill>
                    <a:srgbClr val="7E8F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Função no seminário</a:t>
              </a:r>
            </a:p>
            <a:p>
              <a:pPr algn="ctr">
                <a:lnSpc>
                  <a:spcPts val="2640"/>
                </a:lnSpc>
              </a:pPr>
              <a:r>
                <a:rPr lang="en-US" sz="2200">
                  <a:solidFill>
                    <a:srgbClr val="7E8F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Lorem ipsum dolor</a:t>
              </a: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9332471" y="2913383"/>
            <a:ext cx="3829307" cy="4780283"/>
            <a:chOff x="0" y="0"/>
            <a:chExt cx="5105743" cy="6373711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5105654" cy="6373622"/>
            </a:xfrm>
            <a:custGeom>
              <a:avLst/>
              <a:gdLst/>
              <a:ahLst/>
              <a:cxnLst/>
              <a:rect r="r" b="b" t="t" l="l"/>
              <a:pathLst>
                <a:path h="6373622" w="5105654">
                  <a:moveTo>
                    <a:pt x="0" y="196342"/>
                  </a:moveTo>
                  <a:cubicBezTo>
                    <a:pt x="0" y="87884"/>
                    <a:pt x="87884" y="0"/>
                    <a:pt x="196342" y="0"/>
                  </a:cubicBezTo>
                  <a:lnTo>
                    <a:pt x="4909312" y="0"/>
                  </a:lnTo>
                  <a:cubicBezTo>
                    <a:pt x="5017770" y="0"/>
                    <a:pt x="5105654" y="87884"/>
                    <a:pt x="5105654" y="196342"/>
                  </a:cubicBezTo>
                  <a:lnTo>
                    <a:pt x="5105654" y="6177280"/>
                  </a:lnTo>
                  <a:cubicBezTo>
                    <a:pt x="5105654" y="6285738"/>
                    <a:pt x="5017770" y="6373622"/>
                    <a:pt x="4909312" y="6373622"/>
                  </a:cubicBezTo>
                  <a:lnTo>
                    <a:pt x="196342" y="6373622"/>
                  </a:lnTo>
                  <a:cubicBezTo>
                    <a:pt x="87884" y="6373749"/>
                    <a:pt x="0" y="6285738"/>
                    <a:pt x="0" y="6177280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3DEEA"/>
              </a:solidFill>
              <a:prstDash val="solid"/>
              <a:miter/>
            </a:ln>
          </p:spPr>
        </p:sp>
      </p:grpSp>
      <p:grpSp>
        <p:nvGrpSpPr>
          <p:cNvPr name="Group 36" id="36"/>
          <p:cNvGrpSpPr/>
          <p:nvPr/>
        </p:nvGrpSpPr>
        <p:grpSpPr>
          <a:xfrm rot="0">
            <a:off x="10479024" y="3511296"/>
            <a:ext cx="1536192" cy="1536192"/>
            <a:chOff x="0" y="0"/>
            <a:chExt cx="2048256" cy="2048256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2048256" cy="2048256"/>
            </a:xfrm>
            <a:custGeom>
              <a:avLst/>
              <a:gdLst/>
              <a:ahLst/>
              <a:cxnLst/>
              <a:rect r="r" b="b" t="t" l="l"/>
              <a:pathLst>
                <a:path h="2048256" w="2048256">
                  <a:moveTo>
                    <a:pt x="0" y="1024128"/>
                  </a:moveTo>
                  <a:cubicBezTo>
                    <a:pt x="0" y="458470"/>
                    <a:pt x="458470" y="0"/>
                    <a:pt x="1024128" y="0"/>
                  </a:cubicBezTo>
                  <a:cubicBezTo>
                    <a:pt x="1589786" y="0"/>
                    <a:pt x="2048256" y="458470"/>
                    <a:pt x="2048256" y="1024128"/>
                  </a:cubicBezTo>
                  <a:cubicBezTo>
                    <a:pt x="2048256" y="1589786"/>
                    <a:pt x="1589786" y="2048256"/>
                    <a:pt x="1024128" y="2048256"/>
                  </a:cubicBezTo>
                  <a:cubicBezTo>
                    <a:pt x="458470" y="2048256"/>
                    <a:pt x="0" y="1589786"/>
                    <a:pt x="0" y="1024128"/>
                  </a:cubicBezTo>
                  <a:close/>
                </a:path>
              </a:pathLst>
            </a:custGeom>
            <a:solidFill>
              <a:srgbClr val="4A6FA5"/>
            </a:solidFill>
          </p:spPr>
        </p:sp>
      </p:grpSp>
      <p:grpSp>
        <p:nvGrpSpPr>
          <p:cNvPr name="Group 38" id="38"/>
          <p:cNvGrpSpPr/>
          <p:nvPr/>
        </p:nvGrpSpPr>
        <p:grpSpPr>
          <a:xfrm rot="0">
            <a:off x="10863072" y="3895344"/>
            <a:ext cx="768096" cy="768096"/>
            <a:chOff x="0" y="0"/>
            <a:chExt cx="1024128" cy="1024128"/>
          </a:xfrm>
        </p:grpSpPr>
        <p:sp>
          <p:nvSpPr>
            <p:cNvPr name="Freeform 39" id="39" descr="/home/claude/icons/FiUsers_FFFFFF.png"/>
            <p:cNvSpPr/>
            <p:nvPr/>
          </p:nvSpPr>
          <p:spPr>
            <a:xfrm flipH="false" flipV="false" rot="0">
              <a:off x="0" y="0"/>
              <a:ext cx="1024128" cy="1024128"/>
            </a:xfrm>
            <a:custGeom>
              <a:avLst/>
              <a:gdLst/>
              <a:ahLst/>
              <a:cxnLst/>
              <a:rect r="r" b="b" t="t" l="l"/>
              <a:pathLst>
                <a:path h="1024128" w="1024128">
                  <a:moveTo>
                    <a:pt x="0" y="0"/>
                  </a:moveTo>
                  <a:lnTo>
                    <a:pt x="1024128" y="0"/>
                  </a:lnTo>
                  <a:lnTo>
                    <a:pt x="1024128" y="1024128"/>
                  </a:lnTo>
                  <a:lnTo>
                    <a:pt x="0" y="10241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40" id="40"/>
          <p:cNvGrpSpPr/>
          <p:nvPr/>
        </p:nvGrpSpPr>
        <p:grpSpPr>
          <a:xfrm rot="0">
            <a:off x="9528048" y="5303520"/>
            <a:ext cx="3438144" cy="914400"/>
            <a:chOff x="0" y="0"/>
            <a:chExt cx="4584192" cy="121920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4584192" cy="1219200"/>
            </a:xfrm>
            <a:custGeom>
              <a:avLst/>
              <a:gdLst/>
              <a:ahLst/>
              <a:cxnLst/>
              <a:rect r="r" b="b" t="t" l="l"/>
              <a:pathLst>
                <a:path h="1219200" w="4584192">
                  <a:moveTo>
                    <a:pt x="0" y="0"/>
                  </a:moveTo>
                  <a:lnTo>
                    <a:pt x="4584192" y="0"/>
                  </a:lnTo>
                  <a:lnTo>
                    <a:pt x="4584192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3263" r="0" b="-23263"/>
              </a:stretch>
            </a:blipFill>
          </p:spPr>
        </p:sp>
        <p:sp>
          <p:nvSpPr>
            <p:cNvPr name="TextBox 42" id="42"/>
            <p:cNvSpPr txBox="true"/>
            <p:nvPr/>
          </p:nvSpPr>
          <p:spPr>
            <a:xfrm>
              <a:off x="0" y="-66675"/>
              <a:ext cx="4584192" cy="12858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Nome do Integrante</a:t>
              </a:r>
            </a:p>
          </p:txBody>
        </p:sp>
      </p:grpSp>
      <p:grpSp>
        <p:nvGrpSpPr>
          <p:cNvPr name="Group 43" id="43"/>
          <p:cNvGrpSpPr/>
          <p:nvPr/>
        </p:nvGrpSpPr>
        <p:grpSpPr>
          <a:xfrm rot="0">
            <a:off x="9528048" y="6217920"/>
            <a:ext cx="3438144" cy="1097280"/>
            <a:chOff x="0" y="0"/>
            <a:chExt cx="4584192" cy="146304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4584192" cy="1463040"/>
            </a:xfrm>
            <a:custGeom>
              <a:avLst/>
              <a:gdLst/>
              <a:ahLst/>
              <a:cxnLst/>
              <a:rect r="r" b="b" t="t" l="l"/>
              <a:pathLst>
                <a:path h="1463040" w="4584192">
                  <a:moveTo>
                    <a:pt x="0" y="0"/>
                  </a:moveTo>
                  <a:lnTo>
                    <a:pt x="4584192" y="0"/>
                  </a:lnTo>
                  <a:lnTo>
                    <a:pt x="4584192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1053" r="0" b="-11053"/>
              </a:stretch>
            </a:blipFill>
          </p:spPr>
        </p:sp>
        <p:sp>
          <p:nvSpPr>
            <p:cNvPr name="TextBox 45" id="45"/>
            <p:cNvSpPr txBox="true"/>
            <p:nvPr/>
          </p:nvSpPr>
          <p:spPr>
            <a:xfrm>
              <a:off x="0" y="-47625"/>
              <a:ext cx="4584192" cy="15106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640"/>
                </a:lnSpc>
              </a:pPr>
              <a:r>
                <a:rPr lang="en-US" sz="2200">
                  <a:solidFill>
                    <a:srgbClr val="7E8F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Função no seminário</a:t>
              </a:r>
            </a:p>
            <a:p>
              <a:pPr algn="ctr">
                <a:lnSpc>
                  <a:spcPts val="2640"/>
                </a:lnSpc>
              </a:pPr>
              <a:r>
                <a:rPr lang="en-US" sz="2200">
                  <a:solidFill>
                    <a:srgbClr val="7E8F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Lorem ipsum dolor</a:t>
              </a:r>
            </a:p>
          </p:txBody>
        </p:sp>
      </p:grpSp>
      <p:grpSp>
        <p:nvGrpSpPr>
          <p:cNvPr name="Group 46" id="46"/>
          <p:cNvGrpSpPr/>
          <p:nvPr/>
        </p:nvGrpSpPr>
        <p:grpSpPr>
          <a:xfrm rot="0">
            <a:off x="13502135" y="2913383"/>
            <a:ext cx="3829307" cy="4780283"/>
            <a:chOff x="0" y="0"/>
            <a:chExt cx="5105743" cy="6373711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5105654" cy="6373622"/>
            </a:xfrm>
            <a:custGeom>
              <a:avLst/>
              <a:gdLst/>
              <a:ahLst/>
              <a:cxnLst/>
              <a:rect r="r" b="b" t="t" l="l"/>
              <a:pathLst>
                <a:path h="6373622" w="5105654">
                  <a:moveTo>
                    <a:pt x="0" y="196342"/>
                  </a:moveTo>
                  <a:cubicBezTo>
                    <a:pt x="0" y="87884"/>
                    <a:pt x="87884" y="0"/>
                    <a:pt x="196342" y="0"/>
                  </a:cubicBezTo>
                  <a:lnTo>
                    <a:pt x="4909312" y="0"/>
                  </a:lnTo>
                  <a:cubicBezTo>
                    <a:pt x="5017770" y="0"/>
                    <a:pt x="5105654" y="87884"/>
                    <a:pt x="5105654" y="196342"/>
                  </a:cubicBezTo>
                  <a:lnTo>
                    <a:pt x="5105654" y="6177280"/>
                  </a:lnTo>
                  <a:cubicBezTo>
                    <a:pt x="5105654" y="6285738"/>
                    <a:pt x="5017770" y="6373622"/>
                    <a:pt x="4909312" y="6373622"/>
                  </a:cubicBezTo>
                  <a:lnTo>
                    <a:pt x="196342" y="6373622"/>
                  </a:lnTo>
                  <a:cubicBezTo>
                    <a:pt x="87884" y="6373749"/>
                    <a:pt x="0" y="6285738"/>
                    <a:pt x="0" y="6177280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3DEEA"/>
              </a:solidFill>
              <a:prstDash val="solid"/>
              <a:miter/>
            </a:ln>
          </p:spPr>
        </p:sp>
      </p:grpSp>
      <p:grpSp>
        <p:nvGrpSpPr>
          <p:cNvPr name="Group 48" id="48"/>
          <p:cNvGrpSpPr/>
          <p:nvPr/>
        </p:nvGrpSpPr>
        <p:grpSpPr>
          <a:xfrm rot="0">
            <a:off x="14648688" y="3511296"/>
            <a:ext cx="1536192" cy="1536192"/>
            <a:chOff x="0" y="0"/>
            <a:chExt cx="2048256" cy="2048256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2048256" cy="2048256"/>
            </a:xfrm>
            <a:custGeom>
              <a:avLst/>
              <a:gdLst/>
              <a:ahLst/>
              <a:cxnLst/>
              <a:rect r="r" b="b" t="t" l="l"/>
              <a:pathLst>
                <a:path h="2048256" w="2048256">
                  <a:moveTo>
                    <a:pt x="0" y="1024128"/>
                  </a:moveTo>
                  <a:cubicBezTo>
                    <a:pt x="0" y="458470"/>
                    <a:pt x="458470" y="0"/>
                    <a:pt x="1024128" y="0"/>
                  </a:cubicBezTo>
                  <a:cubicBezTo>
                    <a:pt x="1589786" y="0"/>
                    <a:pt x="2048256" y="458470"/>
                    <a:pt x="2048256" y="1024128"/>
                  </a:cubicBezTo>
                  <a:cubicBezTo>
                    <a:pt x="2048256" y="1589786"/>
                    <a:pt x="1589786" y="2048256"/>
                    <a:pt x="1024128" y="2048256"/>
                  </a:cubicBezTo>
                  <a:cubicBezTo>
                    <a:pt x="458470" y="2048256"/>
                    <a:pt x="0" y="1589786"/>
                    <a:pt x="0" y="1024128"/>
                  </a:cubicBezTo>
                  <a:close/>
                </a:path>
              </a:pathLst>
            </a:custGeom>
            <a:solidFill>
              <a:srgbClr val="4A6FA5"/>
            </a:solidFill>
          </p:spPr>
        </p:sp>
      </p:grpSp>
      <p:grpSp>
        <p:nvGrpSpPr>
          <p:cNvPr name="Group 50" id="50"/>
          <p:cNvGrpSpPr/>
          <p:nvPr/>
        </p:nvGrpSpPr>
        <p:grpSpPr>
          <a:xfrm rot="0">
            <a:off x="15032736" y="3895344"/>
            <a:ext cx="768096" cy="768096"/>
            <a:chOff x="0" y="0"/>
            <a:chExt cx="1024128" cy="1024128"/>
          </a:xfrm>
        </p:grpSpPr>
        <p:sp>
          <p:nvSpPr>
            <p:cNvPr name="Freeform 51" id="51" descr="/home/claude/icons/FiUsers_FFFFFF.png"/>
            <p:cNvSpPr/>
            <p:nvPr/>
          </p:nvSpPr>
          <p:spPr>
            <a:xfrm flipH="false" flipV="false" rot="0">
              <a:off x="0" y="0"/>
              <a:ext cx="1024128" cy="1024128"/>
            </a:xfrm>
            <a:custGeom>
              <a:avLst/>
              <a:gdLst/>
              <a:ahLst/>
              <a:cxnLst/>
              <a:rect r="r" b="b" t="t" l="l"/>
              <a:pathLst>
                <a:path h="1024128" w="1024128">
                  <a:moveTo>
                    <a:pt x="0" y="0"/>
                  </a:moveTo>
                  <a:lnTo>
                    <a:pt x="1024128" y="0"/>
                  </a:lnTo>
                  <a:lnTo>
                    <a:pt x="1024128" y="1024128"/>
                  </a:lnTo>
                  <a:lnTo>
                    <a:pt x="0" y="10241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52" id="52"/>
          <p:cNvGrpSpPr/>
          <p:nvPr/>
        </p:nvGrpSpPr>
        <p:grpSpPr>
          <a:xfrm rot="0">
            <a:off x="13697712" y="5303520"/>
            <a:ext cx="3438144" cy="914400"/>
            <a:chOff x="0" y="0"/>
            <a:chExt cx="4584192" cy="121920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4584192" cy="1219200"/>
            </a:xfrm>
            <a:custGeom>
              <a:avLst/>
              <a:gdLst/>
              <a:ahLst/>
              <a:cxnLst/>
              <a:rect r="r" b="b" t="t" l="l"/>
              <a:pathLst>
                <a:path h="1219200" w="4584192">
                  <a:moveTo>
                    <a:pt x="0" y="0"/>
                  </a:moveTo>
                  <a:lnTo>
                    <a:pt x="4584192" y="0"/>
                  </a:lnTo>
                  <a:lnTo>
                    <a:pt x="4584192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3263" r="0" b="-23263"/>
              </a:stretch>
            </a:blipFill>
          </p:spPr>
        </p:sp>
        <p:sp>
          <p:nvSpPr>
            <p:cNvPr name="TextBox 54" id="54"/>
            <p:cNvSpPr txBox="true"/>
            <p:nvPr/>
          </p:nvSpPr>
          <p:spPr>
            <a:xfrm>
              <a:off x="0" y="-66675"/>
              <a:ext cx="4584192" cy="12858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Nome do Integrante</a:t>
              </a:r>
            </a:p>
          </p:txBody>
        </p:sp>
      </p:grpSp>
      <p:grpSp>
        <p:nvGrpSpPr>
          <p:cNvPr name="Group 55" id="55"/>
          <p:cNvGrpSpPr/>
          <p:nvPr/>
        </p:nvGrpSpPr>
        <p:grpSpPr>
          <a:xfrm rot="0">
            <a:off x="13697712" y="6217920"/>
            <a:ext cx="3438144" cy="1097280"/>
            <a:chOff x="0" y="0"/>
            <a:chExt cx="4584192" cy="1463040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4584192" cy="1463040"/>
            </a:xfrm>
            <a:custGeom>
              <a:avLst/>
              <a:gdLst/>
              <a:ahLst/>
              <a:cxnLst/>
              <a:rect r="r" b="b" t="t" l="l"/>
              <a:pathLst>
                <a:path h="1463040" w="4584192">
                  <a:moveTo>
                    <a:pt x="0" y="0"/>
                  </a:moveTo>
                  <a:lnTo>
                    <a:pt x="4584192" y="0"/>
                  </a:lnTo>
                  <a:lnTo>
                    <a:pt x="4584192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1053" r="0" b="-11053"/>
              </a:stretch>
            </a:blipFill>
          </p:spPr>
        </p:sp>
        <p:sp>
          <p:nvSpPr>
            <p:cNvPr name="TextBox 57" id="57"/>
            <p:cNvSpPr txBox="true"/>
            <p:nvPr/>
          </p:nvSpPr>
          <p:spPr>
            <a:xfrm>
              <a:off x="0" y="-47625"/>
              <a:ext cx="4584192" cy="15106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640"/>
                </a:lnSpc>
              </a:pPr>
              <a:r>
                <a:rPr lang="en-US" sz="2200">
                  <a:solidFill>
                    <a:srgbClr val="7E8F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Função no seminário</a:t>
              </a:r>
            </a:p>
            <a:p>
              <a:pPr algn="ctr">
                <a:lnSpc>
                  <a:spcPts val="2640"/>
                </a:lnSpc>
              </a:pPr>
              <a:r>
                <a:rPr lang="en-US" sz="2200">
                  <a:solidFill>
                    <a:srgbClr val="7E8F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Lorem ipsum dolor</a:t>
              </a:r>
            </a:p>
          </p:txBody>
        </p:sp>
      </p:grpSp>
      <p:grpSp>
        <p:nvGrpSpPr>
          <p:cNvPr name="Group 58" id="58"/>
          <p:cNvGrpSpPr/>
          <p:nvPr/>
        </p:nvGrpSpPr>
        <p:grpSpPr>
          <a:xfrm rot="0">
            <a:off x="1005840" y="8229600"/>
            <a:ext cx="16276320" cy="731520"/>
            <a:chOff x="0" y="0"/>
            <a:chExt cx="21701760" cy="975360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21701761" cy="975360"/>
            </a:xfrm>
            <a:custGeom>
              <a:avLst/>
              <a:gdLst/>
              <a:ahLst/>
              <a:cxnLst/>
              <a:rect r="r" b="b" t="t" l="l"/>
              <a:pathLst>
                <a:path h="975360" w="21701761">
                  <a:moveTo>
                    <a:pt x="0" y="0"/>
                  </a:moveTo>
                  <a:lnTo>
                    <a:pt x="21701761" y="0"/>
                  </a:lnTo>
                  <a:lnTo>
                    <a:pt x="21701761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83542" r="0" b="-383542"/>
              </a:stretch>
            </a:blipFill>
          </p:spPr>
        </p:sp>
        <p:sp>
          <p:nvSpPr>
            <p:cNvPr name="TextBox 60" id="60"/>
            <p:cNvSpPr txBox="true"/>
            <p:nvPr/>
          </p:nvSpPr>
          <p:spPr>
            <a:xfrm>
              <a:off x="0" y="-57150"/>
              <a:ext cx="21701760" cy="10325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120"/>
                </a:lnSpc>
              </a:pPr>
              <a:r>
                <a:rPr lang="en-US" sz="2600" i="true">
                  <a:solidFill>
                    <a:srgbClr val="7E8FA6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Lorem ipsum dolor sit amet, consectetur adipiscing elit — sed do eiusmod tempor incididunt.</a:t>
              </a:r>
            </a:p>
          </p:txBody>
        </p:sp>
      </p:grpSp>
      <p:grpSp>
        <p:nvGrpSpPr>
          <p:cNvPr name="Group 61" id="61"/>
          <p:cNvGrpSpPr/>
          <p:nvPr/>
        </p:nvGrpSpPr>
        <p:grpSpPr>
          <a:xfrm rot="0">
            <a:off x="1005840" y="9692640"/>
            <a:ext cx="10058400" cy="457200"/>
            <a:chOff x="0" y="0"/>
            <a:chExt cx="13411200" cy="609600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13411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3411200">
                  <a:moveTo>
                    <a:pt x="0" y="0"/>
                  </a:moveTo>
                  <a:lnTo>
                    <a:pt x="13411200" y="0"/>
                  </a:lnTo>
                  <a:lnTo>
                    <a:pt x="13411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78670" r="0" b="-378670"/>
              </a:stretch>
            </a:blipFill>
          </p:spPr>
        </p:sp>
        <p:sp>
          <p:nvSpPr>
            <p:cNvPr name="TextBox 63" id="63"/>
            <p:cNvSpPr txBox="true"/>
            <p:nvPr/>
          </p:nvSpPr>
          <p:spPr>
            <a:xfrm>
              <a:off x="0" y="-38100"/>
              <a:ext cx="13411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7E8F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Seminário de IoT — Segurança em IoT · Grupo 6</a:t>
              </a:r>
            </a:p>
          </p:txBody>
        </p:sp>
      </p:grpSp>
      <p:grpSp>
        <p:nvGrpSpPr>
          <p:cNvPr name="Group 64" id="64"/>
          <p:cNvGrpSpPr/>
          <p:nvPr/>
        </p:nvGrpSpPr>
        <p:grpSpPr>
          <a:xfrm rot="0">
            <a:off x="16367760" y="9692640"/>
            <a:ext cx="914400" cy="457200"/>
            <a:chOff x="0" y="0"/>
            <a:chExt cx="1219200" cy="609600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1219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66" id="66"/>
            <p:cNvSpPr txBox="true"/>
            <p:nvPr/>
          </p:nvSpPr>
          <p:spPr>
            <a:xfrm>
              <a:off x="0" y="-38100"/>
              <a:ext cx="1219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7E8F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02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05840" y="914400"/>
            <a:ext cx="621792" cy="559613"/>
            <a:chOff x="0" y="0"/>
            <a:chExt cx="829056" cy="74615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29056" cy="746125"/>
            </a:xfrm>
            <a:custGeom>
              <a:avLst/>
              <a:gdLst/>
              <a:ahLst/>
              <a:cxnLst/>
              <a:rect r="r" b="b" t="t" l="l"/>
              <a:pathLst>
                <a:path h="746125" w="829056">
                  <a:moveTo>
                    <a:pt x="0" y="373126"/>
                  </a:moveTo>
                  <a:lnTo>
                    <a:pt x="186563" y="0"/>
                  </a:lnTo>
                  <a:lnTo>
                    <a:pt x="642493" y="0"/>
                  </a:lnTo>
                  <a:lnTo>
                    <a:pt x="829056" y="373126"/>
                  </a:lnTo>
                  <a:lnTo>
                    <a:pt x="642493" y="746125"/>
                  </a:lnTo>
                  <a:lnTo>
                    <a:pt x="186563" y="746125"/>
                  </a:lnTo>
                  <a:close/>
                </a:path>
              </a:pathLst>
            </a:custGeom>
            <a:solidFill>
              <a:srgbClr val="38BDF8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865376" y="859536"/>
            <a:ext cx="13898880" cy="475488"/>
            <a:chOff x="0" y="0"/>
            <a:chExt cx="18531840" cy="63398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8531839" cy="633984"/>
            </a:xfrm>
            <a:custGeom>
              <a:avLst/>
              <a:gdLst/>
              <a:ahLst/>
              <a:cxnLst/>
              <a:rect r="r" b="b" t="t" l="l"/>
              <a:pathLst>
                <a:path h="633984" w="18531839">
                  <a:moveTo>
                    <a:pt x="0" y="0"/>
                  </a:moveTo>
                  <a:lnTo>
                    <a:pt x="18531839" y="0"/>
                  </a:lnTo>
                  <a:lnTo>
                    <a:pt x="18531839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19562" r="0" b="-519562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18531840" cy="68160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b="true" sz="2200" spc="399">
                  <a:solidFill>
                    <a:srgbClr val="4A6FA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ROTEIRO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005840" y="1426464"/>
            <a:ext cx="15727680" cy="1097280"/>
            <a:chOff x="0" y="0"/>
            <a:chExt cx="20970240" cy="146304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0970239" cy="1463040"/>
            </a:xfrm>
            <a:custGeom>
              <a:avLst/>
              <a:gdLst/>
              <a:ahLst/>
              <a:cxnLst/>
              <a:rect r="r" b="b" t="t" l="l"/>
              <a:pathLst>
                <a:path h="1463040" w="20970239">
                  <a:moveTo>
                    <a:pt x="0" y="0"/>
                  </a:moveTo>
                  <a:lnTo>
                    <a:pt x="20970239" y="0"/>
                  </a:lnTo>
                  <a:lnTo>
                    <a:pt x="20970239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29285" r="0" b="-229285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42875"/>
              <a:ext cx="20970240" cy="16059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920"/>
                </a:lnSpc>
              </a:pPr>
              <a:r>
                <a:rPr lang="en-US" sz="66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Agenda da Apresentação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005840" y="2834640"/>
            <a:ext cx="1188720" cy="1005840"/>
            <a:chOff x="0" y="0"/>
            <a:chExt cx="1584960" cy="134112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84960" cy="1341120"/>
            </a:xfrm>
            <a:custGeom>
              <a:avLst/>
              <a:gdLst/>
              <a:ahLst/>
              <a:cxnLst/>
              <a:rect r="r" b="b" t="t" l="l"/>
              <a:pathLst>
                <a:path h="1341120" w="1584960">
                  <a:moveTo>
                    <a:pt x="0" y="0"/>
                  </a:moveTo>
                  <a:lnTo>
                    <a:pt x="1584960" y="0"/>
                  </a:lnTo>
                  <a:lnTo>
                    <a:pt x="1584960" y="1341120"/>
                  </a:lnTo>
                  <a:lnTo>
                    <a:pt x="0" y="13411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58564" t="0" r="-58564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1584960" cy="14268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759"/>
                </a:lnSpc>
              </a:pPr>
              <a:r>
                <a:rPr lang="en-US" sz="4800" b="true">
                  <a:solidFill>
                    <a:srgbClr val="38BDF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01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2322576" y="2834640"/>
            <a:ext cx="6217920" cy="621792"/>
            <a:chOff x="0" y="0"/>
            <a:chExt cx="8290560" cy="829056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8290560" cy="829056"/>
            </a:xfrm>
            <a:custGeom>
              <a:avLst/>
              <a:gdLst/>
              <a:ahLst/>
              <a:cxnLst/>
              <a:rect r="r" b="b" t="t" l="l"/>
              <a:pathLst>
                <a:path h="829056" w="8290560">
                  <a:moveTo>
                    <a:pt x="0" y="0"/>
                  </a:moveTo>
                  <a:lnTo>
                    <a:pt x="8290560" y="0"/>
                  </a:lnTo>
                  <a:lnTo>
                    <a:pt x="8290560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76200"/>
              <a:ext cx="8290560" cy="90525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800"/>
                </a:lnSpc>
              </a:pPr>
              <a:r>
                <a:rPr lang="en-US" sz="40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Introdução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2322576" y="3419856"/>
            <a:ext cx="6583680" cy="438912"/>
            <a:chOff x="0" y="0"/>
            <a:chExt cx="8778240" cy="585216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8778240" cy="585216"/>
            </a:xfrm>
            <a:custGeom>
              <a:avLst/>
              <a:gdLst/>
              <a:ahLst/>
              <a:cxnLst/>
              <a:rect r="r" b="b" t="t" l="l"/>
              <a:pathLst>
                <a:path h="585216" w="8778240">
                  <a:moveTo>
                    <a:pt x="0" y="0"/>
                  </a:moveTo>
                  <a:lnTo>
                    <a:pt x="8778240" y="0"/>
                  </a:lnTo>
                  <a:lnTo>
                    <a:pt x="8778240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42275" r="0" b="-242275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47625"/>
              <a:ext cx="8778240" cy="6328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7E8F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Lorem ipsum dolor sit amet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1005840" y="4151376"/>
            <a:ext cx="1188720" cy="1005840"/>
            <a:chOff x="0" y="0"/>
            <a:chExt cx="1584960" cy="134112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584960" cy="1341120"/>
            </a:xfrm>
            <a:custGeom>
              <a:avLst/>
              <a:gdLst/>
              <a:ahLst/>
              <a:cxnLst/>
              <a:rect r="r" b="b" t="t" l="l"/>
              <a:pathLst>
                <a:path h="1341120" w="1584960">
                  <a:moveTo>
                    <a:pt x="0" y="0"/>
                  </a:moveTo>
                  <a:lnTo>
                    <a:pt x="1584960" y="0"/>
                  </a:lnTo>
                  <a:lnTo>
                    <a:pt x="1584960" y="1341120"/>
                  </a:lnTo>
                  <a:lnTo>
                    <a:pt x="0" y="13411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58564" t="0" r="-58564" b="0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85725"/>
              <a:ext cx="1584960" cy="14268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759"/>
                </a:lnSpc>
              </a:pPr>
              <a:r>
                <a:rPr lang="en-US" sz="4800" b="true">
                  <a:solidFill>
                    <a:srgbClr val="38BDF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02</a:t>
              </a: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2322576" y="4151376"/>
            <a:ext cx="6217920" cy="621792"/>
            <a:chOff x="0" y="0"/>
            <a:chExt cx="8290560" cy="829056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8290560" cy="829056"/>
            </a:xfrm>
            <a:custGeom>
              <a:avLst/>
              <a:gdLst/>
              <a:ahLst/>
              <a:cxnLst/>
              <a:rect r="r" b="b" t="t" l="l"/>
              <a:pathLst>
                <a:path h="829056" w="8290560">
                  <a:moveTo>
                    <a:pt x="0" y="0"/>
                  </a:moveTo>
                  <a:lnTo>
                    <a:pt x="8290560" y="0"/>
                  </a:lnTo>
                  <a:lnTo>
                    <a:pt x="8290560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76200"/>
              <a:ext cx="8290560" cy="90525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800"/>
                </a:lnSpc>
              </a:pPr>
              <a:r>
                <a:rPr lang="en-US" sz="40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Fundamentação Teórica</a:t>
              </a: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2322576" y="4736592"/>
            <a:ext cx="6583680" cy="438912"/>
            <a:chOff x="0" y="0"/>
            <a:chExt cx="8778240" cy="585216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8778240" cy="585216"/>
            </a:xfrm>
            <a:custGeom>
              <a:avLst/>
              <a:gdLst/>
              <a:ahLst/>
              <a:cxnLst/>
              <a:rect r="r" b="b" t="t" l="l"/>
              <a:pathLst>
                <a:path h="585216" w="8778240">
                  <a:moveTo>
                    <a:pt x="0" y="0"/>
                  </a:moveTo>
                  <a:lnTo>
                    <a:pt x="8778240" y="0"/>
                  </a:lnTo>
                  <a:lnTo>
                    <a:pt x="8778240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42275" r="0" b="-242275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47625"/>
              <a:ext cx="8778240" cy="6328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7E8F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Lorem ipsum dolor sit amet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1005840" y="5468112"/>
            <a:ext cx="1188720" cy="1005840"/>
            <a:chOff x="0" y="0"/>
            <a:chExt cx="1584960" cy="134112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584960" cy="1341120"/>
            </a:xfrm>
            <a:custGeom>
              <a:avLst/>
              <a:gdLst/>
              <a:ahLst/>
              <a:cxnLst/>
              <a:rect r="r" b="b" t="t" l="l"/>
              <a:pathLst>
                <a:path h="1341120" w="1584960">
                  <a:moveTo>
                    <a:pt x="0" y="0"/>
                  </a:moveTo>
                  <a:lnTo>
                    <a:pt x="1584960" y="0"/>
                  </a:lnTo>
                  <a:lnTo>
                    <a:pt x="1584960" y="1341120"/>
                  </a:lnTo>
                  <a:lnTo>
                    <a:pt x="0" y="13411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58564" t="0" r="-58564" b="0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85725"/>
              <a:ext cx="1584960" cy="14268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759"/>
                </a:lnSpc>
              </a:pPr>
              <a:r>
                <a:rPr lang="en-US" sz="4800" b="true">
                  <a:solidFill>
                    <a:srgbClr val="38BDF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03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2322576" y="5468112"/>
            <a:ext cx="6217920" cy="621792"/>
            <a:chOff x="0" y="0"/>
            <a:chExt cx="8290560" cy="829056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8290560" cy="829056"/>
            </a:xfrm>
            <a:custGeom>
              <a:avLst/>
              <a:gdLst/>
              <a:ahLst/>
              <a:cxnLst/>
              <a:rect r="r" b="b" t="t" l="l"/>
              <a:pathLst>
                <a:path h="829056" w="8290560">
                  <a:moveTo>
                    <a:pt x="0" y="0"/>
                  </a:moveTo>
                  <a:lnTo>
                    <a:pt x="8290560" y="0"/>
                  </a:lnTo>
                  <a:lnTo>
                    <a:pt x="8290560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76200"/>
              <a:ext cx="8290560" cy="90525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800"/>
                </a:lnSpc>
              </a:pPr>
              <a:r>
                <a:rPr lang="en-US" sz="40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Funcionamento</a:t>
              </a: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2322576" y="6053328"/>
            <a:ext cx="6583680" cy="438912"/>
            <a:chOff x="0" y="0"/>
            <a:chExt cx="8778240" cy="585216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8778240" cy="585216"/>
            </a:xfrm>
            <a:custGeom>
              <a:avLst/>
              <a:gdLst/>
              <a:ahLst/>
              <a:cxnLst/>
              <a:rect r="r" b="b" t="t" l="l"/>
              <a:pathLst>
                <a:path h="585216" w="8778240">
                  <a:moveTo>
                    <a:pt x="0" y="0"/>
                  </a:moveTo>
                  <a:lnTo>
                    <a:pt x="8778240" y="0"/>
                  </a:lnTo>
                  <a:lnTo>
                    <a:pt x="8778240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42275" r="0" b="-242275"/>
              </a:stretch>
            </a:blipFill>
          </p:spPr>
        </p:sp>
        <p:sp>
          <p:nvSpPr>
            <p:cNvPr name="TextBox 36" id="36"/>
            <p:cNvSpPr txBox="true"/>
            <p:nvPr/>
          </p:nvSpPr>
          <p:spPr>
            <a:xfrm>
              <a:off x="0" y="-47625"/>
              <a:ext cx="8778240" cy="6328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7E8F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Lorem ipsum dolor sit amet</a:t>
              </a:r>
            </a:p>
          </p:txBody>
        </p:sp>
      </p:grpSp>
      <p:grpSp>
        <p:nvGrpSpPr>
          <p:cNvPr name="Group 37" id="37"/>
          <p:cNvGrpSpPr/>
          <p:nvPr/>
        </p:nvGrpSpPr>
        <p:grpSpPr>
          <a:xfrm rot="0">
            <a:off x="1005840" y="6784848"/>
            <a:ext cx="1188720" cy="1005840"/>
            <a:chOff x="0" y="0"/>
            <a:chExt cx="1584960" cy="134112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1584960" cy="1341120"/>
            </a:xfrm>
            <a:custGeom>
              <a:avLst/>
              <a:gdLst/>
              <a:ahLst/>
              <a:cxnLst/>
              <a:rect r="r" b="b" t="t" l="l"/>
              <a:pathLst>
                <a:path h="1341120" w="1584960">
                  <a:moveTo>
                    <a:pt x="0" y="0"/>
                  </a:moveTo>
                  <a:lnTo>
                    <a:pt x="1584960" y="0"/>
                  </a:lnTo>
                  <a:lnTo>
                    <a:pt x="1584960" y="1341120"/>
                  </a:lnTo>
                  <a:lnTo>
                    <a:pt x="0" y="13411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58564" t="0" r="-58564" b="0"/>
              </a:stretch>
            </a:blipFill>
          </p:spPr>
        </p:sp>
        <p:sp>
          <p:nvSpPr>
            <p:cNvPr name="TextBox 39" id="39"/>
            <p:cNvSpPr txBox="true"/>
            <p:nvPr/>
          </p:nvSpPr>
          <p:spPr>
            <a:xfrm>
              <a:off x="0" y="-85725"/>
              <a:ext cx="1584960" cy="14268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759"/>
                </a:lnSpc>
              </a:pPr>
              <a:r>
                <a:rPr lang="en-US" sz="4800" b="true">
                  <a:solidFill>
                    <a:srgbClr val="38BDF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04</a:t>
              </a:r>
            </a:p>
          </p:txBody>
        </p:sp>
      </p:grpSp>
      <p:grpSp>
        <p:nvGrpSpPr>
          <p:cNvPr name="Group 40" id="40"/>
          <p:cNvGrpSpPr/>
          <p:nvPr/>
        </p:nvGrpSpPr>
        <p:grpSpPr>
          <a:xfrm rot="0">
            <a:off x="2322576" y="6784848"/>
            <a:ext cx="6217920" cy="621792"/>
            <a:chOff x="0" y="0"/>
            <a:chExt cx="8290560" cy="829056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8290560" cy="829056"/>
            </a:xfrm>
            <a:custGeom>
              <a:avLst/>
              <a:gdLst/>
              <a:ahLst/>
              <a:cxnLst/>
              <a:rect r="r" b="b" t="t" l="l"/>
              <a:pathLst>
                <a:path h="829056" w="8290560">
                  <a:moveTo>
                    <a:pt x="0" y="0"/>
                  </a:moveTo>
                  <a:lnTo>
                    <a:pt x="8290560" y="0"/>
                  </a:lnTo>
                  <a:lnTo>
                    <a:pt x="8290560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42" id="42"/>
            <p:cNvSpPr txBox="true"/>
            <p:nvPr/>
          </p:nvSpPr>
          <p:spPr>
            <a:xfrm>
              <a:off x="0" y="-76200"/>
              <a:ext cx="8290560" cy="90525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800"/>
                </a:lnSpc>
              </a:pPr>
              <a:r>
                <a:rPr lang="en-US" sz="40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Tecnologias Envolvidas</a:t>
              </a:r>
            </a:p>
          </p:txBody>
        </p:sp>
      </p:grpSp>
      <p:grpSp>
        <p:nvGrpSpPr>
          <p:cNvPr name="Group 43" id="43"/>
          <p:cNvGrpSpPr/>
          <p:nvPr/>
        </p:nvGrpSpPr>
        <p:grpSpPr>
          <a:xfrm rot="0">
            <a:off x="2322576" y="7370064"/>
            <a:ext cx="6583680" cy="438912"/>
            <a:chOff x="0" y="0"/>
            <a:chExt cx="8778240" cy="585216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8778240" cy="585216"/>
            </a:xfrm>
            <a:custGeom>
              <a:avLst/>
              <a:gdLst/>
              <a:ahLst/>
              <a:cxnLst/>
              <a:rect r="r" b="b" t="t" l="l"/>
              <a:pathLst>
                <a:path h="585216" w="8778240">
                  <a:moveTo>
                    <a:pt x="0" y="0"/>
                  </a:moveTo>
                  <a:lnTo>
                    <a:pt x="8778240" y="0"/>
                  </a:lnTo>
                  <a:lnTo>
                    <a:pt x="8778240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42275" r="0" b="-242275"/>
              </a:stretch>
            </a:blipFill>
          </p:spPr>
        </p:sp>
        <p:sp>
          <p:nvSpPr>
            <p:cNvPr name="TextBox 45" id="45"/>
            <p:cNvSpPr txBox="true"/>
            <p:nvPr/>
          </p:nvSpPr>
          <p:spPr>
            <a:xfrm>
              <a:off x="0" y="-47625"/>
              <a:ext cx="8778240" cy="6328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7E8F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Lorem ipsum dolor sit amet</a:t>
              </a:r>
            </a:p>
          </p:txBody>
        </p:sp>
      </p:grpSp>
      <p:grpSp>
        <p:nvGrpSpPr>
          <p:cNvPr name="Group 46" id="46"/>
          <p:cNvGrpSpPr/>
          <p:nvPr/>
        </p:nvGrpSpPr>
        <p:grpSpPr>
          <a:xfrm rot="0">
            <a:off x="1005840" y="8101584"/>
            <a:ext cx="1188720" cy="1005840"/>
            <a:chOff x="0" y="0"/>
            <a:chExt cx="1584960" cy="1341120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1584960" cy="1341120"/>
            </a:xfrm>
            <a:custGeom>
              <a:avLst/>
              <a:gdLst/>
              <a:ahLst/>
              <a:cxnLst/>
              <a:rect r="r" b="b" t="t" l="l"/>
              <a:pathLst>
                <a:path h="1341120" w="1584960">
                  <a:moveTo>
                    <a:pt x="0" y="0"/>
                  </a:moveTo>
                  <a:lnTo>
                    <a:pt x="1584960" y="0"/>
                  </a:lnTo>
                  <a:lnTo>
                    <a:pt x="1584960" y="1341120"/>
                  </a:lnTo>
                  <a:lnTo>
                    <a:pt x="0" y="13411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58564" t="0" r="-58564" b="0"/>
              </a:stretch>
            </a:blipFill>
          </p:spPr>
        </p:sp>
        <p:sp>
          <p:nvSpPr>
            <p:cNvPr name="TextBox 48" id="48"/>
            <p:cNvSpPr txBox="true"/>
            <p:nvPr/>
          </p:nvSpPr>
          <p:spPr>
            <a:xfrm>
              <a:off x="0" y="-85725"/>
              <a:ext cx="1584960" cy="14268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759"/>
                </a:lnSpc>
              </a:pPr>
              <a:r>
                <a:rPr lang="en-US" sz="4800" b="true">
                  <a:solidFill>
                    <a:srgbClr val="38BDF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05</a:t>
              </a:r>
            </a:p>
          </p:txBody>
        </p:sp>
      </p:grpSp>
      <p:grpSp>
        <p:nvGrpSpPr>
          <p:cNvPr name="Group 49" id="49"/>
          <p:cNvGrpSpPr/>
          <p:nvPr/>
        </p:nvGrpSpPr>
        <p:grpSpPr>
          <a:xfrm rot="0">
            <a:off x="2322576" y="8101584"/>
            <a:ext cx="6217920" cy="621792"/>
            <a:chOff x="0" y="0"/>
            <a:chExt cx="8290560" cy="829056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8290560" cy="829056"/>
            </a:xfrm>
            <a:custGeom>
              <a:avLst/>
              <a:gdLst/>
              <a:ahLst/>
              <a:cxnLst/>
              <a:rect r="r" b="b" t="t" l="l"/>
              <a:pathLst>
                <a:path h="829056" w="8290560">
                  <a:moveTo>
                    <a:pt x="0" y="0"/>
                  </a:moveTo>
                  <a:lnTo>
                    <a:pt x="8290560" y="0"/>
                  </a:lnTo>
                  <a:lnTo>
                    <a:pt x="8290560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51" id="51"/>
            <p:cNvSpPr txBox="true"/>
            <p:nvPr/>
          </p:nvSpPr>
          <p:spPr>
            <a:xfrm>
              <a:off x="0" y="-76200"/>
              <a:ext cx="8290560" cy="90525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800"/>
                </a:lnSpc>
              </a:pPr>
              <a:r>
                <a:rPr lang="en-US" sz="40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Arquitetura da Solução</a:t>
              </a:r>
            </a:p>
          </p:txBody>
        </p:sp>
      </p:grpSp>
      <p:grpSp>
        <p:nvGrpSpPr>
          <p:cNvPr name="Group 52" id="52"/>
          <p:cNvGrpSpPr/>
          <p:nvPr/>
        </p:nvGrpSpPr>
        <p:grpSpPr>
          <a:xfrm rot="0">
            <a:off x="2322576" y="8686800"/>
            <a:ext cx="6583680" cy="438912"/>
            <a:chOff x="0" y="0"/>
            <a:chExt cx="8778240" cy="585216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8778240" cy="585216"/>
            </a:xfrm>
            <a:custGeom>
              <a:avLst/>
              <a:gdLst/>
              <a:ahLst/>
              <a:cxnLst/>
              <a:rect r="r" b="b" t="t" l="l"/>
              <a:pathLst>
                <a:path h="585216" w="8778240">
                  <a:moveTo>
                    <a:pt x="0" y="0"/>
                  </a:moveTo>
                  <a:lnTo>
                    <a:pt x="8778240" y="0"/>
                  </a:lnTo>
                  <a:lnTo>
                    <a:pt x="8778240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42275" r="0" b="-242275"/>
              </a:stretch>
            </a:blipFill>
          </p:spPr>
        </p:sp>
        <p:sp>
          <p:nvSpPr>
            <p:cNvPr name="TextBox 54" id="54"/>
            <p:cNvSpPr txBox="true"/>
            <p:nvPr/>
          </p:nvSpPr>
          <p:spPr>
            <a:xfrm>
              <a:off x="0" y="-47625"/>
              <a:ext cx="8778240" cy="6328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7E8F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Lorem ipsum dolor sit amet</a:t>
              </a:r>
            </a:p>
          </p:txBody>
        </p:sp>
      </p:grpSp>
      <p:grpSp>
        <p:nvGrpSpPr>
          <p:cNvPr name="Group 55" id="55"/>
          <p:cNvGrpSpPr/>
          <p:nvPr/>
        </p:nvGrpSpPr>
        <p:grpSpPr>
          <a:xfrm rot="0">
            <a:off x="9418320" y="2834640"/>
            <a:ext cx="1188720" cy="1005840"/>
            <a:chOff x="0" y="0"/>
            <a:chExt cx="1584960" cy="1341120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1584960" cy="1341120"/>
            </a:xfrm>
            <a:custGeom>
              <a:avLst/>
              <a:gdLst/>
              <a:ahLst/>
              <a:cxnLst/>
              <a:rect r="r" b="b" t="t" l="l"/>
              <a:pathLst>
                <a:path h="1341120" w="1584960">
                  <a:moveTo>
                    <a:pt x="0" y="0"/>
                  </a:moveTo>
                  <a:lnTo>
                    <a:pt x="1584960" y="0"/>
                  </a:lnTo>
                  <a:lnTo>
                    <a:pt x="1584960" y="1341120"/>
                  </a:lnTo>
                  <a:lnTo>
                    <a:pt x="0" y="13411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58564" t="0" r="-58564" b="0"/>
              </a:stretch>
            </a:blipFill>
          </p:spPr>
        </p:sp>
        <p:sp>
          <p:nvSpPr>
            <p:cNvPr name="TextBox 57" id="57"/>
            <p:cNvSpPr txBox="true"/>
            <p:nvPr/>
          </p:nvSpPr>
          <p:spPr>
            <a:xfrm>
              <a:off x="0" y="-85725"/>
              <a:ext cx="1584960" cy="14268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759"/>
                </a:lnSpc>
              </a:pPr>
              <a:r>
                <a:rPr lang="en-US" sz="4800" b="true">
                  <a:solidFill>
                    <a:srgbClr val="38BDF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06</a:t>
              </a:r>
            </a:p>
          </p:txBody>
        </p:sp>
      </p:grpSp>
      <p:grpSp>
        <p:nvGrpSpPr>
          <p:cNvPr name="Group 58" id="58"/>
          <p:cNvGrpSpPr/>
          <p:nvPr/>
        </p:nvGrpSpPr>
        <p:grpSpPr>
          <a:xfrm rot="0">
            <a:off x="10735056" y="2834640"/>
            <a:ext cx="6217920" cy="621792"/>
            <a:chOff x="0" y="0"/>
            <a:chExt cx="8290560" cy="829056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8290560" cy="829056"/>
            </a:xfrm>
            <a:custGeom>
              <a:avLst/>
              <a:gdLst/>
              <a:ahLst/>
              <a:cxnLst/>
              <a:rect r="r" b="b" t="t" l="l"/>
              <a:pathLst>
                <a:path h="829056" w="8290560">
                  <a:moveTo>
                    <a:pt x="0" y="0"/>
                  </a:moveTo>
                  <a:lnTo>
                    <a:pt x="8290560" y="0"/>
                  </a:lnTo>
                  <a:lnTo>
                    <a:pt x="8290560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60" id="60"/>
            <p:cNvSpPr txBox="true"/>
            <p:nvPr/>
          </p:nvSpPr>
          <p:spPr>
            <a:xfrm>
              <a:off x="0" y="-76200"/>
              <a:ext cx="8290560" cy="90525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800"/>
                </a:lnSpc>
              </a:pPr>
              <a:r>
                <a:rPr lang="en-US" sz="40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Vantagens e Limitações</a:t>
              </a:r>
            </a:p>
          </p:txBody>
        </p:sp>
      </p:grpSp>
      <p:grpSp>
        <p:nvGrpSpPr>
          <p:cNvPr name="Group 61" id="61"/>
          <p:cNvGrpSpPr/>
          <p:nvPr/>
        </p:nvGrpSpPr>
        <p:grpSpPr>
          <a:xfrm rot="0">
            <a:off x="10735056" y="3419856"/>
            <a:ext cx="6583680" cy="438912"/>
            <a:chOff x="0" y="0"/>
            <a:chExt cx="8778240" cy="585216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8778240" cy="585216"/>
            </a:xfrm>
            <a:custGeom>
              <a:avLst/>
              <a:gdLst/>
              <a:ahLst/>
              <a:cxnLst/>
              <a:rect r="r" b="b" t="t" l="l"/>
              <a:pathLst>
                <a:path h="585216" w="8778240">
                  <a:moveTo>
                    <a:pt x="0" y="0"/>
                  </a:moveTo>
                  <a:lnTo>
                    <a:pt x="8778240" y="0"/>
                  </a:lnTo>
                  <a:lnTo>
                    <a:pt x="8778240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42275" r="0" b="-242275"/>
              </a:stretch>
            </a:blipFill>
          </p:spPr>
        </p:sp>
        <p:sp>
          <p:nvSpPr>
            <p:cNvPr name="TextBox 63" id="63"/>
            <p:cNvSpPr txBox="true"/>
            <p:nvPr/>
          </p:nvSpPr>
          <p:spPr>
            <a:xfrm>
              <a:off x="0" y="-47625"/>
              <a:ext cx="8778240" cy="6328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7E8F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Lorem ipsum dolor sit amet</a:t>
              </a:r>
            </a:p>
          </p:txBody>
        </p:sp>
      </p:grpSp>
      <p:grpSp>
        <p:nvGrpSpPr>
          <p:cNvPr name="Group 64" id="64"/>
          <p:cNvGrpSpPr/>
          <p:nvPr/>
        </p:nvGrpSpPr>
        <p:grpSpPr>
          <a:xfrm rot="0">
            <a:off x="9418320" y="4151376"/>
            <a:ext cx="1188720" cy="1005840"/>
            <a:chOff x="0" y="0"/>
            <a:chExt cx="1584960" cy="1341120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1584960" cy="1341120"/>
            </a:xfrm>
            <a:custGeom>
              <a:avLst/>
              <a:gdLst/>
              <a:ahLst/>
              <a:cxnLst/>
              <a:rect r="r" b="b" t="t" l="l"/>
              <a:pathLst>
                <a:path h="1341120" w="1584960">
                  <a:moveTo>
                    <a:pt x="0" y="0"/>
                  </a:moveTo>
                  <a:lnTo>
                    <a:pt x="1584960" y="0"/>
                  </a:lnTo>
                  <a:lnTo>
                    <a:pt x="1584960" y="1341120"/>
                  </a:lnTo>
                  <a:lnTo>
                    <a:pt x="0" y="13411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58564" t="0" r="-58564" b="0"/>
              </a:stretch>
            </a:blipFill>
          </p:spPr>
        </p:sp>
        <p:sp>
          <p:nvSpPr>
            <p:cNvPr name="TextBox 66" id="66"/>
            <p:cNvSpPr txBox="true"/>
            <p:nvPr/>
          </p:nvSpPr>
          <p:spPr>
            <a:xfrm>
              <a:off x="0" y="-85725"/>
              <a:ext cx="1584960" cy="14268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759"/>
                </a:lnSpc>
              </a:pPr>
              <a:r>
                <a:rPr lang="en-US" sz="4800" b="true">
                  <a:solidFill>
                    <a:srgbClr val="38BDF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07</a:t>
              </a:r>
            </a:p>
          </p:txBody>
        </p:sp>
      </p:grpSp>
      <p:grpSp>
        <p:nvGrpSpPr>
          <p:cNvPr name="Group 67" id="67"/>
          <p:cNvGrpSpPr/>
          <p:nvPr/>
        </p:nvGrpSpPr>
        <p:grpSpPr>
          <a:xfrm rot="0">
            <a:off x="10735056" y="4151376"/>
            <a:ext cx="6217920" cy="621792"/>
            <a:chOff x="0" y="0"/>
            <a:chExt cx="8290560" cy="829056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8290560" cy="829056"/>
            </a:xfrm>
            <a:custGeom>
              <a:avLst/>
              <a:gdLst/>
              <a:ahLst/>
              <a:cxnLst/>
              <a:rect r="r" b="b" t="t" l="l"/>
              <a:pathLst>
                <a:path h="829056" w="8290560">
                  <a:moveTo>
                    <a:pt x="0" y="0"/>
                  </a:moveTo>
                  <a:lnTo>
                    <a:pt x="8290560" y="0"/>
                  </a:lnTo>
                  <a:lnTo>
                    <a:pt x="8290560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69" id="69"/>
            <p:cNvSpPr txBox="true"/>
            <p:nvPr/>
          </p:nvSpPr>
          <p:spPr>
            <a:xfrm>
              <a:off x="0" y="-76200"/>
              <a:ext cx="8290560" cy="90525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800"/>
                </a:lnSpc>
              </a:pPr>
              <a:r>
                <a:rPr lang="en-US" sz="40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Casos de Uso</a:t>
              </a:r>
            </a:p>
          </p:txBody>
        </p:sp>
      </p:grpSp>
      <p:grpSp>
        <p:nvGrpSpPr>
          <p:cNvPr name="Group 70" id="70"/>
          <p:cNvGrpSpPr/>
          <p:nvPr/>
        </p:nvGrpSpPr>
        <p:grpSpPr>
          <a:xfrm rot="0">
            <a:off x="10735056" y="4736592"/>
            <a:ext cx="6583680" cy="438912"/>
            <a:chOff x="0" y="0"/>
            <a:chExt cx="8778240" cy="585216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8778240" cy="585216"/>
            </a:xfrm>
            <a:custGeom>
              <a:avLst/>
              <a:gdLst/>
              <a:ahLst/>
              <a:cxnLst/>
              <a:rect r="r" b="b" t="t" l="l"/>
              <a:pathLst>
                <a:path h="585216" w="8778240">
                  <a:moveTo>
                    <a:pt x="0" y="0"/>
                  </a:moveTo>
                  <a:lnTo>
                    <a:pt x="8778240" y="0"/>
                  </a:lnTo>
                  <a:lnTo>
                    <a:pt x="8778240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42275" r="0" b="-242275"/>
              </a:stretch>
            </a:blipFill>
          </p:spPr>
        </p:sp>
        <p:sp>
          <p:nvSpPr>
            <p:cNvPr name="TextBox 72" id="72"/>
            <p:cNvSpPr txBox="true"/>
            <p:nvPr/>
          </p:nvSpPr>
          <p:spPr>
            <a:xfrm>
              <a:off x="0" y="-47625"/>
              <a:ext cx="8778240" cy="6328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7E8F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Lorem ipsum dolor sit amet</a:t>
              </a:r>
            </a:p>
          </p:txBody>
        </p:sp>
      </p:grpSp>
      <p:grpSp>
        <p:nvGrpSpPr>
          <p:cNvPr name="Group 73" id="73"/>
          <p:cNvGrpSpPr/>
          <p:nvPr/>
        </p:nvGrpSpPr>
        <p:grpSpPr>
          <a:xfrm rot="0">
            <a:off x="9418320" y="5468112"/>
            <a:ext cx="1188720" cy="1005840"/>
            <a:chOff x="0" y="0"/>
            <a:chExt cx="1584960" cy="1341120"/>
          </a:xfrm>
        </p:grpSpPr>
        <p:sp>
          <p:nvSpPr>
            <p:cNvPr name="Freeform 74" id="74"/>
            <p:cNvSpPr/>
            <p:nvPr/>
          </p:nvSpPr>
          <p:spPr>
            <a:xfrm flipH="false" flipV="false" rot="0">
              <a:off x="0" y="0"/>
              <a:ext cx="1584960" cy="1341120"/>
            </a:xfrm>
            <a:custGeom>
              <a:avLst/>
              <a:gdLst/>
              <a:ahLst/>
              <a:cxnLst/>
              <a:rect r="r" b="b" t="t" l="l"/>
              <a:pathLst>
                <a:path h="1341120" w="1584960">
                  <a:moveTo>
                    <a:pt x="0" y="0"/>
                  </a:moveTo>
                  <a:lnTo>
                    <a:pt x="1584960" y="0"/>
                  </a:lnTo>
                  <a:lnTo>
                    <a:pt x="1584960" y="1341120"/>
                  </a:lnTo>
                  <a:lnTo>
                    <a:pt x="0" y="13411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58564" t="0" r="-58564" b="0"/>
              </a:stretch>
            </a:blipFill>
          </p:spPr>
        </p:sp>
        <p:sp>
          <p:nvSpPr>
            <p:cNvPr name="TextBox 75" id="75"/>
            <p:cNvSpPr txBox="true"/>
            <p:nvPr/>
          </p:nvSpPr>
          <p:spPr>
            <a:xfrm>
              <a:off x="0" y="-85725"/>
              <a:ext cx="1584960" cy="14268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759"/>
                </a:lnSpc>
              </a:pPr>
              <a:r>
                <a:rPr lang="en-US" sz="4800" b="true">
                  <a:solidFill>
                    <a:srgbClr val="38BDF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08</a:t>
              </a:r>
            </a:p>
          </p:txBody>
        </p:sp>
      </p:grpSp>
      <p:grpSp>
        <p:nvGrpSpPr>
          <p:cNvPr name="Group 76" id="76"/>
          <p:cNvGrpSpPr/>
          <p:nvPr/>
        </p:nvGrpSpPr>
        <p:grpSpPr>
          <a:xfrm rot="0">
            <a:off x="10735056" y="5468112"/>
            <a:ext cx="6217920" cy="621792"/>
            <a:chOff x="0" y="0"/>
            <a:chExt cx="8290560" cy="829056"/>
          </a:xfrm>
        </p:grpSpPr>
        <p:sp>
          <p:nvSpPr>
            <p:cNvPr name="Freeform 77" id="77"/>
            <p:cNvSpPr/>
            <p:nvPr/>
          </p:nvSpPr>
          <p:spPr>
            <a:xfrm flipH="false" flipV="false" rot="0">
              <a:off x="0" y="0"/>
              <a:ext cx="8290560" cy="829056"/>
            </a:xfrm>
            <a:custGeom>
              <a:avLst/>
              <a:gdLst/>
              <a:ahLst/>
              <a:cxnLst/>
              <a:rect r="r" b="b" t="t" l="l"/>
              <a:pathLst>
                <a:path h="829056" w="8290560">
                  <a:moveTo>
                    <a:pt x="0" y="0"/>
                  </a:moveTo>
                  <a:lnTo>
                    <a:pt x="8290560" y="0"/>
                  </a:lnTo>
                  <a:lnTo>
                    <a:pt x="8290560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78" id="78"/>
            <p:cNvSpPr txBox="true"/>
            <p:nvPr/>
          </p:nvSpPr>
          <p:spPr>
            <a:xfrm>
              <a:off x="0" y="-76200"/>
              <a:ext cx="8290560" cy="90525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800"/>
                </a:lnSpc>
              </a:pPr>
              <a:r>
                <a:rPr lang="en-US" sz="40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Estado da Arte</a:t>
              </a:r>
            </a:p>
          </p:txBody>
        </p:sp>
      </p:grpSp>
      <p:grpSp>
        <p:nvGrpSpPr>
          <p:cNvPr name="Group 79" id="79"/>
          <p:cNvGrpSpPr/>
          <p:nvPr/>
        </p:nvGrpSpPr>
        <p:grpSpPr>
          <a:xfrm rot="0">
            <a:off x="10735056" y="6053328"/>
            <a:ext cx="6583680" cy="438912"/>
            <a:chOff x="0" y="0"/>
            <a:chExt cx="8778240" cy="585216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0" y="0"/>
              <a:ext cx="8778240" cy="585216"/>
            </a:xfrm>
            <a:custGeom>
              <a:avLst/>
              <a:gdLst/>
              <a:ahLst/>
              <a:cxnLst/>
              <a:rect r="r" b="b" t="t" l="l"/>
              <a:pathLst>
                <a:path h="585216" w="8778240">
                  <a:moveTo>
                    <a:pt x="0" y="0"/>
                  </a:moveTo>
                  <a:lnTo>
                    <a:pt x="8778240" y="0"/>
                  </a:lnTo>
                  <a:lnTo>
                    <a:pt x="8778240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42275" r="0" b="-242275"/>
              </a:stretch>
            </a:blipFill>
          </p:spPr>
        </p:sp>
        <p:sp>
          <p:nvSpPr>
            <p:cNvPr name="TextBox 81" id="81"/>
            <p:cNvSpPr txBox="true"/>
            <p:nvPr/>
          </p:nvSpPr>
          <p:spPr>
            <a:xfrm>
              <a:off x="0" y="-47625"/>
              <a:ext cx="8778240" cy="6328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7E8F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Lorem ipsum dolor sit amet</a:t>
              </a:r>
            </a:p>
          </p:txBody>
        </p:sp>
      </p:grpSp>
      <p:grpSp>
        <p:nvGrpSpPr>
          <p:cNvPr name="Group 82" id="82"/>
          <p:cNvGrpSpPr/>
          <p:nvPr/>
        </p:nvGrpSpPr>
        <p:grpSpPr>
          <a:xfrm rot="0">
            <a:off x="9418320" y="6784848"/>
            <a:ext cx="1188720" cy="1005840"/>
            <a:chOff x="0" y="0"/>
            <a:chExt cx="1584960" cy="1341120"/>
          </a:xfrm>
        </p:grpSpPr>
        <p:sp>
          <p:nvSpPr>
            <p:cNvPr name="Freeform 83" id="83"/>
            <p:cNvSpPr/>
            <p:nvPr/>
          </p:nvSpPr>
          <p:spPr>
            <a:xfrm flipH="false" flipV="false" rot="0">
              <a:off x="0" y="0"/>
              <a:ext cx="1584960" cy="1341120"/>
            </a:xfrm>
            <a:custGeom>
              <a:avLst/>
              <a:gdLst/>
              <a:ahLst/>
              <a:cxnLst/>
              <a:rect r="r" b="b" t="t" l="l"/>
              <a:pathLst>
                <a:path h="1341120" w="1584960">
                  <a:moveTo>
                    <a:pt x="0" y="0"/>
                  </a:moveTo>
                  <a:lnTo>
                    <a:pt x="1584960" y="0"/>
                  </a:lnTo>
                  <a:lnTo>
                    <a:pt x="1584960" y="1341120"/>
                  </a:lnTo>
                  <a:lnTo>
                    <a:pt x="0" y="13411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58564" t="0" r="-58564" b="0"/>
              </a:stretch>
            </a:blipFill>
          </p:spPr>
        </p:sp>
        <p:sp>
          <p:nvSpPr>
            <p:cNvPr name="TextBox 84" id="84"/>
            <p:cNvSpPr txBox="true"/>
            <p:nvPr/>
          </p:nvSpPr>
          <p:spPr>
            <a:xfrm>
              <a:off x="0" y="-85725"/>
              <a:ext cx="1584960" cy="14268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759"/>
                </a:lnSpc>
              </a:pPr>
              <a:r>
                <a:rPr lang="en-US" sz="4800" b="true">
                  <a:solidFill>
                    <a:srgbClr val="38BDF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09</a:t>
              </a:r>
            </a:p>
          </p:txBody>
        </p:sp>
      </p:grpSp>
      <p:grpSp>
        <p:nvGrpSpPr>
          <p:cNvPr name="Group 85" id="85"/>
          <p:cNvGrpSpPr/>
          <p:nvPr/>
        </p:nvGrpSpPr>
        <p:grpSpPr>
          <a:xfrm rot="0">
            <a:off x="10735056" y="6784848"/>
            <a:ext cx="6217920" cy="621792"/>
            <a:chOff x="0" y="0"/>
            <a:chExt cx="8290560" cy="829056"/>
          </a:xfrm>
        </p:grpSpPr>
        <p:sp>
          <p:nvSpPr>
            <p:cNvPr name="Freeform 86" id="86"/>
            <p:cNvSpPr/>
            <p:nvPr/>
          </p:nvSpPr>
          <p:spPr>
            <a:xfrm flipH="false" flipV="false" rot="0">
              <a:off x="0" y="0"/>
              <a:ext cx="8290560" cy="829056"/>
            </a:xfrm>
            <a:custGeom>
              <a:avLst/>
              <a:gdLst/>
              <a:ahLst/>
              <a:cxnLst/>
              <a:rect r="r" b="b" t="t" l="l"/>
              <a:pathLst>
                <a:path h="829056" w="8290560">
                  <a:moveTo>
                    <a:pt x="0" y="0"/>
                  </a:moveTo>
                  <a:lnTo>
                    <a:pt x="8290560" y="0"/>
                  </a:lnTo>
                  <a:lnTo>
                    <a:pt x="8290560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87" id="87"/>
            <p:cNvSpPr txBox="true"/>
            <p:nvPr/>
          </p:nvSpPr>
          <p:spPr>
            <a:xfrm>
              <a:off x="0" y="-76200"/>
              <a:ext cx="8290560" cy="90525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800"/>
                </a:lnSpc>
              </a:pPr>
              <a:r>
                <a:rPr lang="en-US" sz="40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Demonstração Prática</a:t>
              </a:r>
            </a:p>
          </p:txBody>
        </p:sp>
      </p:grpSp>
      <p:grpSp>
        <p:nvGrpSpPr>
          <p:cNvPr name="Group 88" id="88"/>
          <p:cNvGrpSpPr/>
          <p:nvPr/>
        </p:nvGrpSpPr>
        <p:grpSpPr>
          <a:xfrm rot="0">
            <a:off x="10735056" y="7370064"/>
            <a:ext cx="6583680" cy="438912"/>
            <a:chOff x="0" y="0"/>
            <a:chExt cx="8778240" cy="585216"/>
          </a:xfrm>
        </p:grpSpPr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8778240" cy="585216"/>
            </a:xfrm>
            <a:custGeom>
              <a:avLst/>
              <a:gdLst/>
              <a:ahLst/>
              <a:cxnLst/>
              <a:rect r="r" b="b" t="t" l="l"/>
              <a:pathLst>
                <a:path h="585216" w="8778240">
                  <a:moveTo>
                    <a:pt x="0" y="0"/>
                  </a:moveTo>
                  <a:lnTo>
                    <a:pt x="8778240" y="0"/>
                  </a:lnTo>
                  <a:lnTo>
                    <a:pt x="8778240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42275" r="0" b="-242275"/>
              </a:stretch>
            </a:blipFill>
          </p:spPr>
        </p:sp>
        <p:sp>
          <p:nvSpPr>
            <p:cNvPr name="TextBox 90" id="90"/>
            <p:cNvSpPr txBox="true"/>
            <p:nvPr/>
          </p:nvSpPr>
          <p:spPr>
            <a:xfrm>
              <a:off x="0" y="-47625"/>
              <a:ext cx="8778240" cy="6328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7E8F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Lorem ipsum dolor sit amet</a:t>
              </a:r>
            </a:p>
          </p:txBody>
        </p:sp>
      </p:grpSp>
      <p:grpSp>
        <p:nvGrpSpPr>
          <p:cNvPr name="Group 91" id="91"/>
          <p:cNvGrpSpPr/>
          <p:nvPr/>
        </p:nvGrpSpPr>
        <p:grpSpPr>
          <a:xfrm rot="0">
            <a:off x="1005840" y="9692640"/>
            <a:ext cx="10058400" cy="457200"/>
            <a:chOff x="0" y="0"/>
            <a:chExt cx="13411200" cy="609600"/>
          </a:xfrm>
        </p:grpSpPr>
        <p:sp>
          <p:nvSpPr>
            <p:cNvPr name="Freeform 92" id="92"/>
            <p:cNvSpPr/>
            <p:nvPr/>
          </p:nvSpPr>
          <p:spPr>
            <a:xfrm flipH="false" flipV="false" rot="0">
              <a:off x="0" y="0"/>
              <a:ext cx="13411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3411200">
                  <a:moveTo>
                    <a:pt x="0" y="0"/>
                  </a:moveTo>
                  <a:lnTo>
                    <a:pt x="13411200" y="0"/>
                  </a:lnTo>
                  <a:lnTo>
                    <a:pt x="13411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78670" r="0" b="-378670"/>
              </a:stretch>
            </a:blipFill>
          </p:spPr>
        </p:sp>
        <p:sp>
          <p:nvSpPr>
            <p:cNvPr name="TextBox 93" id="93"/>
            <p:cNvSpPr txBox="true"/>
            <p:nvPr/>
          </p:nvSpPr>
          <p:spPr>
            <a:xfrm>
              <a:off x="0" y="-38100"/>
              <a:ext cx="13411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7E8F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Seminário de IoT — Segurança em IoT · Grupo 6</a:t>
              </a:r>
            </a:p>
          </p:txBody>
        </p:sp>
      </p:grpSp>
      <p:grpSp>
        <p:nvGrpSpPr>
          <p:cNvPr name="Group 94" id="94"/>
          <p:cNvGrpSpPr/>
          <p:nvPr/>
        </p:nvGrpSpPr>
        <p:grpSpPr>
          <a:xfrm rot="0">
            <a:off x="16367760" y="9692640"/>
            <a:ext cx="914400" cy="457200"/>
            <a:chOff x="0" y="0"/>
            <a:chExt cx="1219200" cy="609600"/>
          </a:xfrm>
        </p:grpSpPr>
        <p:sp>
          <p:nvSpPr>
            <p:cNvPr name="Freeform 95" id="95"/>
            <p:cNvSpPr/>
            <p:nvPr/>
          </p:nvSpPr>
          <p:spPr>
            <a:xfrm flipH="false" flipV="false" rot="0">
              <a:off x="0" y="0"/>
              <a:ext cx="1219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96" id="96"/>
            <p:cNvSpPr txBox="true"/>
            <p:nvPr/>
          </p:nvSpPr>
          <p:spPr>
            <a:xfrm>
              <a:off x="0" y="-38100"/>
              <a:ext cx="1219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7E8F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03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F2C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7498080" cy="10287000"/>
            <a:chOff x="0" y="0"/>
            <a:chExt cx="999744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99744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9997440">
                  <a:moveTo>
                    <a:pt x="0" y="0"/>
                  </a:moveTo>
                  <a:lnTo>
                    <a:pt x="9997440" y="0"/>
                  </a:lnTo>
                  <a:lnTo>
                    <a:pt x="999744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0345B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097280" y="7132320"/>
            <a:ext cx="1097280" cy="987552"/>
            <a:chOff x="0" y="0"/>
            <a:chExt cx="1463040" cy="131673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463040" cy="1316736"/>
            </a:xfrm>
            <a:custGeom>
              <a:avLst/>
              <a:gdLst/>
              <a:ahLst/>
              <a:cxnLst/>
              <a:rect r="r" b="b" t="t" l="l"/>
              <a:pathLst>
                <a:path h="1316736" w="1463040">
                  <a:moveTo>
                    <a:pt x="0" y="658368"/>
                  </a:moveTo>
                  <a:lnTo>
                    <a:pt x="329184" y="0"/>
                  </a:lnTo>
                  <a:lnTo>
                    <a:pt x="1133856" y="0"/>
                  </a:lnTo>
                  <a:lnTo>
                    <a:pt x="1463040" y="658368"/>
                  </a:lnTo>
                  <a:lnTo>
                    <a:pt x="1133856" y="1316736"/>
                  </a:lnTo>
                  <a:lnTo>
                    <a:pt x="329184" y="1316736"/>
                  </a:lnTo>
                  <a:close/>
                </a:path>
              </a:pathLst>
            </a:custGeom>
            <a:solidFill>
              <a:srgbClr val="38BDF8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2468880" y="7955280"/>
            <a:ext cx="731520" cy="658368"/>
            <a:chOff x="0" y="0"/>
            <a:chExt cx="975360" cy="87782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975360" cy="877824"/>
            </a:xfrm>
            <a:custGeom>
              <a:avLst/>
              <a:gdLst/>
              <a:ahLst/>
              <a:cxnLst/>
              <a:rect r="r" b="b" t="t" l="l"/>
              <a:pathLst>
                <a:path h="877824" w="975360">
                  <a:moveTo>
                    <a:pt x="0" y="438912"/>
                  </a:moveTo>
                  <a:lnTo>
                    <a:pt x="219456" y="0"/>
                  </a:lnTo>
                  <a:lnTo>
                    <a:pt x="755904" y="0"/>
                  </a:lnTo>
                  <a:lnTo>
                    <a:pt x="975360" y="438912"/>
                  </a:lnTo>
                  <a:lnTo>
                    <a:pt x="755904" y="877824"/>
                  </a:lnTo>
                  <a:lnTo>
                    <a:pt x="219456" y="877824"/>
                  </a:lnTo>
                  <a:close/>
                </a:path>
              </a:pathLst>
            </a:custGeom>
            <a:solidFill>
              <a:srgbClr val="23507F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1005840" y="2468880"/>
            <a:ext cx="5852160" cy="2926080"/>
            <a:chOff x="0" y="0"/>
            <a:chExt cx="7802880" cy="390144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7802880" cy="3901440"/>
            </a:xfrm>
            <a:custGeom>
              <a:avLst/>
              <a:gdLst/>
              <a:ahLst/>
              <a:cxnLst/>
              <a:rect r="r" b="b" t="t" l="l"/>
              <a:pathLst>
                <a:path h="3901440" w="7802880">
                  <a:moveTo>
                    <a:pt x="0" y="0"/>
                  </a:moveTo>
                  <a:lnTo>
                    <a:pt x="7802880" y="0"/>
                  </a:lnTo>
                  <a:lnTo>
                    <a:pt x="7802880" y="3901440"/>
                  </a:lnTo>
                  <a:lnTo>
                    <a:pt x="0" y="39014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71475"/>
              <a:ext cx="7802880" cy="42729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080"/>
                </a:lnSpc>
              </a:pPr>
              <a:r>
                <a:rPr lang="en-US" sz="184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01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097280" y="1920240"/>
            <a:ext cx="4572000" cy="548640"/>
            <a:chOff x="0" y="0"/>
            <a:chExt cx="6096000" cy="73152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6096000" cy="731520"/>
            </a:xfrm>
            <a:custGeom>
              <a:avLst/>
              <a:gdLst/>
              <a:ahLst/>
              <a:cxnLst/>
              <a:rect r="r" b="b" t="t" l="l"/>
              <a:pathLst>
                <a:path h="731520" w="6096000">
                  <a:moveTo>
                    <a:pt x="0" y="0"/>
                  </a:moveTo>
                  <a:lnTo>
                    <a:pt x="6096000" y="0"/>
                  </a:lnTo>
                  <a:lnTo>
                    <a:pt x="60960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12375" r="0" b="-112375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6096000" cy="7696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b="true" sz="2400" spc="600">
                  <a:solidFill>
                    <a:srgbClr val="38BDF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SEÇÃO</a:t>
              </a: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8412480" y="3606165"/>
            <a:ext cx="8961120" cy="21545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640"/>
              </a:lnSpc>
            </a:pPr>
            <a:r>
              <a:rPr lang="en-US" sz="7200" b="true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Introdução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412480" y="5760720"/>
            <a:ext cx="8412480" cy="1463040"/>
            <a:chOff x="0" y="0"/>
            <a:chExt cx="11216640" cy="195072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1216640" cy="1950720"/>
            </a:xfrm>
            <a:custGeom>
              <a:avLst/>
              <a:gdLst/>
              <a:ahLst/>
              <a:cxnLst/>
              <a:rect r="r" b="b" t="t" l="l"/>
              <a:pathLst>
                <a:path h="1950720" w="11216640">
                  <a:moveTo>
                    <a:pt x="0" y="0"/>
                  </a:moveTo>
                  <a:lnTo>
                    <a:pt x="11216640" y="0"/>
                  </a:lnTo>
                  <a:lnTo>
                    <a:pt x="11216640" y="1950720"/>
                  </a:lnTo>
                  <a:lnTo>
                    <a:pt x="0" y="19507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62038" r="0" b="-62038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57150"/>
              <a:ext cx="11216640" cy="20078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rPr lang="en-US" sz="2600">
                  <a:solidFill>
                    <a:srgbClr val="AFC4DC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Lorem ipsum dolor sit amet, consectetur adipiscing elit. Sed do eiusmod tempor incididunt ut labore et dolore magna aliqua.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8412480" y="2651760"/>
            <a:ext cx="804672" cy="804672"/>
            <a:chOff x="0" y="0"/>
            <a:chExt cx="1072896" cy="1072896"/>
          </a:xfrm>
        </p:grpSpPr>
        <p:sp>
          <p:nvSpPr>
            <p:cNvPr name="Freeform 19" id="19" descr="/home/claude/icons/FiCompass_38BDF8.png"/>
            <p:cNvSpPr/>
            <p:nvPr/>
          </p:nvSpPr>
          <p:spPr>
            <a:xfrm flipH="false" flipV="false" rot="0">
              <a:off x="0" y="0"/>
              <a:ext cx="1072896" cy="1072896"/>
            </a:xfrm>
            <a:custGeom>
              <a:avLst/>
              <a:gdLst/>
              <a:ahLst/>
              <a:cxnLst/>
              <a:rect r="r" b="b" t="t" l="l"/>
              <a:pathLst>
                <a:path h="1072896" w="1072896">
                  <a:moveTo>
                    <a:pt x="0" y="0"/>
                  </a:moveTo>
                  <a:lnTo>
                    <a:pt x="1072896" y="0"/>
                  </a:lnTo>
                  <a:lnTo>
                    <a:pt x="1072896" y="1072896"/>
                  </a:lnTo>
                  <a:lnTo>
                    <a:pt x="0" y="10728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1097280" y="9692640"/>
            <a:ext cx="10058400" cy="457200"/>
            <a:chOff x="0" y="0"/>
            <a:chExt cx="13411200" cy="6096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3411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3411200">
                  <a:moveTo>
                    <a:pt x="0" y="0"/>
                  </a:moveTo>
                  <a:lnTo>
                    <a:pt x="13411200" y="0"/>
                  </a:lnTo>
                  <a:lnTo>
                    <a:pt x="13411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78670" r="0" b="-378670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38100"/>
              <a:ext cx="13411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6E85A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Seminário de IoT — Segurança em IoT · Grupo 6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16367760" y="9692640"/>
            <a:ext cx="914400" cy="457200"/>
            <a:chOff x="0" y="0"/>
            <a:chExt cx="1219200" cy="6096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219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1219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6E85A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04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05840" y="914400"/>
            <a:ext cx="621792" cy="559613"/>
            <a:chOff x="0" y="0"/>
            <a:chExt cx="829056" cy="74615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29056" cy="746125"/>
            </a:xfrm>
            <a:custGeom>
              <a:avLst/>
              <a:gdLst/>
              <a:ahLst/>
              <a:cxnLst/>
              <a:rect r="r" b="b" t="t" l="l"/>
              <a:pathLst>
                <a:path h="746125" w="829056">
                  <a:moveTo>
                    <a:pt x="0" y="373126"/>
                  </a:moveTo>
                  <a:lnTo>
                    <a:pt x="186563" y="0"/>
                  </a:lnTo>
                  <a:lnTo>
                    <a:pt x="642493" y="0"/>
                  </a:lnTo>
                  <a:lnTo>
                    <a:pt x="829056" y="373126"/>
                  </a:lnTo>
                  <a:lnTo>
                    <a:pt x="642493" y="746125"/>
                  </a:lnTo>
                  <a:lnTo>
                    <a:pt x="186563" y="746125"/>
                  </a:lnTo>
                  <a:close/>
                </a:path>
              </a:pathLst>
            </a:custGeom>
            <a:solidFill>
              <a:srgbClr val="38BDF8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865376" y="859536"/>
            <a:ext cx="13898880" cy="475488"/>
            <a:chOff x="0" y="0"/>
            <a:chExt cx="18531840" cy="63398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8531839" cy="633984"/>
            </a:xfrm>
            <a:custGeom>
              <a:avLst/>
              <a:gdLst/>
              <a:ahLst/>
              <a:cxnLst/>
              <a:rect r="r" b="b" t="t" l="l"/>
              <a:pathLst>
                <a:path h="633984" w="18531839">
                  <a:moveTo>
                    <a:pt x="0" y="0"/>
                  </a:moveTo>
                  <a:lnTo>
                    <a:pt x="18531839" y="0"/>
                  </a:lnTo>
                  <a:lnTo>
                    <a:pt x="18531839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19562" r="0" b="-519562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18531840" cy="68160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b="true" sz="2200" spc="399">
                  <a:solidFill>
                    <a:srgbClr val="4A6FA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INTRODUÇÃO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005840" y="1426464"/>
            <a:ext cx="15727680" cy="1097280"/>
            <a:chOff x="0" y="0"/>
            <a:chExt cx="20970240" cy="146304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0970239" cy="1463040"/>
            </a:xfrm>
            <a:custGeom>
              <a:avLst/>
              <a:gdLst/>
              <a:ahLst/>
              <a:cxnLst/>
              <a:rect r="r" b="b" t="t" l="l"/>
              <a:pathLst>
                <a:path h="1463040" w="20970239">
                  <a:moveTo>
                    <a:pt x="0" y="0"/>
                  </a:moveTo>
                  <a:lnTo>
                    <a:pt x="20970239" y="0"/>
                  </a:lnTo>
                  <a:lnTo>
                    <a:pt x="20970239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29285" r="0" b="-229285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42875"/>
              <a:ext cx="20970240" cy="16059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920"/>
                </a:lnSpc>
              </a:pPr>
              <a:r>
                <a:rPr lang="en-US" sz="66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Contexto e Motivação</a:t>
              </a: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1005840" y="2758440"/>
            <a:ext cx="7955280" cy="2179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00"/>
              </a:lnSpc>
            </a:pPr>
            <a:r>
              <a:rPr lang="en-US" sz="4000">
                <a:solidFill>
                  <a:srgbClr val="3A4C63"/>
                </a:solidFill>
                <a:latin typeface="Calibri (MS)"/>
                <a:ea typeface="Calibri (MS)"/>
                <a:cs typeface="Calibri (MS)"/>
                <a:sym typeface="Calibri (MS)"/>
              </a:rPr>
              <a:t>Lorem ipsum dolor sit amet, consectetur adipiscing elit. Sed do eiusmod tempor incididunt ut labore et dolore magna aliqua. Ut enim ad minim veniam, quis nostrud exercitation.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05840" y="5135880"/>
            <a:ext cx="7955280" cy="3916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965200" indent="-482600" lvl="1">
              <a:lnSpc>
                <a:spcPts val="4800"/>
              </a:lnSpc>
              <a:buFont typeface="Arial"/>
              <a:buChar char="•"/>
            </a:pPr>
            <a:r>
              <a:rPr lang="en-US" sz="4000">
                <a:solidFill>
                  <a:srgbClr val="3A4C63"/>
                </a:solidFill>
                <a:latin typeface="Calibri (MS)"/>
                <a:ea typeface="Calibri (MS)"/>
                <a:cs typeface="Calibri (MS)"/>
                <a:sym typeface="Calibri (MS)"/>
              </a:rPr>
              <a:t>Lorem ipsum dolor sit amet, consectetur elit</a:t>
            </a:r>
          </a:p>
          <a:p>
            <a:pPr algn="l" marL="965200" indent="-482600" lvl="1">
              <a:lnSpc>
                <a:spcPts val="4800"/>
              </a:lnSpc>
              <a:buFont typeface="Arial"/>
              <a:buChar char="•"/>
            </a:pPr>
            <a:r>
              <a:rPr lang="en-US" sz="4000">
                <a:solidFill>
                  <a:srgbClr val="3A4C63"/>
                </a:solidFill>
                <a:latin typeface="Calibri (MS)"/>
                <a:ea typeface="Calibri (MS)"/>
                <a:cs typeface="Calibri (MS)"/>
                <a:sym typeface="Calibri (MS)"/>
              </a:rPr>
              <a:t>Sed do eiusmod tempor incididunt ut labore</a:t>
            </a:r>
          </a:p>
          <a:p>
            <a:pPr algn="l" marL="965200" indent="-482600" lvl="1">
              <a:lnSpc>
                <a:spcPts val="4800"/>
              </a:lnSpc>
              <a:buFont typeface="Arial"/>
              <a:buChar char="•"/>
            </a:pPr>
            <a:r>
              <a:rPr lang="en-US" sz="4000">
                <a:solidFill>
                  <a:srgbClr val="3A4C63"/>
                </a:solidFill>
                <a:latin typeface="Calibri (MS)"/>
                <a:ea typeface="Calibri (MS)"/>
                <a:cs typeface="Calibri (MS)"/>
                <a:sym typeface="Calibri (MS)"/>
              </a:rPr>
              <a:t>Ut enim ad minim veniam quis nostrud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9493882" y="2818762"/>
            <a:ext cx="7804147" cy="6249667"/>
            <a:chOff x="0" y="0"/>
            <a:chExt cx="10405529" cy="8332889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0405491" cy="8332851"/>
            </a:xfrm>
            <a:custGeom>
              <a:avLst/>
              <a:gdLst/>
              <a:ahLst/>
              <a:cxnLst/>
              <a:rect r="r" b="b" t="t" l="l"/>
              <a:pathLst>
                <a:path h="8332851" w="10405491">
                  <a:moveTo>
                    <a:pt x="0" y="196088"/>
                  </a:moveTo>
                  <a:cubicBezTo>
                    <a:pt x="0" y="87757"/>
                    <a:pt x="87757" y="0"/>
                    <a:pt x="196088" y="0"/>
                  </a:cubicBezTo>
                  <a:lnTo>
                    <a:pt x="10209403" y="0"/>
                  </a:lnTo>
                  <a:cubicBezTo>
                    <a:pt x="10317735" y="0"/>
                    <a:pt x="10405491" y="87757"/>
                    <a:pt x="10405491" y="196088"/>
                  </a:cubicBezTo>
                  <a:lnTo>
                    <a:pt x="10405491" y="8136763"/>
                  </a:lnTo>
                  <a:cubicBezTo>
                    <a:pt x="10405491" y="8245094"/>
                    <a:pt x="10317735" y="8332851"/>
                    <a:pt x="10209403" y="8332851"/>
                  </a:cubicBezTo>
                  <a:lnTo>
                    <a:pt x="196088" y="8332851"/>
                  </a:lnTo>
                  <a:cubicBezTo>
                    <a:pt x="87757" y="8332851"/>
                    <a:pt x="0" y="8245094"/>
                    <a:pt x="0" y="8136763"/>
                  </a:cubicBezTo>
                  <a:close/>
                </a:path>
              </a:pathLst>
            </a:custGeom>
            <a:solidFill>
              <a:srgbClr val="F7FAFD"/>
            </a:solidFill>
            <a:ln w="31750" cap="sq">
              <a:solidFill>
                <a:srgbClr val="A9C1DC"/>
              </a:solidFill>
              <a:prstDash val="dash"/>
              <a:miter/>
            </a:ln>
          </p:spPr>
        </p:sp>
      </p:grpSp>
      <p:grpSp>
        <p:nvGrpSpPr>
          <p:cNvPr name="Group 14" id="14"/>
          <p:cNvGrpSpPr/>
          <p:nvPr/>
        </p:nvGrpSpPr>
        <p:grpSpPr>
          <a:xfrm rot="0">
            <a:off x="12993624" y="5175504"/>
            <a:ext cx="804672" cy="804672"/>
            <a:chOff x="0" y="0"/>
            <a:chExt cx="1072896" cy="1072896"/>
          </a:xfrm>
        </p:grpSpPr>
        <p:sp>
          <p:nvSpPr>
            <p:cNvPr name="Freeform 15" id="15" descr="/home/claude/icons/FiImage_64748B.png"/>
            <p:cNvSpPr/>
            <p:nvPr/>
          </p:nvSpPr>
          <p:spPr>
            <a:xfrm flipH="false" flipV="false" rot="0">
              <a:off x="0" y="0"/>
              <a:ext cx="1072896" cy="1072896"/>
            </a:xfrm>
            <a:custGeom>
              <a:avLst/>
              <a:gdLst/>
              <a:ahLst/>
              <a:cxnLst/>
              <a:rect r="r" b="b" t="t" l="l"/>
              <a:pathLst>
                <a:path h="1072896" w="1072896">
                  <a:moveTo>
                    <a:pt x="0" y="0"/>
                  </a:moveTo>
                  <a:lnTo>
                    <a:pt x="1072896" y="0"/>
                  </a:lnTo>
                  <a:lnTo>
                    <a:pt x="1072896" y="1072896"/>
                  </a:lnTo>
                  <a:lnTo>
                    <a:pt x="0" y="10728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9875520" y="6035040"/>
            <a:ext cx="7040880" cy="548640"/>
            <a:chOff x="0" y="0"/>
            <a:chExt cx="9387840" cy="73152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9387840" cy="731520"/>
            </a:xfrm>
            <a:custGeom>
              <a:avLst/>
              <a:gdLst/>
              <a:ahLst/>
              <a:cxnLst/>
              <a:rect r="r" b="b" t="t" l="l"/>
              <a:pathLst>
                <a:path h="731520" w="9387840">
                  <a:moveTo>
                    <a:pt x="0" y="0"/>
                  </a:moveTo>
                  <a:lnTo>
                    <a:pt x="9387840" y="0"/>
                  </a:lnTo>
                  <a:lnTo>
                    <a:pt x="938784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00057" r="0" b="-200057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57150"/>
              <a:ext cx="9387840" cy="7886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120"/>
                </a:lnSpc>
              </a:pPr>
              <a:r>
                <a:rPr lang="en-US" sz="2600" b="true">
                  <a:solidFill>
                    <a:srgbClr val="7E8F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Inserir imagem de contexto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9875520" y="6565392"/>
            <a:ext cx="7040880" cy="438912"/>
            <a:chOff x="0" y="0"/>
            <a:chExt cx="9387840" cy="585216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9387840" cy="585216"/>
            </a:xfrm>
            <a:custGeom>
              <a:avLst/>
              <a:gdLst/>
              <a:ahLst/>
              <a:cxnLst/>
              <a:rect r="r" b="b" t="t" l="l"/>
              <a:pathLst>
                <a:path h="585216" w="9387840">
                  <a:moveTo>
                    <a:pt x="0" y="0"/>
                  </a:moveTo>
                  <a:lnTo>
                    <a:pt x="9387840" y="0"/>
                  </a:lnTo>
                  <a:lnTo>
                    <a:pt x="9387840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62572" r="0" b="-262572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38100"/>
              <a:ext cx="9387840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400"/>
                </a:lnSpc>
              </a:pPr>
              <a:r>
                <a:rPr lang="en-US" sz="2000" i="true">
                  <a:solidFill>
                    <a:srgbClr val="7E8FA6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Substitua por diagrama, fluxo, tabela ou captura de tela</a:t>
              </a: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005840" y="9692640"/>
            <a:ext cx="10058400" cy="457200"/>
            <a:chOff x="0" y="0"/>
            <a:chExt cx="13411200" cy="6096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3411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3411200">
                  <a:moveTo>
                    <a:pt x="0" y="0"/>
                  </a:moveTo>
                  <a:lnTo>
                    <a:pt x="13411200" y="0"/>
                  </a:lnTo>
                  <a:lnTo>
                    <a:pt x="13411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78670" r="0" b="-378670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13411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7E8F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Seminário de IoT — Segurança em IoT · Grupo 6</a:t>
              </a: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6367760" y="9692640"/>
            <a:ext cx="914400" cy="457200"/>
            <a:chOff x="0" y="0"/>
            <a:chExt cx="1219200" cy="6096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219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1219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7E8F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05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05840" y="914400"/>
            <a:ext cx="621792" cy="559613"/>
            <a:chOff x="0" y="0"/>
            <a:chExt cx="829056" cy="74615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29056" cy="746125"/>
            </a:xfrm>
            <a:custGeom>
              <a:avLst/>
              <a:gdLst/>
              <a:ahLst/>
              <a:cxnLst/>
              <a:rect r="r" b="b" t="t" l="l"/>
              <a:pathLst>
                <a:path h="746125" w="829056">
                  <a:moveTo>
                    <a:pt x="0" y="373126"/>
                  </a:moveTo>
                  <a:lnTo>
                    <a:pt x="186563" y="0"/>
                  </a:lnTo>
                  <a:lnTo>
                    <a:pt x="642493" y="0"/>
                  </a:lnTo>
                  <a:lnTo>
                    <a:pt x="829056" y="373126"/>
                  </a:lnTo>
                  <a:lnTo>
                    <a:pt x="642493" y="746125"/>
                  </a:lnTo>
                  <a:lnTo>
                    <a:pt x="186563" y="746125"/>
                  </a:lnTo>
                  <a:close/>
                </a:path>
              </a:pathLst>
            </a:custGeom>
            <a:solidFill>
              <a:srgbClr val="38BDF8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865376" y="859536"/>
            <a:ext cx="13898880" cy="475488"/>
            <a:chOff x="0" y="0"/>
            <a:chExt cx="18531840" cy="63398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8531839" cy="633984"/>
            </a:xfrm>
            <a:custGeom>
              <a:avLst/>
              <a:gdLst/>
              <a:ahLst/>
              <a:cxnLst/>
              <a:rect r="r" b="b" t="t" l="l"/>
              <a:pathLst>
                <a:path h="633984" w="18531839">
                  <a:moveTo>
                    <a:pt x="0" y="0"/>
                  </a:moveTo>
                  <a:lnTo>
                    <a:pt x="18531839" y="0"/>
                  </a:lnTo>
                  <a:lnTo>
                    <a:pt x="18531839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19562" r="0" b="-519562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18531840" cy="68160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b="true" sz="2200" spc="399">
                  <a:solidFill>
                    <a:srgbClr val="4A6FA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INTRODUÇÃO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005840" y="1426464"/>
            <a:ext cx="15727680" cy="1097280"/>
            <a:chOff x="0" y="0"/>
            <a:chExt cx="20970240" cy="146304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0970239" cy="1463040"/>
            </a:xfrm>
            <a:custGeom>
              <a:avLst/>
              <a:gdLst/>
              <a:ahLst/>
              <a:cxnLst/>
              <a:rect r="r" b="b" t="t" l="l"/>
              <a:pathLst>
                <a:path h="1463040" w="20970239">
                  <a:moveTo>
                    <a:pt x="0" y="0"/>
                  </a:moveTo>
                  <a:lnTo>
                    <a:pt x="20970239" y="0"/>
                  </a:lnTo>
                  <a:lnTo>
                    <a:pt x="20970239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29285" r="0" b="-229285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42875"/>
              <a:ext cx="20970240" cy="16059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920"/>
                </a:lnSpc>
              </a:pPr>
              <a:r>
                <a:rPr lang="en-US" sz="66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 Problema em Números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005840" y="2743200"/>
            <a:ext cx="16276320" cy="1097280"/>
            <a:chOff x="0" y="0"/>
            <a:chExt cx="21701760" cy="146304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1701761" cy="1463040"/>
            </a:xfrm>
            <a:custGeom>
              <a:avLst/>
              <a:gdLst/>
              <a:ahLst/>
              <a:cxnLst/>
              <a:rect r="r" b="b" t="t" l="l"/>
              <a:pathLst>
                <a:path h="1463040" w="21701761">
                  <a:moveTo>
                    <a:pt x="0" y="0"/>
                  </a:moveTo>
                  <a:lnTo>
                    <a:pt x="21701761" y="0"/>
                  </a:lnTo>
                  <a:lnTo>
                    <a:pt x="21701761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39028" r="0" b="-239028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76200"/>
              <a:ext cx="21701760" cy="15392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800"/>
                </a:lnSpc>
              </a:pPr>
              <a:r>
                <a:rPr lang="en-US" sz="4000">
                  <a:solidFill>
                    <a:srgbClr val="3A4C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Lorem ipsum dolor sit amet, consectetur adipiscing elit. Sed do eiusmod tempor incididunt ut labore et dolore magna aliqua.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993143" y="4284983"/>
            <a:ext cx="5328923" cy="3957323"/>
            <a:chOff x="0" y="0"/>
            <a:chExt cx="7105231" cy="5276431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7105269" cy="5276469"/>
            </a:xfrm>
            <a:custGeom>
              <a:avLst/>
              <a:gdLst/>
              <a:ahLst/>
              <a:cxnLst/>
              <a:rect r="r" b="b" t="t" l="l"/>
              <a:pathLst>
                <a:path h="5276469" w="7105269">
                  <a:moveTo>
                    <a:pt x="0" y="196342"/>
                  </a:moveTo>
                  <a:cubicBezTo>
                    <a:pt x="0" y="87884"/>
                    <a:pt x="87884" y="0"/>
                    <a:pt x="196342" y="0"/>
                  </a:cubicBezTo>
                  <a:lnTo>
                    <a:pt x="6908927" y="0"/>
                  </a:lnTo>
                  <a:cubicBezTo>
                    <a:pt x="7017385" y="0"/>
                    <a:pt x="7105269" y="87884"/>
                    <a:pt x="7105269" y="196342"/>
                  </a:cubicBezTo>
                  <a:lnTo>
                    <a:pt x="7105269" y="5080127"/>
                  </a:lnTo>
                  <a:cubicBezTo>
                    <a:pt x="7105269" y="5188585"/>
                    <a:pt x="7017385" y="5276469"/>
                    <a:pt x="6908927" y="5276469"/>
                  </a:cubicBezTo>
                  <a:lnTo>
                    <a:pt x="196342" y="5276469"/>
                  </a:lnTo>
                  <a:cubicBezTo>
                    <a:pt x="87884" y="5276469"/>
                    <a:pt x="0" y="5188585"/>
                    <a:pt x="0" y="5080127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3DEEA"/>
              </a:solidFill>
              <a:prstDash val="solid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1463040" y="4754880"/>
            <a:ext cx="4389120" cy="1737360"/>
            <a:chOff x="0" y="0"/>
            <a:chExt cx="5852160" cy="231648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5852160" cy="2316480"/>
            </a:xfrm>
            <a:custGeom>
              <a:avLst/>
              <a:gdLst/>
              <a:ahLst/>
              <a:cxnLst/>
              <a:rect r="r" b="b" t="t" l="l"/>
              <a:pathLst>
                <a:path h="2316480" w="5852160">
                  <a:moveTo>
                    <a:pt x="0" y="0"/>
                  </a:moveTo>
                  <a:lnTo>
                    <a:pt x="5852160" y="0"/>
                  </a:lnTo>
                  <a:lnTo>
                    <a:pt x="5852160" y="2316480"/>
                  </a:lnTo>
                  <a:lnTo>
                    <a:pt x="0" y="23164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6" t="0" r="-786" b="0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247650"/>
              <a:ext cx="5852160" cy="25641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400"/>
                </a:lnSpc>
              </a:pPr>
              <a:r>
                <a:rPr lang="en-US" sz="12000" b="true">
                  <a:solidFill>
                    <a:srgbClr val="38BDF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00%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463040" y="6492240"/>
            <a:ext cx="4389120" cy="585216"/>
            <a:chOff x="0" y="0"/>
            <a:chExt cx="5852160" cy="780288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5852160" cy="780288"/>
            </a:xfrm>
            <a:custGeom>
              <a:avLst/>
              <a:gdLst/>
              <a:ahLst/>
              <a:cxnLst/>
              <a:rect r="r" b="b" t="t" l="l"/>
              <a:pathLst>
                <a:path h="780288" w="5852160">
                  <a:moveTo>
                    <a:pt x="0" y="0"/>
                  </a:moveTo>
                  <a:lnTo>
                    <a:pt x="5852160" y="0"/>
                  </a:lnTo>
                  <a:lnTo>
                    <a:pt x="5852160" y="780288"/>
                  </a:lnTo>
                  <a:lnTo>
                    <a:pt x="0" y="78028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96137" r="0" b="-96137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66675"/>
              <a:ext cx="5852160" cy="846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600"/>
                </a:lnSpc>
              </a:pPr>
              <a:r>
                <a:rPr lang="en-US" sz="30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Lorem ipsum dolor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1463040" y="7077456"/>
            <a:ext cx="4389120" cy="1005840"/>
            <a:chOff x="0" y="0"/>
            <a:chExt cx="5852160" cy="134112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5852160" cy="1341120"/>
            </a:xfrm>
            <a:custGeom>
              <a:avLst/>
              <a:gdLst/>
              <a:ahLst/>
              <a:cxnLst/>
              <a:rect r="r" b="b" t="t" l="l"/>
              <a:pathLst>
                <a:path h="1341120" w="5852160">
                  <a:moveTo>
                    <a:pt x="0" y="0"/>
                  </a:moveTo>
                  <a:lnTo>
                    <a:pt x="5852160" y="0"/>
                  </a:lnTo>
                  <a:lnTo>
                    <a:pt x="5852160" y="1341120"/>
                  </a:lnTo>
                  <a:lnTo>
                    <a:pt x="0" y="13411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5025" r="0" b="-35025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47625"/>
              <a:ext cx="5852160" cy="13887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7E8F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Lorem ipsum dolor sit amet, consectetur — fonte: lorem ipsum.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6662423" y="4284983"/>
            <a:ext cx="5328923" cy="3957323"/>
            <a:chOff x="0" y="0"/>
            <a:chExt cx="7105231" cy="5276431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7105269" cy="5276469"/>
            </a:xfrm>
            <a:custGeom>
              <a:avLst/>
              <a:gdLst/>
              <a:ahLst/>
              <a:cxnLst/>
              <a:rect r="r" b="b" t="t" l="l"/>
              <a:pathLst>
                <a:path h="5276469" w="7105269">
                  <a:moveTo>
                    <a:pt x="0" y="196342"/>
                  </a:moveTo>
                  <a:cubicBezTo>
                    <a:pt x="0" y="87884"/>
                    <a:pt x="87884" y="0"/>
                    <a:pt x="196342" y="0"/>
                  </a:cubicBezTo>
                  <a:lnTo>
                    <a:pt x="6908927" y="0"/>
                  </a:lnTo>
                  <a:cubicBezTo>
                    <a:pt x="7017385" y="0"/>
                    <a:pt x="7105269" y="87884"/>
                    <a:pt x="7105269" y="196342"/>
                  </a:cubicBezTo>
                  <a:lnTo>
                    <a:pt x="7105269" y="5080127"/>
                  </a:lnTo>
                  <a:cubicBezTo>
                    <a:pt x="7105269" y="5188585"/>
                    <a:pt x="7017385" y="5276469"/>
                    <a:pt x="6908927" y="5276469"/>
                  </a:cubicBezTo>
                  <a:lnTo>
                    <a:pt x="196342" y="5276469"/>
                  </a:lnTo>
                  <a:cubicBezTo>
                    <a:pt x="87884" y="5276469"/>
                    <a:pt x="0" y="5188585"/>
                    <a:pt x="0" y="5080127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3DEEA"/>
              </a:solidFill>
              <a:prstDash val="solid"/>
              <a:miter/>
            </a:ln>
          </p:spPr>
        </p:sp>
      </p:grpSp>
      <p:grpSp>
        <p:nvGrpSpPr>
          <p:cNvPr name="Group 26" id="26"/>
          <p:cNvGrpSpPr/>
          <p:nvPr/>
        </p:nvGrpSpPr>
        <p:grpSpPr>
          <a:xfrm rot="0">
            <a:off x="7132320" y="4754880"/>
            <a:ext cx="4389120" cy="1737360"/>
            <a:chOff x="0" y="0"/>
            <a:chExt cx="5852160" cy="231648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5852160" cy="2316480"/>
            </a:xfrm>
            <a:custGeom>
              <a:avLst/>
              <a:gdLst/>
              <a:ahLst/>
              <a:cxnLst/>
              <a:rect r="r" b="b" t="t" l="l"/>
              <a:pathLst>
                <a:path h="2316480" w="5852160">
                  <a:moveTo>
                    <a:pt x="0" y="0"/>
                  </a:moveTo>
                  <a:lnTo>
                    <a:pt x="5852160" y="0"/>
                  </a:lnTo>
                  <a:lnTo>
                    <a:pt x="5852160" y="2316480"/>
                  </a:lnTo>
                  <a:lnTo>
                    <a:pt x="0" y="23164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6" t="0" r="-786" b="0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247650"/>
              <a:ext cx="5852160" cy="25641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400"/>
                </a:lnSpc>
              </a:pPr>
              <a:r>
                <a:rPr lang="en-US" sz="12000" b="true">
                  <a:solidFill>
                    <a:srgbClr val="38BDF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00%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7132320" y="6492240"/>
            <a:ext cx="4389120" cy="585216"/>
            <a:chOff x="0" y="0"/>
            <a:chExt cx="5852160" cy="780288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5852160" cy="780288"/>
            </a:xfrm>
            <a:custGeom>
              <a:avLst/>
              <a:gdLst/>
              <a:ahLst/>
              <a:cxnLst/>
              <a:rect r="r" b="b" t="t" l="l"/>
              <a:pathLst>
                <a:path h="780288" w="5852160">
                  <a:moveTo>
                    <a:pt x="0" y="0"/>
                  </a:moveTo>
                  <a:lnTo>
                    <a:pt x="5852160" y="0"/>
                  </a:lnTo>
                  <a:lnTo>
                    <a:pt x="5852160" y="780288"/>
                  </a:lnTo>
                  <a:lnTo>
                    <a:pt x="0" y="78028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96137" r="0" b="-96137"/>
              </a:stretch>
            </a:blipFill>
          </p:spPr>
        </p:sp>
        <p:sp>
          <p:nvSpPr>
            <p:cNvPr name="TextBox 31" id="31"/>
            <p:cNvSpPr txBox="true"/>
            <p:nvPr/>
          </p:nvSpPr>
          <p:spPr>
            <a:xfrm>
              <a:off x="0" y="-66675"/>
              <a:ext cx="5852160" cy="846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600"/>
                </a:lnSpc>
              </a:pPr>
              <a:r>
                <a:rPr lang="en-US" sz="30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Consectetur elit</a:t>
              </a: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7132320" y="7077456"/>
            <a:ext cx="4389120" cy="1005840"/>
            <a:chOff x="0" y="0"/>
            <a:chExt cx="5852160" cy="134112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5852160" cy="1341120"/>
            </a:xfrm>
            <a:custGeom>
              <a:avLst/>
              <a:gdLst/>
              <a:ahLst/>
              <a:cxnLst/>
              <a:rect r="r" b="b" t="t" l="l"/>
              <a:pathLst>
                <a:path h="1341120" w="5852160">
                  <a:moveTo>
                    <a:pt x="0" y="0"/>
                  </a:moveTo>
                  <a:lnTo>
                    <a:pt x="5852160" y="0"/>
                  </a:lnTo>
                  <a:lnTo>
                    <a:pt x="5852160" y="1341120"/>
                  </a:lnTo>
                  <a:lnTo>
                    <a:pt x="0" y="13411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5025" r="0" b="-35025"/>
              </a:stretch>
            </a:blip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47625"/>
              <a:ext cx="5852160" cy="13887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7E8F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Lorem ipsum dolor sit amet, consectetur — fonte: lorem ipsum.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2331703" y="4284983"/>
            <a:ext cx="5328923" cy="3957323"/>
            <a:chOff x="0" y="0"/>
            <a:chExt cx="7105231" cy="5276431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7105269" cy="5276469"/>
            </a:xfrm>
            <a:custGeom>
              <a:avLst/>
              <a:gdLst/>
              <a:ahLst/>
              <a:cxnLst/>
              <a:rect r="r" b="b" t="t" l="l"/>
              <a:pathLst>
                <a:path h="5276469" w="7105269">
                  <a:moveTo>
                    <a:pt x="0" y="196342"/>
                  </a:moveTo>
                  <a:cubicBezTo>
                    <a:pt x="0" y="87884"/>
                    <a:pt x="87884" y="0"/>
                    <a:pt x="196342" y="0"/>
                  </a:cubicBezTo>
                  <a:lnTo>
                    <a:pt x="6908927" y="0"/>
                  </a:lnTo>
                  <a:cubicBezTo>
                    <a:pt x="7017385" y="0"/>
                    <a:pt x="7105269" y="87884"/>
                    <a:pt x="7105269" y="196342"/>
                  </a:cubicBezTo>
                  <a:lnTo>
                    <a:pt x="7105269" y="5080127"/>
                  </a:lnTo>
                  <a:cubicBezTo>
                    <a:pt x="7105269" y="5188585"/>
                    <a:pt x="7017385" y="5276469"/>
                    <a:pt x="6908927" y="5276469"/>
                  </a:cubicBezTo>
                  <a:lnTo>
                    <a:pt x="196342" y="5276469"/>
                  </a:lnTo>
                  <a:cubicBezTo>
                    <a:pt x="87884" y="5276469"/>
                    <a:pt x="0" y="5188585"/>
                    <a:pt x="0" y="5080127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3DEEA"/>
              </a:solidFill>
              <a:prstDash val="solid"/>
              <a:miter/>
            </a:ln>
          </p:spPr>
        </p:sp>
      </p:grpSp>
      <p:grpSp>
        <p:nvGrpSpPr>
          <p:cNvPr name="Group 37" id="37"/>
          <p:cNvGrpSpPr/>
          <p:nvPr/>
        </p:nvGrpSpPr>
        <p:grpSpPr>
          <a:xfrm rot="0">
            <a:off x="12801600" y="4754880"/>
            <a:ext cx="4389120" cy="1737360"/>
            <a:chOff x="0" y="0"/>
            <a:chExt cx="5852160" cy="231648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5852160" cy="2316480"/>
            </a:xfrm>
            <a:custGeom>
              <a:avLst/>
              <a:gdLst/>
              <a:ahLst/>
              <a:cxnLst/>
              <a:rect r="r" b="b" t="t" l="l"/>
              <a:pathLst>
                <a:path h="2316480" w="5852160">
                  <a:moveTo>
                    <a:pt x="0" y="0"/>
                  </a:moveTo>
                  <a:lnTo>
                    <a:pt x="5852160" y="0"/>
                  </a:lnTo>
                  <a:lnTo>
                    <a:pt x="5852160" y="2316480"/>
                  </a:lnTo>
                  <a:lnTo>
                    <a:pt x="0" y="23164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6" t="0" r="-786" b="0"/>
              </a:stretch>
            </a:blipFill>
          </p:spPr>
        </p:sp>
        <p:sp>
          <p:nvSpPr>
            <p:cNvPr name="TextBox 39" id="39"/>
            <p:cNvSpPr txBox="true"/>
            <p:nvPr/>
          </p:nvSpPr>
          <p:spPr>
            <a:xfrm>
              <a:off x="0" y="-247650"/>
              <a:ext cx="5852160" cy="25641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400"/>
                </a:lnSpc>
              </a:pPr>
              <a:r>
                <a:rPr lang="en-US" sz="12000" b="true">
                  <a:solidFill>
                    <a:srgbClr val="38BDF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00%</a:t>
              </a:r>
            </a:p>
          </p:txBody>
        </p:sp>
      </p:grpSp>
      <p:grpSp>
        <p:nvGrpSpPr>
          <p:cNvPr name="Group 40" id="40"/>
          <p:cNvGrpSpPr/>
          <p:nvPr/>
        </p:nvGrpSpPr>
        <p:grpSpPr>
          <a:xfrm rot="0">
            <a:off x="12801600" y="6492240"/>
            <a:ext cx="4389120" cy="585216"/>
            <a:chOff x="0" y="0"/>
            <a:chExt cx="5852160" cy="780288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5852160" cy="780288"/>
            </a:xfrm>
            <a:custGeom>
              <a:avLst/>
              <a:gdLst/>
              <a:ahLst/>
              <a:cxnLst/>
              <a:rect r="r" b="b" t="t" l="l"/>
              <a:pathLst>
                <a:path h="780288" w="5852160">
                  <a:moveTo>
                    <a:pt x="0" y="0"/>
                  </a:moveTo>
                  <a:lnTo>
                    <a:pt x="5852160" y="0"/>
                  </a:lnTo>
                  <a:lnTo>
                    <a:pt x="5852160" y="780288"/>
                  </a:lnTo>
                  <a:lnTo>
                    <a:pt x="0" y="78028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96137" r="0" b="-96137"/>
              </a:stretch>
            </a:blipFill>
          </p:spPr>
        </p:sp>
        <p:sp>
          <p:nvSpPr>
            <p:cNvPr name="TextBox 42" id="42"/>
            <p:cNvSpPr txBox="true"/>
            <p:nvPr/>
          </p:nvSpPr>
          <p:spPr>
            <a:xfrm>
              <a:off x="0" y="-66675"/>
              <a:ext cx="5852160" cy="846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600"/>
                </a:lnSpc>
              </a:pPr>
              <a:r>
                <a:rPr lang="en-US" sz="30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Tempor incididunt</a:t>
              </a:r>
            </a:p>
          </p:txBody>
        </p:sp>
      </p:grpSp>
      <p:grpSp>
        <p:nvGrpSpPr>
          <p:cNvPr name="Group 43" id="43"/>
          <p:cNvGrpSpPr/>
          <p:nvPr/>
        </p:nvGrpSpPr>
        <p:grpSpPr>
          <a:xfrm rot="0">
            <a:off x="12801600" y="7077456"/>
            <a:ext cx="4389120" cy="1005840"/>
            <a:chOff x="0" y="0"/>
            <a:chExt cx="5852160" cy="134112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5852160" cy="1341120"/>
            </a:xfrm>
            <a:custGeom>
              <a:avLst/>
              <a:gdLst/>
              <a:ahLst/>
              <a:cxnLst/>
              <a:rect r="r" b="b" t="t" l="l"/>
              <a:pathLst>
                <a:path h="1341120" w="5852160">
                  <a:moveTo>
                    <a:pt x="0" y="0"/>
                  </a:moveTo>
                  <a:lnTo>
                    <a:pt x="5852160" y="0"/>
                  </a:lnTo>
                  <a:lnTo>
                    <a:pt x="5852160" y="1341120"/>
                  </a:lnTo>
                  <a:lnTo>
                    <a:pt x="0" y="13411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5025" r="0" b="-35025"/>
              </a:stretch>
            </a:blipFill>
          </p:spPr>
        </p:sp>
        <p:sp>
          <p:nvSpPr>
            <p:cNvPr name="TextBox 45" id="45"/>
            <p:cNvSpPr txBox="true"/>
            <p:nvPr/>
          </p:nvSpPr>
          <p:spPr>
            <a:xfrm>
              <a:off x="0" y="-47625"/>
              <a:ext cx="5852160" cy="13887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7E8F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Lorem ipsum dolor sit amet, consectetur — fonte: lorem ipsum.</a:t>
              </a:r>
            </a:p>
          </p:txBody>
        </p:sp>
      </p:grpSp>
      <p:grpSp>
        <p:nvGrpSpPr>
          <p:cNvPr name="Group 46" id="46"/>
          <p:cNvGrpSpPr/>
          <p:nvPr/>
        </p:nvGrpSpPr>
        <p:grpSpPr>
          <a:xfrm rot="0">
            <a:off x="1005840" y="9692640"/>
            <a:ext cx="10058400" cy="457200"/>
            <a:chOff x="0" y="0"/>
            <a:chExt cx="13411200" cy="609600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13411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3411200">
                  <a:moveTo>
                    <a:pt x="0" y="0"/>
                  </a:moveTo>
                  <a:lnTo>
                    <a:pt x="13411200" y="0"/>
                  </a:lnTo>
                  <a:lnTo>
                    <a:pt x="13411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78670" r="0" b="-378670"/>
              </a:stretch>
            </a:blipFill>
          </p:spPr>
        </p:sp>
        <p:sp>
          <p:nvSpPr>
            <p:cNvPr name="TextBox 48" id="48"/>
            <p:cNvSpPr txBox="true"/>
            <p:nvPr/>
          </p:nvSpPr>
          <p:spPr>
            <a:xfrm>
              <a:off x="0" y="-38100"/>
              <a:ext cx="13411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7E8F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Seminário de IoT — Segurança em IoT · Grupo 6</a:t>
              </a:r>
            </a:p>
          </p:txBody>
        </p:sp>
      </p:grpSp>
      <p:grpSp>
        <p:nvGrpSpPr>
          <p:cNvPr name="Group 49" id="49"/>
          <p:cNvGrpSpPr/>
          <p:nvPr/>
        </p:nvGrpSpPr>
        <p:grpSpPr>
          <a:xfrm rot="0">
            <a:off x="16367760" y="9692640"/>
            <a:ext cx="914400" cy="457200"/>
            <a:chOff x="0" y="0"/>
            <a:chExt cx="1219200" cy="609600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1219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51" id="51"/>
            <p:cNvSpPr txBox="true"/>
            <p:nvPr/>
          </p:nvSpPr>
          <p:spPr>
            <a:xfrm>
              <a:off x="0" y="-38100"/>
              <a:ext cx="1219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7E8F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06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05840" y="914400"/>
            <a:ext cx="621792" cy="559613"/>
            <a:chOff x="0" y="0"/>
            <a:chExt cx="829056" cy="74615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29056" cy="746125"/>
            </a:xfrm>
            <a:custGeom>
              <a:avLst/>
              <a:gdLst/>
              <a:ahLst/>
              <a:cxnLst/>
              <a:rect r="r" b="b" t="t" l="l"/>
              <a:pathLst>
                <a:path h="746125" w="829056">
                  <a:moveTo>
                    <a:pt x="0" y="373126"/>
                  </a:moveTo>
                  <a:lnTo>
                    <a:pt x="186563" y="0"/>
                  </a:lnTo>
                  <a:lnTo>
                    <a:pt x="642493" y="0"/>
                  </a:lnTo>
                  <a:lnTo>
                    <a:pt x="829056" y="373126"/>
                  </a:lnTo>
                  <a:lnTo>
                    <a:pt x="642493" y="746125"/>
                  </a:lnTo>
                  <a:lnTo>
                    <a:pt x="186563" y="746125"/>
                  </a:lnTo>
                  <a:close/>
                </a:path>
              </a:pathLst>
            </a:custGeom>
            <a:solidFill>
              <a:srgbClr val="38BDF8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865376" y="859536"/>
            <a:ext cx="13898880" cy="475488"/>
            <a:chOff x="0" y="0"/>
            <a:chExt cx="18531840" cy="63398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8531839" cy="633984"/>
            </a:xfrm>
            <a:custGeom>
              <a:avLst/>
              <a:gdLst/>
              <a:ahLst/>
              <a:cxnLst/>
              <a:rect r="r" b="b" t="t" l="l"/>
              <a:pathLst>
                <a:path h="633984" w="18531839">
                  <a:moveTo>
                    <a:pt x="0" y="0"/>
                  </a:moveTo>
                  <a:lnTo>
                    <a:pt x="18531839" y="0"/>
                  </a:lnTo>
                  <a:lnTo>
                    <a:pt x="18531839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19562" r="0" b="-519562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18531840" cy="68160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b="true" sz="2200" spc="399">
                  <a:solidFill>
                    <a:srgbClr val="4A6FA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INTRODUÇÃO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005840" y="1426464"/>
            <a:ext cx="15727680" cy="1097280"/>
            <a:chOff x="0" y="0"/>
            <a:chExt cx="20970240" cy="146304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0970239" cy="1463040"/>
            </a:xfrm>
            <a:custGeom>
              <a:avLst/>
              <a:gdLst/>
              <a:ahLst/>
              <a:cxnLst/>
              <a:rect r="r" b="b" t="t" l="l"/>
              <a:pathLst>
                <a:path h="1463040" w="20970239">
                  <a:moveTo>
                    <a:pt x="0" y="0"/>
                  </a:moveTo>
                  <a:lnTo>
                    <a:pt x="20970239" y="0"/>
                  </a:lnTo>
                  <a:lnTo>
                    <a:pt x="20970239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29285" r="0" b="-229285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42875"/>
              <a:ext cx="20970240" cy="16059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920"/>
                </a:lnSpc>
              </a:pPr>
              <a:r>
                <a:rPr lang="en-US" sz="66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Objetivos do Seminário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993143" y="2821943"/>
            <a:ext cx="7980683" cy="3097787"/>
            <a:chOff x="0" y="0"/>
            <a:chExt cx="10640911" cy="413038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0640949" cy="4130421"/>
            </a:xfrm>
            <a:custGeom>
              <a:avLst/>
              <a:gdLst/>
              <a:ahLst/>
              <a:cxnLst/>
              <a:rect r="r" b="b" t="t" l="l"/>
              <a:pathLst>
                <a:path h="4130421" w="10640949">
                  <a:moveTo>
                    <a:pt x="0" y="196723"/>
                  </a:moveTo>
                  <a:cubicBezTo>
                    <a:pt x="0" y="88011"/>
                    <a:pt x="88011" y="0"/>
                    <a:pt x="196723" y="0"/>
                  </a:cubicBezTo>
                  <a:lnTo>
                    <a:pt x="10444226" y="0"/>
                  </a:lnTo>
                  <a:cubicBezTo>
                    <a:pt x="10552811" y="0"/>
                    <a:pt x="10640949" y="88011"/>
                    <a:pt x="10640949" y="196723"/>
                  </a:cubicBezTo>
                  <a:lnTo>
                    <a:pt x="10640949" y="3933698"/>
                  </a:lnTo>
                  <a:cubicBezTo>
                    <a:pt x="10640949" y="4042283"/>
                    <a:pt x="10552938" y="4130421"/>
                    <a:pt x="10444226" y="4130421"/>
                  </a:cubicBezTo>
                  <a:lnTo>
                    <a:pt x="196723" y="4130421"/>
                  </a:lnTo>
                  <a:cubicBezTo>
                    <a:pt x="88011" y="4130421"/>
                    <a:pt x="0" y="4042283"/>
                    <a:pt x="0" y="3933698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3DEEA"/>
              </a:solidFill>
              <a:prstDash val="solid"/>
              <a:miter/>
            </a:ln>
          </p:spPr>
        </p:sp>
      </p:grpSp>
      <p:grpSp>
        <p:nvGrpSpPr>
          <p:cNvPr name="Group 12" id="12"/>
          <p:cNvGrpSpPr/>
          <p:nvPr/>
        </p:nvGrpSpPr>
        <p:grpSpPr>
          <a:xfrm rot="0">
            <a:off x="1463040" y="3291840"/>
            <a:ext cx="1133856" cy="1133856"/>
            <a:chOff x="0" y="0"/>
            <a:chExt cx="1511808" cy="1511808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511808" cy="1511808"/>
            </a:xfrm>
            <a:custGeom>
              <a:avLst/>
              <a:gdLst/>
              <a:ahLst/>
              <a:cxnLst/>
              <a:rect r="r" b="b" t="t" l="l"/>
              <a:pathLst>
                <a:path h="1511808" w="1511808">
                  <a:moveTo>
                    <a:pt x="0" y="755904"/>
                  </a:moveTo>
                  <a:cubicBezTo>
                    <a:pt x="0" y="338455"/>
                    <a:pt x="338455" y="0"/>
                    <a:pt x="755904" y="0"/>
                  </a:cubicBezTo>
                  <a:cubicBezTo>
                    <a:pt x="1173353" y="0"/>
                    <a:pt x="1511808" y="338455"/>
                    <a:pt x="1511808" y="755904"/>
                  </a:cubicBezTo>
                  <a:cubicBezTo>
                    <a:pt x="1511808" y="1173353"/>
                    <a:pt x="1173353" y="1511808"/>
                    <a:pt x="755904" y="1511808"/>
                  </a:cubicBezTo>
                  <a:cubicBezTo>
                    <a:pt x="338455" y="1511808"/>
                    <a:pt x="0" y="1173353"/>
                    <a:pt x="0" y="755904"/>
                  </a:cubicBezTo>
                  <a:close/>
                </a:path>
              </a:pathLst>
            </a:custGeom>
            <a:solidFill>
              <a:srgbClr val="4A6FA5"/>
            </a:solid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1755648" y="3584448"/>
            <a:ext cx="548640" cy="548640"/>
            <a:chOff x="0" y="0"/>
            <a:chExt cx="731520" cy="731520"/>
          </a:xfrm>
        </p:grpSpPr>
        <p:sp>
          <p:nvSpPr>
            <p:cNvPr name="Freeform 15" id="15" descr="/home/claude/icons/FiTarget_FFFFFF.png"/>
            <p:cNvSpPr/>
            <p:nvPr/>
          </p:nvSpPr>
          <p:spPr>
            <a:xfrm flipH="false" flipV="false" rot="0">
              <a:off x="0" y="0"/>
              <a:ext cx="731520" cy="731520"/>
            </a:xfrm>
            <a:custGeom>
              <a:avLst/>
              <a:gdLst/>
              <a:ahLst/>
              <a:cxnLst/>
              <a:rect r="r" b="b" t="t" l="l"/>
              <a:pathLst>
                <a:path h="73152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731520"/>
                  </a:lnTo>
                  <a:lnTo>
                    <a:pt x="0" y="7315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2926080" y="3291840"/>
            <a:ext cx="5577840" cy="640080"/>
            <a:chOff x="0" y="0"/>
            <a:chExt cx="7437120" cy="85344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7437120" cy="853440"/>
            </a:xfrm>
            <a:custGeom>
              <a:avLst/>
              <a:gdLst/>
              <a:ahLst/>
              <a:cxnLst/>
              <a:rect r="r" b="b" t="t" l="l"/>
              <a:pathLst>
                <a:path h="853440" w="7437120">
                  <a:moveTo>
                    <a:pt x="0" y="0"/>
                  </a:moveTo>
                  <a:lnTo>
                    <a:pt x="7437120" y="0"/>
                  </a:lnTo>
                  <a:lnTo>
                    <a:pt x="743712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19798" r="0" b="-119798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76200"/>
              <a:ext cx="7437120" cy="9296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800"/>
                </a:lnSpc>
              </a:pPr>
              <a:r>
                <a:rPr lang="en-US" sz="40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Objetivo 01 — Lorem ipsum</a:t>
              </a: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2926080" y="3957447"/>
            <a:ext cx="5577840" cy="16935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7E8FA6"/>
                </a:solidFill>
                <a:latin typeface="Calibri (MS)"/>
                <a:ea typeface="Calibri (MS)"/>
                <a:cs typeface="Calibri (MS)"/>
                <a:sym typeface="Calibri (MS)"/>
              </a:rPr>
              <a:t>Lorem ipsum dolor sit amet, consectetur adipiscing elit. Sed do eiusmod tempor incididunt ut labore et dolore magna aliqua.</a:t>
            </a:r>
          </a:p>
        </p:txBody>
      </p:sp>
      <p:grpSp>
        <p:nvGrpSpPr>
          <p:cNvPr name="Group 20" id="20"/>
          <p:cNvGrpSpPr/>
          <p:nvPr/>
        </p:nvGrpSpPr>
        <p:grpSpPr>
          <a:xfrm rot="0">
            <a:off x="9314183" y="2821943"/>
            <a:ext cx="7980683" cy="3097787"/>
            <a:chOff x="0" y="0"/>
            <a:chExt cx="10640911" cy="4130383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0640949" cy="4130421"/>
            </a:xfrm>
            <a:custGeom>
              <a:avLst/>
              <a:gdLst/>
              <a:ahLst/>
              <a:cxnLst/>
              <a:rect r="r" b="b" t="t" l="l"/>
              <a:pathLst>
                <a:path h="4130421" w="10640949">
                  <a:moveTo>
                    <a:pt x="0" y="196723"/>
                  </a:moveTo>
                  <a:cubicBezTo>
                    <a:pt x="0" y="88011"/>
                    <a:pt x="88011" y="0"/>
                    <a:pt x="196723" y="0"/>
                  </a:cubicBezTo>
                  <a:lnTo>
                    <a:pt x="10444226" y="0"/>
                  </a:lnTo>
                  <a:cubicBezTo>
                    <a:pt x="10552811" y="0"/>
                    <a:pt x="10640949" y="88011"/>
                    <a:pt x="10640949" y="196723"/>
                  </a:cubicBezTo>
                  <a:lnTo>
                    <a:pt x="10640949" y="3933698"/>
                  </a:lnTo>
                  <a:cubicBezTo>
                    <a:pt x="10640949" y="4042283"/>
                    <a:pt x="10552938" y="4130421"/>
                    <a:pt x="10444226" y="4130421"/>
                  </a:cubicBezTo>
                  <a:lnTo>
                    <a:pt x="196723" y="4130421"/>
                  </a:lnTo>
                  <a:cubicBezTo>
                    <a:pt x="88011" y="4130421"/>
                    <a:pt x="0" y="4042283"/>
                    <a:pt x="0" y="3933698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3DEEA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9784080" y="3291840"/>
            <a:ext cx="1133856" cy="1133856"/>
            <a:chOff x="0" y="0"/>
            <a:chExt cx="1511808" cy="1511808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511808" cy="1511808"/>
            </a:xfrm>
            <a:custGeom>
              <a:avLst/>
              <a:gdLst/>
              <a:ahLst/>
              <a:cxnLst/>
              <a:rect r="r" b="b" t="t" l="l"/>
              <a:pathLst>
                <a:path h="1511808" w="1511808">
                  <a:moveTo>
                    <a:pt x="0" y="755904"/>
                  </a:moveTo>
                  <a:cubicBezTo>
                    <a:pt x="0" y="338455"/>
                    <a:pt x="338455" y="0"/>
                    <a:pt x="755904" y="0"/>
                  </a:cubicBezTo>
                  <a:cubicBezTo>
                    <a:pt x="1173353" y="0"/>
                    <a:pt x="1511808" y="338455"/>
                    <a:pt x="1511808" y="755904"/>
                  </a:cubicBezTo>
                  <a:cubicBezTo>
                    <a:pt x="1511808" y="1173353"/>
                    <a:pt x="1173353" y="1511808"/>
                    <a:pt x="755904" y="1511808"/>
                  </a:cubicBezTo>
                  <a:cubicBezTo>
                    <a:pt x="338455" y="1511808"/>
                    <a:pt x="0" y="1173353"/>
                    <a:pt x="0" y="755904"/>
                  </a:cubicBezTo>
                  <a:close/>
                </a:path>
              </a:pathLst>
            </a:custGeom>
            <a:solidFill>
              <a:srgbClr val="4A6FA5"/>
            </a:solid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10076688" y="3584448"/>
            <a:ext cx="548640" cy="548640"/>
            <a:chOff x="0" y="0"/>
            <a:chExt cx="731520" cy="731520"/>
          </a:xfrm>
        </p:grpSpPr>
        <p:sp>
          <p:nvSpPr>
            <p:cNvPr name="Freeform 25" id="25" descr="/home/claude/icons/FiSearch_FFFFFF.png"/>
            <p:cNvSpPr/>
            <p:nvPr/>
          </p:nvSpPr>
          <p:spPr>
            <a:xfrm flipH="false" flipV="false" rot="0">
              <a:off x="0" y="0"/>
              <a:ext cx="731520" cy="731520"/>
            </a:xfrm>
            <a:custGeom>
              <a:avLst/>
              <a:gdLst/>
              <a:ahLst/>
              <a:cxnLst/>
              <a:rect r="r" b="b" t="t" l="l"/>
              <a:pathLst>
                <a:path h="73152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731520"/>
                  </a:lnTo>
                  <a:lnTo>
                    <a:pt x="0" y="7315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11247120" y="3291840"/>
            <a:ext cx="5577840" cy="640080"/>
            <a:chOff x="0" y="0"/>
            <a:chExt cx="7437120" cy="85344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7437120" cy="853440"/>
            </a:xfrm>
            <a:custGeom>
              <a:avLst/>
              <a:gdLst/>
              <a:ahLst/>
              <a:cxnLst/>
              <a:rect r="r" b="b" t="t" l="l"/>
              <a:pathLst>
                <a:path h="853440" w="7437120">
                  <a:moveTo>
                    <a:pt x="0" y="0"/>
                  </a:moveTo>
                  <a:lnTo>
                    <a:pt x="7437120" y="0"/>
                  </a:lnTo>
                  <a:lnTo>
                    <a:pt x="743712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19798" r="0" b="-119798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76200"/>
              <a:ext cx="7437120" cy="9296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800"/>
                </a:lnSpc>
              </a:pPr>
              <a:r>
                <a:rPr lang="en-US" sz="40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Objetivo 02 — Lorem ipsum</a:t>
              </a:r>
            </a:p>
          </p:txBody>
        </p:sp>
      </p:grpSp>
      <p:sp>
        <p:nvSpPr>
          <p:cNvPr name="TextBox 29" id="29"/>
          <p:cNvSpPr txBox="true"/>
          <p:nvPr/>
        </p:nvSpPr>
        <p:spPr>
          <a:xfrm rot="0">
            <a:off x="11247120" y="3957447"/>
            <a:ext cx="5577840" cy="16935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7E8FA6"/>
                </a:solidFill>
                <a:latin typeface="Calibri (MS)"/>
                <a:ea typeface="Calibri (MS)"/>
                <a:cs typeface="Calibri (MS)"/>
                <a:sym typeface="Calibri (MS)"/>
              </a:rPr>
              <a:t>Lorem ipsum dolor sit amet, consectetur adipiscing elit. Sed do eiusmod tempor incididunt ut labore et dolore magna aliqua.</a:t>
            </a:r>
          </a:p>
        </p:txBody>
      </p:sp>
      <p:grpSp>
        <p:nvGrpSpPr>
          <p:cNvPr name="Group 30" id="30"/>
          <p:cNvGrpSpPr/>
          <p:nvPr/>
        </p:nvGrpSpPr>
        <p:grpSpPr>
          <a:xfrm rot="0">
            <a:off x="993143" y="6260087"/>
            <a:ext cx="7980683" cy="3097787"/>
            <a:chOff x="0" y="0"/>
            <a:chExt cx="10640911" cy="4130383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0640949" cy="4130421"/>
            </a:xfrm>
            <a:custGeom>
              <a:avLst/>
              <a:gdLst/>
              <a:ahLst/>
              <a:cxnLst/>
              <a:rect r="r" b="b" t="t" l="l"/>
              <a:pathLst>
                <a:path h="4130421" w="10640949">
                  <a:moveTo>
                    <a:pt x="0" y="196723"/>
                  </a:moveTo>
                  <a:cubicBezTo>
                    <a:pt x="0" y="88011"/>
                    <a:pt x="88011" y="0"/>
                    <a:pt x="196723" y="0"/>
                  </a:cubicBezTo>
                  <a:lnTo>
                    <a:pt x="10444226" y="0"/>
                  </a:lnTo>
                  <a:cubicBezTo>
                    <a:pt x="10552811" y="0"/>
                    <a:pt x="10640949" y="88011"/>
                    <a:pt x="10640949" y="196723"/>
                  </a:cubicBezTo>
                  <a:lnTo>
                    <a:pt x="10640949" y="3933698"/>
                  </a:lnTo>
                  <a:cubicBezTo>
                    <a:pt x="10640949" y="4042283"/>
                    <a:pt x="10552938" y="4130421"/>
                    <a:pt x="10444226" y="4130421"/>
                  </a:cubicBezTo>
                  <a:lnTo>
                    <a:pt x="196723" y="4130421"/>
                  </a:lnTo>
                  <a:cubicBezTo>
                    <a:pt x="88011" y="4130421"/>
                    <a:pt x="0" y="4042283"/>
                    <a:pt x="0" y="3933698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3DEEA"/>
              </a:solidFill>
              <a:prstDash val="solid"/>
              <a:miter/>
            </a:ln>
          </p:spPr>
        </p:sp>
      </p:grpSp>
      <p:grpSp>
        <p:nvGrpSpPr>
          <p:cNvPr name="Group 32" id="32"/>
          <p:cNvGrpSpPr/>
          <p:nvPr/>
        </p:nvGrpSpPr>
        <p:grpSpPr>
          <a:xfrm rot="0">
            <a:off x="1463040" y="6729984"/>
            <a:ext cx="1133856" cy="1133856"/>
            <a:chOff x="0" y="0"/>
            <a:chExt cx="1511808" cy="1511808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511808" cy="1511808"/>
            </a:xfrm>
            <a:custGeom>
              <a:avLst/>
              <a:gdLst/>
              <a:ahLst/>
              <a:cxnLst/>
              <a:rect r="r" b="b" t="t" l="l"/>
              <a:pathLst>
                <a:path h="1511808" w="1511808">
                  <a:moveTo>
                    <a:pt x="0" y="755904"/>
                  </a:moveTo>
                  <a:cubicBezTo>
                    <a:pt x="0" y="338455"/>
                    <a:pt x="338455" y="0"/>
                    <a:pt x="755904" y="0"/>
                  </a:cubicBezTo>
                  <a:cubicBezTo>
                    <a:pt x="1173353" y="0"/>
                    <a:pt x="1511808" y="338455"/>
                    <a:pt x="1511808" y="755904"/>
                  </a:cubicBezTo>
                  <a:cubicBezTo>
                    <a:pt x="1511808" y="1173353"/>
                    <a:pt x="1173353" y="1511808"/>
                    <a:pt x="755904" y="1511808"/>
                  </a:cubicBezTo>
                  <a:cubicBezTo>
                    <a:pt x="338455" y="1511808"/>
                    <a:pt x="0" y="1173353"/>
                    <a:pt x="0" y="755904"/>
                  </a:cubicBezTo>
                  <a:close/>
                </a:path>
              </a:pathLst>
            </a:custGeom>
            <a:solidFill>
              <a:srgbClr val="4A6FA5"/>
            </a:solidFill>
          </p:spPr>
        </p:sp>
      </p:grpSp>
      <p:grpSp>
        <p:nvGrpSpPr>
          <p:cNvPr name="Group 34" id="34"/>
          <p:cNvGrpSpPr/>
          <p:nvPr/>
        </p:nvGrpSpPr>
        <p:grpSpPr>
          <a:xfrm rot="0">
            <a:off x="1755648" y="7022592"/>
            <a:ext cx="548640" cy="548640"/>
            <a:chOff x="0" y="0"/>
            <a:chExt cx="731520" cy="731520"/>
          </a:xfrm>
        </p:grpSpPr>
        <p:sp>
          <p:nvSpPr>
            <p:cNvPr name="Freeform 35" id="35" descr="/home/claude/icons/FiShield_FFFFFF.png"/>
            <p:cNvSpPr/>
            <p:nvPr/>
          </p:nvSpPr>
          <p:spPr>
            <a:xfrm flipH="false" flipV="false" rot="0">
              <a:off x="0" y="0"/>
              <a:ext cx="731520" cy="731520"/>
            </a:xfrm>
            <a:custGeom>
              <a:avLst/>
              <a:gdLst/>
              <a:ahLst/>
              <a:cxnLst/>
              <a:rect r="r" b="b" t="t" l="l"/>
              <a:pathLst>
                <a:path h="73152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731520"/>
                  </a:lnTo>
                  <a:lnTo>
                    <a:pt x="0" y="7315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36" id="36"/>
          <p:cNvGrpSpPr/>
          <p:nvPr/>
        </p:nvGrpSpPr>
        <p:grpSpPr>
          <a:xfrm rot="0">
            <a:off x="2926080" y="6729984"/>
            <a:ext cx="5577840" cy="640080"/>
            <a:chOff x="0" y="0"/>
            <a:chExt cx="7437120" cy="85344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7437120" cy="853440"/>
            </a:xfrm>
            <a:custGeom>
              <a:avLst/>
              <a:gdLst/>
              <a:ahLst/>
              <a:cxnLst/>
              <a:rect r="r" b="b" t="t" l="l"/>
              <a:pathLst>
                <a:path h="853440" w="7437120">
                  <a:moveTo>
                    <a:pt x="0" y="0"/>
                  </a:moveTo>
                  <a:lnTo>
                    <a:pt x="7437120" y="0"/>
                  </a:lnTo>
                  <a:lnTo>
                    <a:pt x="743712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19798" r="0" b="-119798"/>
              </a:stretch>
            </a:blip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76200"/>
              <a:ext cx="7437120" cy="9296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800"/>
                </a:lnSpc>
              </a:pPr>
              <a:r>
                <a:rPr lang="en-US" sz="40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Objetivo 03 — Lorem ipsum</a:t>
              </a:r>
            </a:p>
          </p:txBody>
        </p:sp>
      </p:grpSp>
      <p:sp>
        <p:nvSpPr>
          <p:cNvPr name="TextBox 39" id="39"/>
          <p:cNvSpPr txBox="true"/>
          <p:nvPr/>
        </p:nvSpPr>
        <p:spPr>
          <a:xfrm rot="0">
            <a:off x="2926080" y="7395591"/>
            <a:ext cx="5577840" cy="16935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7E8FA6"/>
                </a:solidFill>
                <a:latin typeface="Calibri (MS)"/>
                <a:ea typeface="Calibri (MS)"/>
                <a:cs typeface="Calibri (MS)"/>
                <a:sym typeface="Calibri (MS)"/>
              </a:rPr>
              <a:t>Lorem ipsum dolor sit amet, consectetur adipiscing elit. Sed do eiusmod tempor incididunt ut labore et dolore magna aliqua.</a:t>
            </a:r>
          </a:p>
        </p:txBody>
      </p:sp>
      <p:grpSp>
        <p:nvGrpSpPr>
          <p:cNvPr name="Group 40" id="40"/>
          <p:cNvGrpSpPr/>
          <p:nvPr/>
        </p:nvGrpSpPr>
        <p:grpSpPr>
          <a:xfrm rot="0">
            <a:off x="9314183" y="6260087"/>
            <a:ext cx="7980683" cy="3097787"/>
            <a:chOff x="0" y="0"/>
            <a:chExt cx="10640911" cy="4130383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10640949" cy="4130421"/>
            </a:xfrm>
            <a:custGeom>
              <a:avLst/>
              <a:gdLst/>
              <a:ahLst/>
              <a:cxnLst/>
              <a:rect r="r" b="b" t="t" l="l"/>
              <a:pathLst>
                <a:path h="4130421" w="10640949">
                  <a:moveTo>
                    <a:pt x="0" y="196723"/>
                  </a:moveTo>
                  <a:cubicBezTo>
                    <a:pt x="0" y="88011"/>
                    <a:pt x="88011" y="0"/>
                    <a:pt x="196723" y="0"/>
                  </a:cubicBezTo>
                  <a:lnTo>
                    <a:pt x="10444226" y="0"/>
                  </a:lnTo>
                  <a:cubicBezTo>
                    <a:pt x="10552811" y="0"/>
                    <a:pt x="10640949" y="88011"/>
                    <a:pt x="10640949" y="196723"/>
                  </a:cubicBezTo>
                  <a:lnTo>
                    <a:pt x="10640949" y="3933698"/>
                  </a:lnTo>
                  <a:cubicBezTo>
                    <a:pt x="10640949" y="4042283"/>
                    <a:pt x="10552938" y="4130421"/>
                    <a:pt x="10444226" y="4130421"/>
                  </a:cubicBezTo>
                  <a:lnTo>
                    <a:pt x="196723" y="4130421"/>
                  </a:lnTo>
                  <a:cubicBezTo>
                    <a:pt x="88011" y="4130421"/>
                    <a:pt x="0" y="4042283"/>
                    <a:pt x="0" y="3933698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3DEEA"/>
              </a:solidFill>
              <a:prstDash val="solid"/>
              <a:miter/>
            </a:ln>
          </p:spPr>
        </p:sp>
      </p:grpSp>
      <p:grpSp>
        <p:nvGrpSpPr>
          <p:cNvPr name="Group 42" id="42"/>
          <p:cNvGrpSpPr/>
          <p:nvPr/>
        </p:nvGrpSpPr>
        <p:grpSpPr>
          <a:xfrm rot="0">
            <a:off x="9784080" y="6729984"/>
            <a:ext cx="1133856" cy="1133856"/>
            <a:chOff x="0" y="0"/>
            <a:chExt cx="1511808" cy="1511808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1511808" cy="1511808"/>
            </a:xfrm>
            <a:custGeom>
              <a:avLst/>
              <a:gdLst/>
              <a:ahLst/>
              <a:cxnLst/>
              <a:rect r="r" b="b" t="t" l="l"/>
              <a:pathLst>
                <a:path h="1511808" w="1511808">
                  <a:moveTo>
                    <a:pt x="0" y="755904"/>
                  </a:moveTo>
                  <a:cubicBezTo>
                    <a:pt x="0" y="338455"/>
                    <a:pt x="338455" y="0"/>
                    <a:pt x="755904" y="0"/>
                  </a:cubicBezTo>
                  <a:cubicBezTo>
                    <a:pt x="1173353" y="0"/>
                    <a:pt x="1511808" y="338455"/>
                    <a:pt x="1511808" y="755904"/>
                  </a:cubicBezTo>
                  <a:cubicBezTo>
                    <a:pt x="1511808" y="1173353"/>
                    <a:pt x="1173353" y="1511808"/>
                    <a:pt x="755904" y="1511808"/>
                  </a:cubicBezTo>
                  <a:cubicBezTo>
                    <a:pt x="338455" y="1511808"/>
                    <a:pt x="0" y="1173353"/>
                    <a:pt x="0" y="755904"/>
                  </a:cubicBezTo>
                  <a:close/>
                </a:path>
              </a:pathLst>
            </a:custGeom>
            <a:solidFill>
              <a:srgbClr val="4A6FA5"/>
            </a:solidFill>
          </p:spPr>
        </p:sp>
      </p:grpSp>
      <p:grpSp>
        <p:nvGrpSpPr>
          <p:cNvPr name="Group 44" id="44"/>
          <p:cNvGrpSpPr/>
          <p:nvPr/>
        </p:nvGrpSpPr>
        <p:grpSpPr>
          <a:xfrm rot="0">
            <a:off x="10076688" y="7022592"/>
            <a:ext cx="548640" cy="548640"/>
            <a:chOff x="0" y="0"/>
            <a:chExt cx="731520" cy="731520"/>
          </a:xfrm>
        </p:grpSpPr>
        <p:sp>
          <p:nvSpPr>
            <p:cNvPr name="Freeform 45" id="45" descr="/home/claude/icons/FiCheckCircle_FFFFFF.png"/>
            <p:cNvSpPr/>
            <p:nvPr/>
          </p:nvSpPr>
          <p:spPr>
            <a:xfrm flipH="false" flipV="false" rot="0">
              <a:off x="0" y="0"/>
              <a:ext cx="731520" cy="731520"/>
            </a:xfrm>
            <a:custGeom>
              <a:avLst/>
              <a:gdLst/>
              <a:ahLst/>
              <a:cxnLst/>
              <a:rect r="r" b="b" t="t" l="l"/>
              <a:pathLst>
                <a:path h="73152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731520"/>
                  </a:lnTo>
                  <a:lnTo>
                    <a:pt x="0" y="7315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46" id="46"/>
          <p:cNvGrpSpPr/>
          <p:nvPr/>
        </p:nvGrpSpPr>
        <p:grpSpPr>
          <a:xfrm rot="0">
            <a:off x="11247120" y="6729984"/>
            <a:ext cx="5577840" cy="640080"/>
            <a:chOff x="0" y="0"/>
            <a:chExt cx="7437120" cy="853440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7437120" cy="853440"/>
            </a:xfrm>
            <a:custGeom>
              <a:avLst/>
              <a:gdLst/>
              <a:ahLst/>
              <a:cxnLst/>
              <a:rect r="r" b="b" t="t" l="l"/>
              <a:pathLst>
                <a:path h="853440" w="7437120">
                  <a:moveTo>
                    <a:pt x="0" y="0"/>
                  </a:moveTo>
                  <a:lnTo>
                    <a:pt x="7437120" y="0"/>
                  </a:lnTo>
                  <a:lnTo>
                    <a:pt x="743712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19798" r="0" b="-119798"/>
              </a:stretch>
            </a:blipFill>
          </p:spPr>
        </p:sp>
        <p:sp>
          <p:nvSpPr>
            <p:cNvPr name="TextBox 48" id="48"/>
            <p:cNvSpPr txBox="true"/>
            <p:nvPr/>
          </p:nvSpPr>
          <p:spPr>
            <a:xfrm>
              <a:off x="0" y="-76200"/>
              <a:ext cx="7437120" cy="9296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800"/>
                </a:lnSpc>
              </a:pPr>
              <a:r>
                <a:rPr lang="en-US" sz="40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Objetivo 04 — Lorem ipsum</a:t>
              </a:r>
            </a:p>
          </p:txBody>
        </p:sp>
      </p:grpSp>
      <p:sp>
        <p:nvSpPr>
          <p:cNvPr name="TextBox 49" id="49"/>
          <p:cNvSpPr txBox="true"/>
          <p:nvPr/>
        </p:nvSpPr>
        <p:spPr>
          <a:xfrm rot="0">
            <a:off x="11247120" y="7395591"/>
            <a:ext cx="5577840" cy="16935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7E8FA6"/>
                </a:solidFill>
                <a:latin typeface="Calibri (MS)"/>
                <a:ea typeface="Calibri (MS)"/>
                <a:cs typeface="Calibri (MS)"/>
                <a:sym typeface="Calibri (MS)"/>
              </a:rPr>
              <a:t>Lorem ipsum dolor sit amet, consectetur adipiscing elit. Sed do eiusmod tempor incididunt ut labore et dolore magna aliqua.</a:t>
            </a:r>
          </a:p>
        </p:txBody>
      </p:sp>
      <p:grpSp>
        <p:nvGrpSpPr>
          <p:cNvPr name="Group 50" id="50"/>
          <p:cNvGrpSpPr/>
          <p:nvPr/>
        </p:nvGrpSpPr>
        <p:grpSpPr>
          <a:xfrm rot="0">
            <a:off x="1005840" y="9692640"/>
            <a:ext cx="10058400" cy="457200"/>
            <a:chOff x="0" y="0"/>
            <a:chExt cx="13411200" cy="60960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13411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3411200">
                  <a:moveTo>
                    <a:pt x="0" y="0"/>
                  </a:moveTo>
                  <a:lnTo>
                    <a:pt x="13411200" y="0"/>
                  </a:lnTo>
                  <a:lnTo>
                    <a:pt x="13411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78670" r="0" b="-378670"/>
              </a:stretch>
            </a:blipFill>
          </p:spPr>
        </p:sp>
        <p:sp>
          <p:nvSpPr>
            <p:cNvPr name="TextBox 52" id="52"/>
            <p:cNvSpPr txBox="true"/>
            <p:nvPr/>
          </p:nvSpPr>
          <p:spPr>
            <a:xfrm>
              <a:off x="0" y="-38100"/>
              <a:ext cx="13411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7E8F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Seminário de IoT — Segurança em IoT · Grupo 6</a:t>
              </a:r>
            </a:p>
          </p:txBody>
        </p:sp>
      </p:grpSp>
      <p:grpSp>
        <p:nvGrpSpPr>
          <p:cNvPr name="Group 53" id="53"/>
          <p:cNvGrpSpPr/>
          <p:nvPr/>
        </p:nvGrpSpPr>
        <p:grpSpPr>
          <a:xfrm rot="0">
            <a:off x="16367760" y="9692640"/>
            <a:ext cx="914400" cy="457200"/>
            <a:chOff x="0" y="0"/>
            <a:chExt cx="1219200" cy="609600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1219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55" id="55"/>
            <p:cNvSpPr txBox="true"/>
            <p:nvPr/>
          </p:nvSpPr>
          <p:spPr>
            <a:xfrm>
              <a:off x="0" y="-38100"/>
              <a:ext cx="1219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7E8F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07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F2C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7498080" cy="10287000"/>
            <a:chOff x="0" y="0"/>
            <a:chExt cx="999744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99744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9997440">
                  <a:moveTo>
                    <a:pt x="0" y="0"/>
                  </a:moveTo>
                  <a:lnTo>
                    <a:pt x="9997440" y="0"/>
                  </a:lnTo>
                  <a:lnTo>
                    <a:pt x="999744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0345B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097280" y="7132320"/>
            <a:ext cx="1097280" cy="987552"/>
            <a:chOff x="0" y="0"/>
            <a:chExt cx="1463040" cy="131673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463040" cy="1316736"/>
            </a:xfrm>
            <a:custGeom>
              <a:avLst/>
              <a:gdLst/>
              <a:ahLst/>
              <a:cxnLst/>
              <a:rect r="r" b="b" t="t" l="l"/>
              <a:pathLst>
                <a:path h="1316736" w="1463040">
                  <a:moveTo>
                    <a:pt x="0" y="658368"/>
                  </a:moveTo>
                  <a:lnTo>
                    <a:pt x="329184" y="0"/>
                  </a:lnTo>
                  <a:lnTo>
                    <a:pt x="1133856" y="0"/>
                  </a:lnTo>
                  <a:lnTo>
                    <a:pt x="1463040" y="658368"/>
                  </a:lnTo>
                  <a:lnTo>
                    <a:pt x="1133856" y="1316736"/>
                  </a:lnTo>
                  <a:lnTo>
                    <a:pt x="329184" y="1316736"/>
                  </a:lnTo>
                  <a:close/>
                </a:path>
              </a:pathLst>
            </a:custGeom>
            <a:solidFill>
              <a:srgbClr val="38BDF8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2468880" y="7955280"/>
            <a:ext cx="731520" cy="658368"/>
            <a:chOff x="0" y="0"/>
            <a:chExt cx="975360" cy="87782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975360" cy="877824"/>
            </a:xfrm>
            <a:custGeom>
              <a:avLst/>
              <a:gdLst/>
              <a:ahLst/>
              <a:cxnLst/>
              <a:rect r="r" b="b" t="t" l="l"/>
              <a:pathLst>
                <a:path h="877824" w="975360">
                  <a:moveTo>
                    <a:pt x="0" y="438912"/>
                  </a:moveTo>
                  <a:lnTo>
                    <a:pt x="219456" y="0"/>
                  </a:lnTo>
                  <a:lnTo>
                    <a:pt x="755904" y="0"/>
                  </a:lnTo>
                  <a:lnTo>
                    <a:pt x="975360" y="438912"/>
                  </a:lnTo>
                  <a:lnTo>
                    <a:pt x="755904" y="877824"/>
                  </a:lnTo>
                  <a:lnTo>
                    <a:pt x="219456" y="877824"/>
                  </a:lnTo>
                  <a:close/>
                </a:path>
              </a:pathLst>
            </a:custGeom>
            <a:solidFill>
              <a:srgbClr val="23507F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1005840" y="2468880"/>
            <a:ext cx="5852160" cy="2926080"/>
            <a:chOff x="0" y="0"/>
            <a:chExt cx="7802880" cy="390144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7802880" cy="3901440"/>
            </a:xfrm>
            <a:custGeom>
              <a:avLst/>
              <a:gdLst/>
              <a:ahLst/>
              <a:cxnLst/>
              <a:rect r="r" b="b" t="t" l="l"/>
              <a:pathLst>
                <a:path h="3901440" w="7802880">
                  <a:moveTo>
                    <a:pt x="0" y="0"/>
                  </a:moveTo>
                  <a:lnTo>
                    <a:pt x="7802880" y="0"/>
                  </a:lnTo>
                  <a:lnTo>
                    <a:pt x="7802880" y="3901440"/>
                  </a:lnTo>
                  <a:lnTo>
                    <a:pt x="0" y="39014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71475"/>
              <a:ext cx="7802880" cy="42729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080"/>
                </a:lnSpc>
              </a:pPr>
              <a:r>
                <a:rPr lang="en-US" sz="184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02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097280" y="1920240"/>
            <a:ext cx="4572000" cy="548640"/>
            <a:chOff x="0" y="0"/>
            <a:chExt cx="6096000" cy="73152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6096000" cy="731520"/>
            </a:xfrm>
            <a:custGeom>
              <a:avLst/>
              <a:gdLst/>
              <a:ahLst/>
              <a:cxnLst/>
              <a:rect r="r" b="b" t="t" l="l"/>
              <a:pathLst>
                <a:path h="731520" w="6096000">
                  <a:moveTo>
                    <a:pt x="0" y="0"/>
                  </a:moveTo>
                  <a:lnTo>
                    <a:pt x="6096000" y="0"/>
                  </a:lnTo>
                  <a:lnTo>
                    <a:pt x="60960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12375" r="0" b="-112375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6096000" cy="7696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b="true" sz="2400" spc="600">
                  <a:solidFill>
                    <a:srgbClr val="38BDF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SEÇÃO</a:t>
              </a: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8412480" y="3606165"/>
            <a:ext cx="8961120" cy="21545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640"/>
              </a:lnSpc>
            </a:pPr>
            <a:r>
              <a:rPr lang="en-US" sz="7200" b="true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Fundamentação Teórica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412480" y="5760720"/>
            <a:ext cx="8412480" cy="1463040"/>
            <a:chOff x="0" y="0"/>
            <a:chExt cx="11216640" cy="195072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1216640" cy="1950720"/>
            </a:xfrm>
            <a:custGeom>
              <a:avLst/>
              <a:gdLst/>
              <a:ahLst/>
              <a:cxnLst/>
              <a:rect r="r" b="b" t="t" l="l"/>
              <a:pathLst>
                <a:path h="1950720" w="11216640">
                  <a:moveTo>
                    <a:pt x="0" y="0"/>
                  </a:moveTo>
                  <a:lnTo>
                    <a:pt x="11216640" y="0"/>
                  </a:lnTo>
                  <a:lnTo>
                    <a:pt x="11216640" y="1950720"/>
                  </a:lnTo>
                  <a:lnTo>
                    <a:pt x="0" y="19507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62038" r="0" b="-62038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57150"/>
              <a:ext cx="11216640" cy="20078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rPr lang="en-US" sz="2600">
                  <a:solidFill>
                    <a:srgbClr val="AFC4DC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Lorem ipsum dolor sit amet, consectetur adipiscing elit. Sed do eiusmod tempor incididunt ut labore et dolore magna aliqua.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8412480" y="2651760"/>
            <a:ext cx="804672" cy="804672"/>
            <a:chOff x="0" y="0"/>
            <a:chExt cx="1072896" cy="1072896"/>
          </a:xfrm>
        </p:grpSpPr>
        <p:sp>
          <p:nvSpPr>
            <p:cNvPr name="Freeform 19" id="19" descr="/home/claude/icons/FiBookOpen_38BDF8.png"/>
            <p:cNvSpPr/>
            <p:nvPr/>
          </p:nvSpPr>
          <p:spPr>
            <a:xfrm flipH="false" flipV="false" rot="0">
              <a:off x="0" y="0"/>
              <a:ext cx="1072896" cy="1072896"/>
            </a:xfrm>
            <a:custGeom>
              <a:avLst/>
              <a:gdLst/>
              <a:ahLst/>
              <a:cxnLst/>
              <a:rect r="r" b="b" t="t" l="l"/>
              <a:pathLst>
                <a:path h="1072896" w="1072896">
                  <a:moveTo>
                    <a:pt x="0" y="0"/>
                  </a:moveTo>
                  <a:lnTo>
                    <a:pt x="1072896" y="0"/>
                  </a:lnTo>
                  <a:lnTo>
                    <a:pt x="1072896" y="1072896"/>
                  </a:lnTo>
                  <a:lnTo>
                    <a:pt x="0" y="10728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1097280" y="9692640"/>
            <a:ext cx="10058400" cy="457200"/>
            <a:chOff x="0" y="0"/>
            <a:chExt cx="13411200" cy="6096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3411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3411200">
                  <a:moveTo>
                    <a:pt x="0" y="0"/>
                  </a:moveTo>
                  <a:lnTo>
                    <a:pt x="13411200" y="0"/>
                  </a:lnTo>
                  <a:lnTo>
                    <a:pt x="13411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78670" r="0" b="-378670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38100"/>
              <a:ext cx="13411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6E85A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Seminário de IoT — Segurança em IoT · Grupo 6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16367760" y="9692640"/>
            <a:ext cx="914400" cy="457200"/>
            <a:chOff x="0" y="0"/>
            <a:chExt cx="1219200" cy="6096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219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1219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6E85A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08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05840" y="914400"/>
            <a:ext cx="621792" cy="559613"/>
            <a:chOff x="0" y="0"/>
            <a:chExt cx="829056" cy="74615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29056" cy="746125"/>
            </a:xfrm>
            <a:custGeom>
              <a:avLst/>
              <a:gdLst/>
              <a:ahLst/>
              <a:cxnLst/>
              <a:rect r="r" b="b" t="t" l="l"/>
              <a:pathLst>
                <a:path h="746125" w="829056">
                  <a:moveTo>
                    <a:pt x="0" y="373126"/>
                  </a:moveTo>
                  <a:lnTo>
                    <a:pt x="186563" y="0"/>
                  </a:lnTo>
                  <a:lnTo>
                    <a:pt x="642493" y="0"/>
                  </a:lnTo>
                  <a:lnTo>
                    <a:pt x="829056" y="373126"/>
                  </a:lnTo>
                  <a:lnTo>
                    <a:pt x="642493" y="746125"/>
                  </a:lnTo>
                  <a:lnTo>
                    <a:pt x="186563" y="746125"/>
                  </a:lnTo>
                  <a:close/>
                </a:path>
              </a:pathLst>
            </a:custGeom>
            <a:solidFill>
              <a:srgbClr val="38BDF8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865376" y="859536"/>
            <a:ext cx="13898880" cy="475488"/>
            <a:chOff x="0" y="0"/>
            <a:chExt cx="18531840" cy="63398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8531839" cy="633984"/>
            </a:xfrm>
            <a:custGeom>
              <a:avLst/>
              <a:gdLst/>
              <a:ahLst/>
              <a:cxnLst/>
              <a:rect r="r" b="b" t="t" l="l"/>
              <a:pathLst>
                <a:path h="633984" w="18531839">
                  <a:moveTo>
                    <a:pt x="0" y="0"/>
                  </a:moveTo>
                  <a:lnTo>
                    <a:pt x="18531839" y="0"/>
                  </a:lnTo>
                  <a:lnTo>
                    <a:pt x="18531839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19562" r="0" b="-519562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18531840" cy="68160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b="true" sz="2200" spc="399">
                  <a:solidFill>
                    <a:srgbClr val="4A6FA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FUNDAMENTAÇÃO TEÓRICA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005840" y="1426464"/>
            <a:ext cx="15727680" cy="1097280"/>
            <a:chOff x="0" y="0"/>
            <a:chExt cx="20970240" cy="146304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0970239" cy="1463040"/>
            </a:xfrm>
            <a:custGeom>
              <a:avLst/>
              <a:gdLst/>
              <a:ahLst/>
              <a:cxnLst/>
              <a:rect r="r" b="b" t="t" l="l"/>
              <a:pathLst>
                <a:path h="1463040" w="20970239">
                  <a:moveTo>
                    <a:pt x="0" y="0"/>
                  </a:moveTo>
                  <a:lnTo>
                    <a:pt x="20970239" y="0"/>
                  </a:lnTo>
                  <a:lnTo>
                    <a:pt x="20970239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29285" r="0" b="-229285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42875"/>
              <a:ext cx="20970240" cy="16059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920"/>
                </a:lnSpc>
              </a:pPr>
              <a:r>
                <a:rPr lang="en-US" sz="66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Conceitos Principais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005840" y="2926080"/>
            <a:ext cx="1060704" cy="1060704"/>
            <a:chOff x="0" y="0"/>
            <a:chExt cx="1414272" cy="14142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414272" cy="1414272"/>
            </a:xfrm>
            <a:custGeom>
              <a:avLst/>
              <a:gdLst/>
              <a:ahLst/>
              <a:cxnLst/>
              <a:rect r="r" b="b" t="t" l="l"/>
              <a:pathLst>
                <a:path h="1414272" w="1414272">
                  <a:moveTo>
                    <a:pt x="0" y="707136"/>
                  </a:moveTo>
                  <a:cubicBezTo>
                    <a:pt x="0" y="316611"/>
                    <a:pt x="316611" y="0"/>
                    <a:pt x="707136" y="0"/>
                  </a:cubicBezTo>
                  <a:cubicBezTo>
                    <a:pt x="1097661" y="0"/>
                    <a:pt x="1414272" y="316611"/>
                    <a:pt x="1414272" y="707136"/>
                  </a:cubicBezTo>
                  <a:cubicBezTo>
                    <a:pt x="1414272" y="1097661"/>
                    <a:pt x="1097661" y="1414272"/>
                    <a:pt x="707136" y="1414272"/>
                  </a:cubicBezTo>
                  <a:cubicBezTo>
                    <a:pt x="316611" y="1414272"/>
                    <a:pt x="0" y="1097661"/>
                    <a:pt x="0" y="707136"/>
                  </a:cubicBezTo>
                  <a:close/>
                </a:path>
              </a:pathLst>
            </a:custGeom>
            <a:solidFill>
              <a:srgbClr val="4A6FA5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280160" y="3200400"/>
            <a:ext cx="512064" cy="512064"/>
            <a:chOff x="0" y="0"/>
            <a:chExt cx="682752" cy="682752"/>
          </a:xfrm>
        </p:grpSpPr>
        <p:sp>
          <p:nvSpPr>
            <p:cNvPr name="Freeform 13" id="13" descr="/home/claude/icons/FiLock_FFFFFF.png"/>
            <p:cNvSpPr/>
            <p:nvPr/>
          </p:nvSpPr>
          <p:spPr>
            <a:xfrm flipH="false" flipV="false" rot="0">
              <a:off x="0" y="0"/>
              <a:ext cx="682752" cy="682752"/>
            </a:xfrm>
            <a:custGeom>
              <a:avLst/>
              <a:gdLst/>
              <a:ahLst/>
              <a:cxnLst/>
              <a:rect r="r" b="b" t="t" l="l"/>
              <a:pathLst>
                <a:path h="682752" w="682752">
                  <a:moveTo>
                    <a:pt x="0" y="0"/>
                  </a:moveTo>
                  <a:lnTo>
                    <a:pt x="682752" y="0"/>
                  </a:lnTo>
                  <a:lnTo>
                    <a:pt x="682752" y="682752"/>
                  </a:lnTo>
                  <a:lnTo>
                    <a:pt x="0" y="6827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2468880" y="2834640"/>
            <a:ext cx="8229600" cy="621792"/>
            <a:chOff x="0" y="0"/>
            <a:chExt cx="10972800" cy="829056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0972800" cy="829056"/>
            </a:xfrm>
            <a:custGeom>
              <a:avLst/>
              <a:gdLst/>
              <a:ahLst/>
              <a:cxnLst/>
              <a:rect r="r" b="b" t="t" l="l"/>
              <a:pathLst>
                <a:path h="829056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07890" r="0" b="-207890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76200"/>
              <a:ext cx="10972800" cy="90525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800"/>
                </a:lnSpc>
              </a:pPr>
              <a:r>
                <a:rPr lang="en-US" sz="40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Conceito 01 — Lorem ipsum dolor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2468880" y="3456432"/>
            <a:ext cx="9144000" cy="731520"/>
            <a:chOff x="0" y="0"/>
            <a:chExt cx="12192000" cy="97536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2192000" cy="975360"/>
            </a:xfrm>
            <a:custGeom>
              <a:avLst/>
              <a:gdLst/>
              <a:ahLst/>
              <a:cxnLst/>
              <a:rect r="r" b="b" t="t" l="l"/>
              <a:pathLst>
                <a:path h="975360" w="12192000">
                  <a:moveTo>
                    <a:pt x="0" y="0"/>
                  </a:moveTo>
                  <a:lnTo>
                    <a:pt x="12192000" y="0"/>
                  </a:lnTo>
                  <a:lnTo>
                    <a:pt x="1219200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93562" r="0" b="-193562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12192000" cy="10134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7E8F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Lorem ipsum dolor sit amet, consectetur adipiscing elit, sed do eiusmod tempor.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005840" y="4517136"/>
            <a:ext cx="1060704" cy="1060704"/>
            <a:chOff x="0" y="0"/>
            <a:chExt cx="1414272" cy="1414272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414272" cy="1414272"/>
            </a:xfrm>
            <a:custGeom>
              <a:avLst/>
              <a:gdLst/>
              <a:ahLst/>
              <a:cxnLst/>
              <a:rect r="r" b="b" t="t" l="l"/>
              <a:pathLst>
                <a:path h="1414272" w="1414272">
                  <a:moveTo>
                    <a:pt x="0" y="707136"/>
                  </a:moveTo>
                  <a:cubicBezTo>
                    <a:pt x="0" y="316611"/>
                    <a:pt x="316611" y="0"/>
                    <a:pt x="707136" y="0"/>
                  </a:cubicBezTo>
                  <a:cubicBezTo>
                    <a:pt x="1097661" y="0"/>
                    <a:pt x="1414272" y="316611"/>
                    <a:pt x="1414272" y="707136"/>
                  </a:cubicBezTo>
                  <a:cubicBezTo>
                    <a:pt x="1414272" y="1097661"/>
                    <a:pt x="1097661" y="1414272"/>
                    <a:pt x="707136" y="1414272"/>
                  </a:cubicBezTo>
                  <a:cubicBezTo>
                    <a:pt x="316611" y="1414272"/>
                    <a:pt x="0" y="1097661"/>
                    <a:pt x="0" y="707136"/>
                  </a:cubicBezTo>
                  <a:close/>
                </a:path>
              </a:pathLst>
            </a:custGeom>
            <a:solidFill>
              <a:srgbClr val="4A6FA5"/>
            </a:solidFill>
          </p:spPr>
        </p:sp>
      </p:grpSp>
      <p:grpSp>
        <p:nvGrpSpPr>
          <p:cNvPr name="Group 22" id="22"/>
          <p:cNvGrpSpPr/>
          <p:nvPr/>
        </p:nvGrpSpPr>
        <p:grpSpPr>
          <a:xfrm rot="0">
            <a:off x="1280160" y="4791456"/>
            <a:ext cx="512064" cy="512064"/>
            <a:chOff x="0" y="0"/>
            <a:chExt cx="682752" cy="682752"/>
          </a:xfrm>
        </p:grpSpPr>
        <p:sp>
          <p:nvSpPr>
            <p:cNvPr name="Freeform 23" id="23" descr="/home/claude/icons/FiKey_FFFFFF.png"/>
            <p:cNvSpPr/>
            <p:nvPr/>
          </p:nvSpPr>
          <p:spPr>
            <a:xfrm flipH="false" flipV="false" rot="0">
              <a:off x="0" y="0"/>
              <a:ext cx="682752" cy="682752"/>
            </a:xfrm>
            <a:custGeom>
              <a:avLst/>
              <a:gdLst/>
              <a:ahLst/>
              <a:cxnLst/>
              <a:rect r="r" b="b" t="t" l="l"/>
              <a:pathLst>
                <a:path h="682752" w="682752">
                  <a:moveTo>
                    <a:pt x="0" y="0"/>
                  </a:moveTo>
                  <a:lnTo>
                    <a:pt x="682752" y="0"/>
                  </a:lnTo>
                  <a:lnTo>
                    <a:pt x="682752" y="682752"/>
                  </a:lnTo>
                  <a:lnTo>
                    <a:pt x="0" y="6827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2468880" y="4425696"/>
            <a:ext cx="8229600" cy="621792"/>
            <a:chOff x="0" y="0"/>
            <a:chExt cx="10972800" cy="829056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0972800" cy="829056"/>
            </a:xfrm>
            <a:custGeom>
              <a:avLst/>
              <a:gdLst/>
              <a:ahLst/>
              <a:cxnLst/>
              <a:rect r="r" b="b" t="t" l="l"/>
              <a:pathLst>
                <a:path h="829056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07890" r="0" b="-207890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76200"/>
              <a:ext cx="10972800" cy="90525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800"/>
                </a:lnSpc>
              </a:pPr>
              <a:r>
                <a:rPr lang="en-US" sz="40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Conceito 02 — Lorem ipsum dolor</a:t>
              </a: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2468880" y="5047488"/>
            <a:ext cx="9144000" cy="731520"/>
            <a:chOff x="0" y="0"/>
            <a:chExt cx="12192000" cy="97536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2192000" cy="975360"/>
            </a:xfrm>
            <a:custGeom>
              <a:avLst/>
              <a:gdLst/>
              <a:ahLst/>
              <a:cxnLst/>
              <a:rect r="r" b="b" t="t" l="l"/>
              <a:pathLst>
                <a:path h="975360" w="12192000">
                  <a:moveTo>
                    <a:pt x="0" y="0"/>
                  </a:moveTo>
                  <a:lnTo>
                    <a:pt x="12192000" y="0"/>
                  </a:lnTo>
                  <a:lnTo>
                    <a:pt x="1219200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93562" r="0" b="-193562"/>
              </a:stretch>
            </a:blip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38100"/>
              <a:ext cx="12192000" cy="10134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7E8F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Lorem ipsum dolor sit amet, consectetur adipiscing elit, sed do eiusmod tempor.</a:t>
              </a: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1005840" y="6108192"/>
            <a:ext cx="1060704" cy="1060704"/>
            <a:chOff x="0" y="0"/>
            <a:chExt cx="1414272" cy="1414272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414272" cy="1414272"/>
            </a:xfrm>
            <a:custGeom>
              <a:avLst/>
              <a:gdLst/>
              <a:ahLst/>
              <a:cxnLst/>
              <a:rect r="r" b="b" t="t" l="l"/>
              <a:pathLst>
                <a:path h="1414272" w="1414272">
                  <a:moveTo>
                    <a:pt x="0" y="707136"/>
                  </a:moveTo>
                  <a:cubicBezTo>
                    <a:pt x="0" y="316611"/>
                    <a:pt x="316611" y="0"/>
                    <a:pt x="707136" y="0"/>
                  </a:cubicBezTo>
                  <a:cubicBezTo>
                    <a:pt x="1097661" y="0"/>
                    <a:pt x="1414272" y="316611"/>
                    <a:pt x="1414272" y="707136"/>
                  </a:cubicBezTo>
                  <a:cubicBezTo>
                    <a:pt x="1414272" y="1097661"/>
                    <a:pt x="1097661" y="1414272"/>
                    <a:pt x="707136" y="1414272"/>
                  </a:cubicBezTo>
                  <a:cubicBezTo>
                    <a:pt x="316611" y="1414272"/>
                    <a:pt x="0" y="1097661"/>
                    <a:pt x="0" y="707136"/>
                  </a:cubicBezTo>
                  <a:close/>
                </a:path>
              </a:pathLst>
            </a:custGeom>
            <a:solidFill>
              <a:srgbClr val="4A6FA5"/>
            </a:solidFill>
          </p:spPr>
        </p:sp>
      </p:grpSp>
      <p:grpSp>
        <p:nvGrpSpPr>
          <p:cNvPr name="Group 32" id="32"/>
          <p:cNvGrpSpPr/>
          <p:nvPr/>
        </p:nvGrpSpPr>
        <p:grpSpPr>
          <a:xfrm rot="0">
            <a:off x="1280160" y="6382512"/>
            <a:ext cx="512064" cy="512064"/>
            <a:chOff x="0" y="0"/>
            <a:chExt cx="682752" cy="682752"/>
          </a:xfrm>
        </p:grpSpPr>
        <p:sp>
          <p:nvSpPr>
            <p:cNvPr name="Freeform 33" id="33" descr="/home/claude/icons/FiEye_FFFFFF.png"/>
            <p:cNvSpPr/>
            <p:nvPr/>
          </p:nvSpPr>
          <p:spPr>
            <a:xfrm flipH="false" flipV="false" rot="0">
              <a:off x="0" y="0"/>
              <a:ext cx="682752" cy="682752"/>
            </a:xfrm>
            <a:custGeom>
              <a:avLst/>
              <a:gdLst/>
              <a:ahLst/>
              <a:cxnLst/>
              <a:rect r="r" b="b" t="t" l="l"/>
              <a:pathLst>
                <a:path h="682752" w="682752">
                  <a:moveTo>
                    <a:pt x="0" y="0"/>
                  </a:moveTo>
                  <a:lnTo>
                    <a:pt x="682752" y="0"/>
                  </a:lnTo>
                  <a:lnTo>
                    <a:pt x="682752" y="682752"/>
                  </a:lnTo>
                  <a:lnTo>
                    <a:pt x="0" y="6827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34" id="34"/>
          <p:cNvGrpSpPr/>
          <p:nvPr/>
        </p:nvGrpSpPr>
        <p:grpSpPr>
          <a:xfrm rot="0">
            <a:off x="2468880" y="6016752"/>
            <a:ext cx="8229600" cy="621792"/>
            <a:chOff x="0" y="0"/>
            <a:chExt cx="10972800" cy="829056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10972800" cy="829056"/>
            </a:xfrm>
            <a:custGeom>
              <a:avLst/>
              <a:gdLst/>
              <a:ahLst/>
              <a:cxnLst/>
              <a:rect r="r" b="b" t="t" l="l"/>
              <a:pathLst>
                <a:path h="829056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07890" r="0" b="-207890"/>
              </a:stretch>
            </a:blipFill>
          </p:spPr>
        </p:sp>
        <p:sp>
          <p:nvSpPr>
            <p:cNvPr name="TextBox 36" id="36"/>
            <p:cNvSpPr txBox="true"/>
            <p:nvPr/>
          </p:nvSpPr>
          <p:spPr>
            <a:xfrm>
              <a:off x="0" y="-76200"/>
              <a:ext cx="10972800" cy="90525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800"/>
                </a:lnSpc>
              </a:pPr>
              <a:r>
                <a:rPr lang="en-US" sz="40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Conceito 03 — Lorem ipsum dolor</a:t>
              </a:r>
            </a:p>
          </p:txBody>
        </p:sp>
      </p:grpSp>
      <p:grpSp>
        <p:nvGrpSpPr>
          <p:cNvPr name="Group 37" id="37"/>
          <p:cNvGrpSpPr/>
          <p:nvPr/>
        </p:nvGrpSpPr>
        <p:grpSpPr>
          <a:xfrm rot="0">
            <a:off x="2468880" y="6638544"/>
            <a:ext cx="9144000" cy="731520"/>
            <a:chOff x="0" y="0"/>
            <a:chExt cx="12192000" cy="97536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12192000" cy="975360"/>
            </a:xfrm>
            <a:custGeom>
              <a:avLst/>
              <a:gdLst/>
              <a:ahLst/>
              <a:cxnLst/>
              <a:rect r="r" b="b" t="t" l="l"/>
              <a:pathLst>
                <a:path h="975360" w="12192000">
                  <a:moveTo>
                    <a:pt x="0" y="0"/>
                  </a:moveTo>
                  <a:lnTo>
                    <a:pt x="12192000" y="0"/>
                  </a:lnTo>
                  <a:lnTo>
                    <a:pt x="1219200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93562" r="0" b="-193562"/>
              </a:stretch>
            </a:blipFill>
          </p:spPr>
        </p:sp>
        <p:sp>
          <p:nvSpPr>
            <p:cNvPr name="TextBox 39" id="39"/>
            <p:cNvSpPr txBox="true"/>
            <p:nvPr/>
          </p:nvSpPr>
          <p:spPr>
            <a:xfrm>
              <a:off x="0" y="-38100"/>
              <a:ext cx="12192000" cy="10134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7E8F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Lorem ipsum dolor sit amet, consectetur adipiscing elit, sed do eiusmod tempor.</a:t>
              </a:r>
            </a:p>
          </p:txBody>
        </p:sp>
      </p:grpSp>
      <p:grpSp>
        <p:nvGrpSpPr>
          <p:cNvPr name="Group 40" id="40"/>
          <p:cNvGrpSpPr/>
          <p:nvPr/>
        </p:nvGrpSpPr>
        <p:grpSpPr>
          <a:xfrm rot="0">
            <a:off x="1005840" y="7699248"/>
            <a:ext cx="1060704" cy="1060704"/>
            <a:chOff x="0" y="0"/>
            <a:chExt cx="1414272" cy="1414272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1414272" cy="1414272"/>
            </a:xfrm>
            <a:custGeom>
              <a:avLst/>
              <a:gdLst/>
              <a:ahLst/>
              <a:cxnLst/>
              <a:rect r="r" b="b" t="t" l="l"/>
              <a:pathLst>
                <a:path h="1414272" w="1414272">
                  <a:moveTo>
                    <a:pt x="0" y="707136"/>
                  </a:moveTo>
                  <a:cubicBezTo>
                    <a:pt x="0" y="316611"/>
                    <a:pt x="316611" y="0"/>
                    <a:pt x="707136" y="0"/>
                  </a:cubicBezTo>
                  <a:cubicBezTo>
                    <a:pt x="1097661" y="0"/>
                    <a:pt x="1414272" y="316611"/>
                    <a:pt x="1414272" y="707136"/>
                  </a:cubicBezTo>
                  <a:cubicBezTo>
                    <a:pt x="1414272" y="1097661"/>
                    <a:pt x="1097661" y="1414272"/>
                    <a:pt x="707136" y="1414272"/>
                  </a:cubicBezTo>
                  <a:cubicBezTo>
                    <a:pt x="316611" y="1414272"/>
                    <a:pt x="0" y="1097661"/>
                    <a:pt x="0" y="707136"/>
                  </a:cubicBezTo>
                  <a:close/>
                </a:path>
              </a:pathLst>
            </a:custGeom>
            <a:solidFill>
              <a:srgbClr val="4A6FA5"/>
            </a:solidFill>
          </p:spPr>
        </p:sp>
      </p:grpSp>
      <p:grpSp>
        <p:nvGrpSpPr>
          <p:cNvPr name="Group 42" id="42"/>
          <p:cNvGrpSpPr/>
          <p:nvPr/>
        </p:nvGrpSpPr>
        <p:grpSpPr>
          <a:xfrm rot="0">
            <a:off x="1280160" y="7973568"/>
            <a:ext cx="512064" cy="512064"/>
            <a:chOff x="0" y="0"/>
            <a:chExt cx="682752" cy="682752"/>
          </a:xfrm>
        </p:grpSpPr>
        <p:sp>
          <p:nvSpPr>
            <p:cNvPr name="Freeform 43" id="43" descr="/home/claude/icons/FiShield_FFFFFF.png"/>
            <p:cNvSpPr/>
            <p:nvPr/>
          </p:nvSpPr>
          <p:spPr>
            <a:xfrm flipH="false" flipV="false" rot="0">
              <a:off x="0" y="0"/>
              <a:ext cx="682752" cy="682752"/>
            </a:xfrm>
            <a:custGeom>
              <a:avLst/>
              <a:gdLst/>
              <a:ahLst/>
              <a:cxnLst/>
              <a:rect r="r" b="b" t="t" l="l"/>
              <a:pathLst>
                <a:path h="682752" w="682752">
                  <a:moveTo>
                    <a:pt x="0" y="0"/>
                  </a:moveTo>
                  <a:lnTo>
                    <a:pt x="682752" y="0"/>
                  </a:lnTo>
                  <a:lnTo>
                    <a:pt x="682752" y="682752"/>
                  </a:lnTo>
                  <a:lnTo>
                    <a:pt x="0" y="6827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44" id="44"/>
          <p:cNvGrpSpPr/>
          <p:nvPr/>
        </p:nvGrpSpPr>
        <p:grpSpPr>
          <a:xfrm rot="0">
            <a:off x="2468880" y="7607808"/>
            <a:ext cx="8229600" cy="621792"/>
            <a:chOff x="0" y="0"/>
            <a:chExt cx="10972800" cy="829056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10972800" cy="829056"/>
            </a:xfrm>
            <a:custGeom>
              <a:avLst/>
              <a:gdLst/>
              <a:ahLst/>
              <a:cxnLst/>
              <a:rect r="r" b="b" t="t" l="l"/>
              <a:pathLst>
                <a:path h="829056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07890" r="0" b="-207890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76200"/>
              <a:ext cx="10972800" cy="90525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800"/>
                </a:lnSpc>
              </a:pPr>
              <a:r>
                <a:rPr lang="en-US" sz="40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Conceito 04 — Lorem ipsum dolor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2468880" y="8229600"/>
            <a:ext cx="9144000" cy="731520"/>
            <a:chOff x="0" y="0"/>
            <a:chExt cx="12192000" cy="97536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12192000" cy="975360"/>
            </a:xfrm>
            <a:custGeom>
              <a:avLst/>
              <a:gdLst/>
              <a:ahLst/>
              <a:cxnLst/>
              <a:rect r="r" b="b" t="t" l="l"/>
              <a:pathLst>
                <a:path h="975360" w="12192000">
                  <a:moveTo>
                    <a:pt x="0" y="0"/>
                  </a:moveTo>
                  <a:lnTo>
                    <a:pt x="12192000" y="0"/>
                  </a:lnTo>
                  <a:lnTo>
                    <a:pt x="1219200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93562" r="0" b="-193562"/>
              </a:stretch>
            </a:blipFill>
          </p:spPr>
        </p:sp>
        <p:sp>
          <p:nvSpPr>
            <p:cNvPr name="TextBox 49" id="49"/>
            <p:cNvSpPr txBox="true"/>
            <p:nvPr/>
          </p:nvSpPr>
          <p:spPr>
            <a:xfrm>
              <a:off x="0" y="-38100"/>
              <a:ext cx="12192000" cy="10134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7E8F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Lorem ipsum dolor sit amet, consectetur adipiscing elit, sed do eiusmod tempor.</a:t>
              </a: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12237082" y="2818762"/>
            <a:ext cx="5060947" cy="6249667"/>
            <a:chOff x="0" y="0"/>
            <a:chExt cx="6747929" cy="8332889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6748018" cy="8332978"/>
            </a:xfrm>
            <a:custGeom>
              <a:avLst/>
              <a:gdLst/>
              <a:ahLst/>
              <a:cxnLst/>
              <a:rect r="r" b="b" t="t" l="l"/>
              <a:pathLst>
                <a:path h="8332978" w="6748018">
                  <a:moveTo>
                    <a:pt x="0" y="196342"/>
                  </a:moveTo>
                  <a:cubicBezTo>
                    <a:pt x="0" y="87884"/>
                    <a:pt x="87884" y="0"/>
                    <a:pt x="196342" y="0"/>
                  </a:cubicBezTo>
                  <a:lnTo>
                    <a:pt x="6551676" y="0"/>
                  </a:lnTo>
                  <a:cubicBezTo>
                    <a:pt x="6660134" y="0"/>
                    <a:pt x="6748018" y="87884"/>
                    <a:pt x="6748018" y="196342"/>
                  </a:cubicBezTo>
                  <a:lnTo>
                    <a:pt x="6748018" y="8136636"/>
                  </a:lnTo>
                  <a:cubicBezTo>
                    <a:pt x="6748018" y="8245094"/>
                    <a:pt x="6660134" y="8332978"/>
                    <a:pt x="6551676" y="8332978"/>
                  </a:cubicBezTo>
                  <a:lnTo>
                    <a:pt x="196342" y="8332978"/>
                  </a:lnTo>
                  <a:cubicBezTo>
                    <a:pt x="87884" y="8332851"/>
                    <a:pt x="0" y="8244967"/>
                    <a:pt x="0" y="8136636"/>
                  </a:cubicBezTo>
                  <a:close/>
                </a:path>
              </a:pathLst>
            </a:custGeom>
            <a:solidFill>
              <a:srgbClr val="F7FAFD"/>
            </a:solidFill>
            <a:ln w="31750" cap="sq">
              <a:solidFill>
                <a:srgbClr val="A9C1DC"/>
              </a:solidFill>
              <a:prstDash val="dash"/>
              <a:miter/>
            </a:ln>
          </p:spPr>
        </p:sp>
      </p:grpSp>
      <p:grpSp>
        <p:nvGrpSpPr>
          <p:cNvPr name="Group 52" id="52"/>
          <p:cNvGrpSpPr/>
          <p:nvPr/>
        </p:nvGrpSpPr>
        <p:grpSpPr>
          <a:xfrm rot="0">
            <a:off x="14365224" y="5175504"/>
            <a:ext cx="804672" cy="804672"/>
            <a:chOff x="0" y="0"/>
            <a:chExt cx="1072896" cy="1072896"/>
          </a:xfrm>
        </p:grpSpPr>
        <p:sp>
          <p:nvSpPr>
            <p:cNvPr name="Freeform 53" id="53" descr="/home/claude/icons/FiImage_64748B.png"/>
            <p:cNvSpPr/>
            <p:nvPr/>
          </p:nvSpPr>
          <p:spPr>
            <a:xfrm flipH="false" flipV="false" rot="0">
              <a:off x="0" y="0"/>
              <a:ext cx="1072896" cy="1072896"/>
            </a:xfrm>
            <a:custGeom>
              <a:avLst/>
              <a:gdLst/>
              <a:ahLst/>
              <a:cxnLst/>
              <a:rect r="r" b="b" t="t" l="l"/>
              <a:pathLst>
                <a:path h="1072896" w="1072896">
                  <a:moveTo>
                    <a:pt x="0" y="0"/>
                  </a:moveTo>
                  <a:lnTo>
                    <a:pt x="1072896" y="0"/>
                  </a:lnTo>
                  <a:lnTo>
                    <a:pt x="1072896" y="1072896"/>
                  </a:lnTo>
                  <a:lnTo>
                    <a:pt x="0" y="10728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grpSp>
        <p:nvGrpSpPr>
          <p:cNvPr name="Group 54" id="54"/>
          <p:cNvGrpSpPr/>
          <p:nvPr/>
        </p:nvGrpSpPr>
        <p:grpSpPr>
          <a:xfrm rot="0">
            <a:off x="12618720" y="6035040"/>
            <a:ext cx="4297680" cy="548640"/>
            <a:chOff x="0" y="0"/>
            <a:chExt cx="5730240" cy="731520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5730240" cy="731520"/>
            </a:xfrm>
            <a:custGeom>
              <a:avLst/>
              <a:gdLst/>
              <a:ahLst/>
              <a:cxnLst/>
              <a:rect r="r" b="b" t="t" l="l"/>
              <a:pathLst>
                <a:path h="731520" w="5730240">
                  <a:moveTo>
                    <a:pt x="0" y="0"/>
                  </a:moveTo>
                  <a:lnTo>
                    <a:pt x="5730240" y="0"/>
                  </a:lnTo>
                  <a:lnTo>
                    <a:pt x="573024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02632" r="0" b="-102632"/>
              </a:stretch>
            </a:blipFill>
          </p:spPr>
        </p:sp>
        <p:sp>
          <p:nvSpPr>
            <p:cNvPr name="TextBox 56" id="56"/>
            <p:cNvSpPr txBox="true"/>
            <p:nvPr/>
          </p:nvSpPr>
          <p:spPr>
            <a:xfrm>
              <a:off x="0" y="-57150"/>
              <a:ext cx="5730240" cy="7886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120"/>
                </a:lnSpc>
              </a:pPr>
              <a:r>
                <a:rPr lang="en-US" sz="2600" b="true">
                  <a:solidFill>
                    <a:srgbClr val="7E8F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Inserir ilustração</a:t>
              </a:r>
            </a:p>
          </p:txBody>
        </p:sp>
      </p:grpSp>
      <p:grpSp>
        <p:nvGrpSpPr>
          <p:cNvPr name="Group 57" id="57"/>
          <p:cNvGrpSpPr/>
          <p:nvPr/>
        </p:nvGrpSpPr>
        <p:grpSpPr>
          <a:xfrm rot="0">
            <a:off x="12618720" y="6565392"/>
            <a:ext cx="4297680" cy="438912"/>
            <a:chOff x="0" y="0"/>
            <a:chExt cx="5730240" cy="585216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5730240" cy="585216"/>
            </a:xfrm>
            <a:custGeom>
              <a:avLst/>
              <a:gdLst/>
              <a:ahLst/>
              <a:cxnLst/>
              <a:rect r="r" b="b" t="t" l="l"/>
              <a:pathLst>
                <a:path h="585216" w="5730240">
                  <a:moveTo>
                    <a:pt x="0" y="0"/>
                  </a:moveTo>
                  <a:lnTo>
                    <a:pt x="5730240" y="0"/>
                  </a:lnTo>
                  <a:lnTo>
                    <a:pt x="5730240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40790" r="0" b="-140790"/>
              </a:stretch>
            </a:blipFill>
          </p:spPr>
        </p:sp>
        <p:sp>
          <p:nvSpPr>
            <p:cNvPr name="TextBox 59" id="59"/>
            <p:cNvSpPr txBox="true"/>
            <p:nvPr/>
          </p:nvSpPr>
          <p:spPr>
            <a:xfrm>
              <a:off x="0" y="-38100"/>
              <a:ext cx="5730240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400"/>
                </a:lnSpc>
              </a:pPr>
              <a:r>
                <a:rPr lang="en-US" sz="2000" i="true">
                  <a:solidFill>
                    <a:srgbClr val="7E8FA6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Substitua por diagrama, fluxo, tabela ou captura de tela</a:t>
              </a:r>
            </a:p>
          </p:txBody>
        </p:sp>
      </p:grpSp>
      <p:grpSp>
        <p:nvGrpSpPr>
          <p:cNvPr name="Group 60" id="60"/>
          <p:cNvGrpSpPr/>
          <p:nvPr/>
        </p:nvGrpSpPr>
        <p:grpSpPr>
          <a:xfrm rot="0">
            <a:off x="1005840" y="9692640"/>
            <a:ext cx="10058400" cy="457200"/>
            <a:chOff x="0" y="0"/>
            <a:chExt cx="13411200" cy="609600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13411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3411200">
                  <a:moveTo>
                    <a:pt x="0" y="0"/>
                  </a:moveTo>
                  <a:lnTo>
                    <a:pt x="13411200" y="0"/>
                  </a:lnTo>
                  <a:lnTo>
                    <a:pt x="13411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78670" r="0" b="-378670"/>
              </a:stretch>
            </a:blipFill>
          </p:spPr>
        </p:sp>
        <p:sp>
          <p:nvSpPr>
            <p:cNvPr name="TextBox 62" id="62"/>
            <p:cNvSpPr txBox="true"/>
            <p:nvPr/>
          </p:nvSpPr>
          <p:spPr>
            <a:xfrm>
              <a:off x="0" y="-38100"/>
              <a:ext cx="13411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7E8F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Seminário de IoT — Segurança em IoT · Grupo 6</a:t>
              </a:r>
            </a:p>
          </p:txBody>
        </p:sp>
      </p:grpSp>
      <p:grpSp>
        <p:nvGrpSpPr>
          <p:cNvPr name="Group 63" id="63"/>
          <p:cNvGrpSpPr/>
          <p:nvPr/>
        </p:nvGrpSpPr>
        <p:grpSpPr>
          <a:xfrm rot="0">
            <a:off x="16367760" y="9692640"/>
            <a:ext cx="914400" cy="457200"/>
            <a:chOff x="0" y="0"/>
            <a:chExt cx="1219200" cy="609600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1219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65" id="65"/>
            <p:cNvSpPr txBox="true"/>
            <p:nvPr/>
          </p:nvSpPr>
          <p:spPr>
            <a:xfrm>
              <a:off x="0" y="-38100"/>
              <a:ext cx="1219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7E8F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09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05840" y="914400"/>
            <a:ext cx="621792" cy="559613"/>
            <a:chOff x="0" y="0"/>
            <a:chExt cx="829056" cy="74615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29056" cy="746125"/>
            </a:xfrm>
            <a:custGeom>
              <a:avLst/>
              <a:gdLst/>
              <a:ahLst/>
              <a:cxnLst/>
              <a:rect r="r" b="b" t="t" l="l"/>
              <a:pathLst>
                <a:path h="746125" w="829056">
                  <a:moveTo>
                    <a:pt x="0" y="373126"/>
                  </a:moveTo>
                  <a:lnTo>
                    <a:pt x="186563" y="0"/>
                  </a:lnTo>
                  <a:lnTo>
                    <a:pt x="642493" y="0"/>
                  </a:lnTo>
                  <a:lnTo>
                    <a:pt x="829056" y="373126"/>
                  </a:lnTo>
                  <a:lnTo>
                    <a:pt x="642493" y="746125"/>
                  </a:lnTo>
                  <a:lnTo>
                    <a:pt x="186563" y="746125"/>
                  </a:lnTo>
                  <a:close/>
                </a:path>
              </a:pathLst>
            </a:custGeom>
            <a:solidFill>
              <a:srgbClr val="38BDF8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865376" y="859536"/>
            <a:ext cx="13898880" cy="475488"/>
            <a:chOff x="0" y="0"/>
            <a:chExt cx="18531840" cy="63398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8531839" cy="633984"/>
            </a:xfrm>
            <a:custGeom>
              <a:avLst/>
              <a:gdLst/>
              <a:ahLst/>
              <a:cxnLst/>
              <a:rect r="r" b="b" t="t" l="l"/>
              <a:pathLst>
                <a:path h="633984" w="18531839">
                  <a:moveTo>
                    <a:pt x="0" y="0"/>
                  </a:moveTo>
                  <a:lnTo>
                    <a:pt x="18531839" y="0"/>
                  </a:lnTo>
                  <a:lnTo>
                    <a:pt x="18531839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19562" r="0" b="-519562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18531840" cy="68160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b="true" sz="2200" spc="399">
                  <a:solidFill>
                    <a:srgbClr val="4A6FA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FUNDAMENTAÇÃO TEÓRICA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005840" y="1426464"/>
            <a:ext cx="15727680" cy="1097280"/>
            <a:chOff x="0" y="0"/>
            <a:chExt cx="20970240" cy="146304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0970239" cy="1463040"/>
            </a:xfrm>
            <a:custGeom>
              <a:avLst/>
              <a:gdLst/>
              <a:ahLst/>
              <a:cxnLst/>
              <a:rect r="r" b="b" t="t" l="l"/>
              <a:pathLst>
                <a:path h="1463040" w="20970239">
                  <a:moveTo>
                    <a:pt x="0" y="0"/>
                  </a:moveTo>
                  <a:lnTo>
                    <a:pt x="20970239" y="0"/>
                  </a:lnTo>
                  <a:lnTo>
                    <a:pt x="20970239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29285" r="0" b="-229285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42875"/>
              <a:ext cx="20970240" cy="16059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920"/>
                </a:lnSpc>
              </a:pPr>
              <a:r>
                <a:rPr lang="en-US" sz="66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Evolução Histórica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620517" y="5717029"/>
            <a:ext cx="15046957" cy="50797"/>
            <a:chOff x="0" y="0"/>
            <a:chExt cx="20062609" cy="67729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062571" cy="67691"/>
            </a:xfrm>
            <a:custGeom>
              <a:avLst/>
              <a:gdLst/>
              <a:ahLst/>
              <a:cxnLst/>
              <a:rect r="r" b="b" t="t" l="l"/>
              <a:pathLst>
                <a:path h="67691" w="20062571">
                  <a:moveTo>
                    <a:pt x="0" y="0"/>
                  </a:moveTo>
                  <a:lnTo>
                    <a:pt x="20062571" y="67691"/>
                  </a:lnTo>
                </a:path>
              </a:pathLst>
            </a:custGeom>
            <a:blipFill>
              <a:blip r:embed="rId2">
                <a:alphaModFix amt="0"/>
              </a:blip>
              <a:stretch>
                <a:fillRect l="0" t="-5725048" r="0" b="-5725104"/>
              </a:stretch>
            </a:blipFill>
            <a:ln w="50800" cap="sq">
              <a:solidFill>
                <a:srgbClr val="D3DEEA"/>
              </a:solidFill>
              <a:prstDash val="solid"/>
              <a:miter/>
            </a:ln>
          </p:spPr>
        </p:sp>
      </p:grpSp>
      <p:grpSp>
        <p:nvGrpSpPr>
          <p:cNvPr name="Group 12" id="12"/>
          <p:cNvGrpSpPr/>
          <p:nvPr/>
        </p:nvGrpSpPr>
        <p:grpSpPr>
          <a:xfrm rot="0">
            <a:off x="1389888" y="5486400"/>
            <a:ext cx="512064" cy="512064"/>
            <a:chOff x="0" y="0"/>
            <a:chExt cx="682752" cy="682752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682752" cy="682752"/>
            </a:xfrm>
            <a:custGeom>
              <a:avLst/>
              <a:gdLst/>
              <a:ahLst/>
              <a:cxnLst/>
              <a:rect r="r" b="b" t="t" l="l"/>
              <a:pathLst>
                <a:path h="682752" w="682752">
                  <a:moveTo>
                    <a:pt x="0" y="341376"/>
                  </a:moveTo>
                  <a:cubicBezTo>
                    <a:pt x="0" y="152781"/>
                    <a:pt x="152781" y="0"/>
                    <a:pt x="341376" y="0"/>
                  </a:cubicBezTo>
                  <a:cubicBezTo>
                    <a:pt x="529971" y="0"/>
                    <a:pt x="682752" y="152781"/>
                    <a:pt x="682752" y="341376"/>
                  </a:cubicBezTo>
                  <a:cubicBezTo>
                    <a:pt x="682752" y="529971"/>
                    <a:pt x="529971" y="682752"/>
                    <a:pt x="341376" y="682752"/>
                  </a:cubicBezTo>
                  <a:cubicBezTo>
                    <a:pt x="152781" y="682752"/>
                    <a:pt x="0" y="529971"/>
                    <a:pt x="0" y="341376"/>
                  </a:cubicBezTo>
                  <a:close/>
                </a:path>
              </a:pathLst>
            </a:custGeom>
            <a:solidFill>
              <a:srgbClr val="4A6FA5"/>
            </a:solid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91440" y="3931920"/>
            <a:ext cx="3108960" cy="731520"/>
            <a:chOff x="0" y="0"/>
            <a:chExt cx="4145280" cy="97536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4145280" cy="975360"/>
            </a:xfrm>
            <a:custGeom>
              <a:avLst/>
              <a:gdLst/>
              <a:ahLst/>
              <a:cxnLst/>
              <a:rect r="r" b="b" t="t" l="l"/>
              <a:pathLst>
                <a:path h="975360" w="4145280">
                  <a:moveTo>
                    <a:pt x="0" y="0"/>
                  </a:moveTo>
                  <a:lnTo>
                    <a:pt x="4145280" y="0"/>
                  </a:lnTo>
                  <a:lnTo>
                    <a:pt x="414528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2811" r="0" b="-32811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76200"/>
              <a:ext cx="4145280" cy="10515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800"/>
                </a:lnSpc>
              </a:pPr>
              <a:r>
                <a:rPr lang="en-US" sz="40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20XX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1440" y="4608576"/>
            <a:ext cx="3108960" cy="512064"/>
            <a:chOff x="0" y="0"/>
            <a:chExt cx="4145280" cy="682752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4145280" cy="682752"/>
            </a:xfrm>
            <a:custGeom>
              <a:avLst/>
              <a:gdLst/>
              <a:ahLst/>
              <a:cxnLst/>
              <a:rect r="r" b="b" t="t" l="l"/>
              <a:pathLst>
                <a:path h="682752" w="4145280">
                  <a:moveTo>
                    <a:pt x="0" y="0"/>
                  </a:moveTo>
                  <a:lnTo>
                    <a:pt x="4145280" y="0"/>
                  </a:lnTo>
                  <a:lnTo>
                    <a:pt x="4145280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68302" r="0" b="-68302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47625"/>
              <a:ext cx="4145280" cy="73037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640"/>
                </a:lnSpc>
              </a:pPr>
              <a:r>
                <a:rPr lang="en-US" sz="2200" b="true">
                  <a:solidFill>
                    <a:srgbClr val="38BDF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Marco 01</a:t>
              </a: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0" y="6261735"/>
            <a:ext cx="3291840" cy="16935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40"/>
              </a:lnSpc>
            </a:pPr>
            <a:r>
              <a:rPr lang="en-US" sz="2200">
                <a:solidFill>
                  <a:srgbClr val="7E8FA6"/>
                </a:solidFill>
                <a:latin typeface="Calibri (MS)"/>
                <a:ea typeface="Calibri (MS)"/>
                <a:cs typeface="Calibri (MS)"/>
                <a:sym typeface="Calibri (MS)"/>
              </a:rPr>
              <a:t>Lorem ipsum dolor sit amet consectetur elit.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5138928" y="5486400"/>
            <a:ext cx="512064" cy="512064"/>
            <a:chOff x="0" y="0"/>
            <a:chExt cx="682752" cy="682752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682752" cy="682752"/>
            </a:xfrm>
            <a:custGeom>
              <a:avLst/>
              <a:gdLst/>
              <a:ahLst/>
              <a:cxnLst/>
              <a:rect r="r" b="b" t="t" l="l"/>
              <a:pathLst>
                <a:path h="682752" w="682752">
                  <a:moveTo>
                    <a:pt x="0" y="341376"/>
                  </a:moveTo>
                  <a:cubicBezTo>
                    <a:pt x="0" y="152781"/>
                    <a:pt x="152781" y="0"/>
                    <a:pt x="341376" y="0"/>
                  </a:cubicBezTo>
                  <a:cubicBezTo>
                    <a:pt x="529971" y="0"/>
                    <a:pt x="682752" y="152781"/>
                    <a:pt x="682752" y="341376"/>
                  </a:cubicBezTo>
                  <a:cubicBezTo>
                    <a:pt x="682752" y="529971"/>
                    <a:pt x="529971" y="682752"/>
                    <a:pt x="341376" y="682752"/>
                  </a:cubicBezTo>
                  <a:cubicBezTo>
                    <a:pt x="152781" y="682752"/>
                    <a:pt x="0" y="529971"/>
                    <a:pt x="0" y="341376"/>
                  </a:cubicBezTo>
                  <a:close/>
                </a:path>
              </a:pathLst>
            </a:custGeom>
            <a:solidFill>
              <a:srgbClr val="4A6FA5"/>
            </a:solid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3840480" y="3931920"/>
            <a:ext cx="3108960" cy="731520"/>
            <a:chOff x="0" y="0"/>
            <a:chExt cx="4145280" cy="97536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4145280" cy="975360"/>
            </a:xfrm>
            <a:custGeom>
              <a:avLst/>
              <a:gdLst/>
              <a:ahLst/>
              <a:cxnLst/>
              <a:rect r="r" b="b" t="t" l="l"/>
              <a:pathLst>
                <a:path h="975360" w="4145280">
                  <a:moveTo>
                    <a:pt x="0" y="0"/>
                  </a:moveTo>
                  <a:lnTo>
                    <a:pt x="4145280" y="0"/>
                  </a:lnTo>
                  <a:lnTo>
                    <a:pt x="414528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2811" r="0" b="-32811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76200"/>
              <a:ext cx="4145280" cy="10515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800"/>
                </a:lnSpc>
              </a:pPr>
              <a:r>
                <a:rPr lang="en-US" sz="40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20XX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3840480" y="4608576"/>
            <a:ext cx="3108960" cy="512064"/>
            <a:chOff x="0" y="0"/>
            <a:chExt cx="4145280" cy="682752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4145280" cy="682752"/>
            </a:xfrm>
            <a:custGeom>
              <a:avLst/>
              <a:gdLst/>
              <a:ahLst/>
              <a:cxnLst/>
              <a:rect r="r" b="b" t="t" l="l"/>
              <a:pathLst>
                <a:path h="682752" w="4145280">
                  <a:moveTo>
                    <a:pt x="0" y="0"/>
                  </a:moveTo>
                  <a:lnTo>
                    <a:pt x="4145280" y="0"/>
                  </a:lnTo>
                  <a:lnTo>
                    <a:pt x="4145280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68302" r="0" b="-68302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47625"/>
              <a:ext cx="4145280" cy="73037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640"/>
                </a:lnSpc>
              </a:pPr>
              <a:r>
                <a:rPr lang="en-US" sz="2200" b="true">
                  <a:solidFill>
                    <a:srgbClr val="38BDF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Marco 02</a:t>
              </a:r>
            </a:p>
          </p:txBody>
        </p:sp>
      </p:grpSp>
      <p:sp>
        <p:nvSpPr>
          <p:cNvPr name="TextBox 29" id="29"/>
          <p:cNvSpPr txBox="true"/>
          <p:nvPr/>
        </p:nvSpPr>
        <p:spPr>
          <a:xfrm rot="0">
            <a:off x="3749040" y="6261735"/>
            <a:ext cx="3291840" cy="16935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40"/>
              </a:lnSpc>
            </a:pPr>
            <a:r>
              <a:rPr lang="en-US" sz="2200">
                <a:solidFill>
                  <a:srgbClr val="7E8FA6"/>
                </a:solidFill>
                <a:latin typeface="Calibri (MS)"/>
                <a:ea typeface="Calibri (MS)"/>
                <a:cs typeface="Calibri (MS)"/>
                <a:sym typeface="Calibri (MS)"/>
              </a:rPr>
              <a:t>Lorem ipsum dolor sit amet consectetur elit.</a:t>
            </a:r>
          </a:p>
        </p:txBody>
      </p:sp>
      <p:grpSp>
        <p:nvGrpSpPr>
          <p:cNvPr name="Group 30" id="30"/>
          <p:cNvGrpSpPr/>
          <p:nvPr/>
        </p:nvGrpSpPr>
        <p:grpSpPr>
          <a:xfrm rot="0">
            <a:off x="8887968" y="5486400"/>
            <a:ext cx="512064" cy="512064"/>
            <a:chOff x="0" y="0"/>
            <a:chExt cx="682752" cy="682752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682752" cy="682752"/>
            </a:xfrm>
            <a:custGeom>
              <a:avLst/>
              <a:gdLst/>
              <a:ahLst/>
              <a:cxnLst/>
              <a:rect r="r" b="b" t="t" l="l"/>
              <a:pathLst>
                <a:path h="682752" w="682752">
                  <a:moveTo>
                    <a:pt x="0" y="341376"/>
                  </a:moveTo>
                  <a:cubicBezTo>
                    <a:pt x="0" y="152781"/>
                    <a:pt x="152781" y="0"/>
                    <a:pt x="341376" y="0"/>
                  </a:cubicBezTo>
                  <a:cubicBezTo>
                    <a:pt x="529971" y="0"/>
                    <a:pt x="682752" y="152781"/>
                    <a:pt x="682752" y="341376"/>
                  </a:cubicBezTo>
                  <a:cubicBezTo>
                    <a:pt x="682752" y="529971"/>
                    <a:pt x="529971" y="682752"/>
                    <a:pt x="341376" y="682752"/>
                  </a:cubicBezTo>
                  <a:cubicBezTo>
                    <a:pt x="152781" y="682752"/>
                    <a:pt x="0" y="529971"/>
                    <a:pt x="0" y="341376"/>
                  </a:cubicBezTo>
                  <a:close/>
                </a:path>
              </a:pathLst>
            </a:custGeom>
            <a:solidFill>
              <a:srgbClr val="4A6FA5"/>
            </a:solidFill>
          </p:spPr>
        </p:sp>
      </p:grpSp>
      <p:grpSp>
        <p:nvGrpSpPr>
          <p:cNvPr name="Group 32" id="32"/>
          <p:cNvGrpSpPr/>
          <p:nvPr/>
        </p:nvGrpSpPr>
        <p:grpSpPr>
          <a:xfrm rot="0">
            <a:off x="7589520" y="3931920"/>
            <a:ext cx="3108960" cy="731520"/>
            <a:chOff x="0" y="0"/>
            <a:chExt cx="4145280" cy="97536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4145280" cy="975360"/>
            </a:xfrm>
            <a:custGeom>
              <a:avLst/>
              <a:gdLst/>
              <a:ahLst/>
              <a:cxnLst/>
              <a:rect r="r" b="b" t="t" l="l"/>
              <a:pathLst>
                <a:path h="975360" w="4145280">
                  <a:moveTo>
                    <a:pt x="0" y="0"/>
                  </a:moveTo>
                  <a:lnTo>
                    <a:pt x="4145280" y="0"/>
                  </a:lnTo>
                  <a:lnTo>
                    <a:pt x="414528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2811" r="0" b="-32811"/>
              </a:stretch>
            </a:blip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76200"/>
              <a:ext cx="4145280" cy="10515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800"/>
                </a:lnSpc>
              </a:pPr>
              <a:r>
                <a:rPr lang="en-US" sz="40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20XX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7589520" y="4608576"/>
            <a:ext cx="3108960" cy="512064"/>
            <a:chOff x="0" y="0"/>
            <a:chExt cx="4145280" cy="682752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4145280" cy="682752"/>
            </a:xfrm>
            <a:custGeom>
              <a:avLst/>
              <a:gdLst/>
              <a:ahLst/>
              <a:cxnLst/>
              <a:rect r="r" b="b" t="t" l="l"/>
              <a:pathLst>
                <a:path h="682752" w="4145280">
                  <a:moveTo>
                    <a:pt x="0" y="0"/>
                  </a:moveTo>
                  <a:lnTo>
                    <a:pt x="4145280" y="0"/>
                  </a:lnTo>
                  <a:lnTo>
                    <a:pt x="4145280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68302" r="0" b="-68302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47625"/>
              <a:ext cx="4145280" cy="73037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640"/>
                </a:lnSpc>
              </a:pPr>
              <a:r>
                <a:rPr lang="en-US" sz="2200" b="true">
                  <a:solidFill>
                    <a:srgbClr val="38BDF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Marco 03</a:t>
              </a: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7498080" y="6261735"/>
            <a:ext cx="3291840" cy="16935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40"/>
              </a:lnSpc>
            </a:pPr>
            <a:r>
              <a:rPr lang="en-US" sz="2200">
                <a:solidFill>
                  <a:srgbClr val="7E8FA6"/>
                </a:solidFill>
                <a:latin typeface="Calibri (MS)"/>
                <a:ea typeface="Calibri (MS)"/>
                <a:cs typeface="Calibri (MS)"/>
                <a:sym typeface="Calibri (MS)"/>
              </a:rPr>
              <a:t>Lorem ipsum dolor sit amet consectetur elit.</a:t>
            </a:r>
          </a:p>
        </p:txBody>
      </p:sp>
      <p:grpSp>
        <p:nvGrpSpPr>
          <p:cNvPr name="Group 39" id="39"/>
          <p:cNvGrpSpPr/>
          <p:nvPr/>
        </p:nvGrpSpPr>
        <p:grpSpPr>
          <a:xfrm rot="0">
            <a:off x="12637008" y="5486400"/>
            <a:ext cx="512064" cy="512064"/>
            <a:chOff x="0" y="0"/>
            <a:chExt cx="682752" cy="682752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682752" cy="682752"/>
            </a:xfrm>
            <a:custGeom>
              <a:avLst/>
              <a:gdLst/>
              <a:ahLst/>
              <a:cxnLst/>
              <a:rect r="r" b="b" t="t" l="l"/>
              <a:pathLst>
                <a:path h="682752" w="682752">
                  <a:moveTo>
                    <a:pt x="0" y="341376"/>
                  </a:moveTo>
                  <a:cubicBezTo>
                    <a:pt x="0" y="152781"/>
                    <a:pt x="152781" y="0"/>
                    <a:pt x="341376" y="0"/>
                  </a:cubicBezTo>
                  <a:cubicBezTo>
                    <a:pt x="529971" y="0"/>
                    <a:pt x="682752" y="152781"/>
                    <a:pt x="682752" y="341376"/>
                  </a:cubicBezTo>
                  <a:cubicBezTo>
                    <a:pt x="682752" y="529971"/>
                    <a:pt x="529971" y="682752"/>
                    <a:pt x="341376" y="682752"/>
                  </a:cubicBezTo>
                  <a:cubicBezTo>
                    <a:pt x="152781" y="682752"/>
                    <a:pt x="0" y="529971"/>
                    <a:pt x="0" y="341376"/>
                  </a:cubicBezTo>
                  <a:close/>
                </a:path>
              </a:pathLst>
            </a:custGeom>
            <a:solidFill>
              <a:srgbClr val="4A6FA5"/>
            </a:solidFill>
          </p:spPr>
        </p:sp>
      </p:grpSp>
      <p:grpSp>
        <p:nvGrpSpPr>
          <p:cNvPr name="Group 41" id="41"/>
          <p:cNvGrpSpPr/>
          <p:nvPr/>
        </p:nvGrpSpPr>
        <p:grpSpPr>
          <a:xfrm rot="0">
            <a:off x="11338560" y="3931920"/>
            <a:ext cx="3108960" cy="731520"/>
            <a:chOff x="0" y="0"/>
            <a:chExt cx="4145280" cy="97536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4145280" cy="975360"/>
            </a:xfrm>
            <a:custGeom>
              <a:avLst/>
              <a:gdLst/>
              <a:ahLst/>
              <a:cxnLst/>
              <a:rect r="r" b="b" t="t" l="l"/>
              <a:pathLst>
                <a:path h="975360" w="4145280">
                  <a:moveTo>
                    <a:pt x="0" y="0"/>
                  </a:moveTo>
                  <a:lnTo>
                    <a:pt x="4145280" y="0"/>
                  </a:lnTo>
                  <a:lnTo>
                    <a:pt x="414528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2811" r="0" b="-32811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76200"/>
              <a:ext cx="4145280" cy="10515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800"/>
                </a:lnSpc>
              </a:pPr>
              <a:r>
                <a:rPr lang="en-US" sz="40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20XX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11338560" y="4608576"/>
            <a:ext cx="3108960" cy="512064"/>
            <a:chOff x="0" y="0"/>
            <a:chExt cx="4145280" cy="682752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4145280" cy="682752"/>
            </a:xfrm>
            <a:custGeom>
              <a:avLst/>
              <a:gdLst/>
              <a:ahLst/>
              <a:cxnLst/>
              <a:rect r="r" b="b" t="t" l="l"/>
              <a:pathLst>
                <a:path h="682752" w="4145280">
                  <a:moveTo>
                    <a:pt x="0" y="0"/>
                  </a:moveTo>
                  <a:lnTo>
                    <a:pt x="4145280" y="0"/>
                  </a:lnTo>
                  <a:lnTo>
                    <a:pt x="4145280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68302" r="0" b="-68302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47625"/>
              <a:ext cx="4145280" cy="73037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640"/>
                </a:lnSpc>
              </a:pPr>
              <a:r>
                <a:rPr lang="en-US" sz="2200" b="true">
                  <a:solidFill>
                    <a:srgbClr val="38BDF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Marco 04</a:t>
              </a:r>
            </a:p>
          </p:txBody>
        </p:sp>
      </p:grpSp>
      <p:sp>
        <p:nvSpPr>
          <p:cNvPr name="TextBox 47" id="47"/>
          <p:cNvSpPr txBox="true"/>
          <p:nvPr/>
        </p:nvSpPr>
        <p:spPr>
          <a:xfrm rot="0">
            <a:off x="11247120" y="6261735"/>
            <a:ext cx="3291840" cy="16935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40"/>
              </a:lnSpc>
            </a:pPr>
            <a:r>
              <a:rPr lang="en-US" sz="2200">
                <a:solidFill>
                  <a:srgbClr val="7E8FA6"/>
                </a:solidFill>
                <a:latin typeface="Calibri (MS)"/>
                <a:ea typeface="Calibri (MS)"/>
                <a:cs typeface="Calibri (MS)"/>
                <a:sym typeface="Calibri (MS)"/>
              </a:rPr>
              <a:t>Lorem ipsum dolor sit amet consectetur elit.</a:t>
            </a:r>
          </a:p>
        </p:txBody>
      </p:sp>
      <p:grpSp>
        <p:nvGrpSpPr>
          <p:cNvPr name="Group 48" id="48"/>
          <p:cNvGrpSpPr/>
          <p:nvPr/>
        </p:nvGrpSpPr>
        <p:grpSpPr>
          <a:xfrm rot="0">
            <a:off x="16386048" y="5486400"/>
            <a:ext cx="512064" cy="512064"/>
            <a:chOff x="0" y="0"/>
            <a:chExt cx="682752" cy="682752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682752" cy="682752"/>
            </a:xfrm>
            <a:custGeom>
              <a:avLst/>
              <a:gdLst/>
              <a:ahLst/>
              <a:cxnLst/>
              <a:rect r="r" b="b" t="t" l="l"/>
              <a:pathLst>
                <a:path h="682752" w="682752">
                  <a:moveTo>
                    <a:pt x="0" y="341376"/>
                  </a:moveTo>
                  <a:cubicBezTo>
                    <a:pt x="0" y="152781"/>
                    <a:pt x="152781" y="0"/>
                    <a:pt x="341376" y="0"/>
                  </a:cubicBezTo>
                  <a:cubicBezTo>
                    <a:pt x="529971" y="0"/>
                    <a:pt x="682752" y="152781"/>
                    <a:pt x="682752" y="341376"/>
                  </a:cubicBezTo>
                  <a:cubicBezTo>
                    <a:pt x="682752" y="529971"/>
                    <a:pt x="529971" y="682752"/>
                    <a:pt x="341376" y="682752"/>
                  </a:cubicBezTo>
                  <a:cubicBezTo>
                    <a:pt x="152781" y="682752"/>
                    <a:pt x="0" y="529971"/>
                    <a:pt x="0" y="341376"/>
                  </a:cubicBezTo>
                  <a:close/>
                </a:path>
              </a:pathLst>
            </a:custGeom>
            <a:solidFill>
              <a:srgbClr val="38BDF8"/>
            </a:solidFill>
          </p:spPr>
        </p:sp>
      </p:grpSp>
      <p:grpSp>
        <p:nvGrpSpPr>
          <p:cNvPr name="Group 50" id="50"/>
          <p:cNvGrpSpPr/>
          <p:nvPr/>
        </p:nvGrpSpPr>
        <p:grpSpPr>
          <a:xfrm rot="0">
            <a:off x="15087600" y="3931920"/>
            <a:ext cx="3108960" cy="731520"/>
            <a:chOff x="0" y="0"/>
            <a:chExt cx="4145280" cy="97536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4145280" cy="975360"/>
            </a:xfrm>
            <a:custGeom>
              <a:avLst/>
              <a:gdLst/>
              <a:ahLst/>
              <a:cxnLst/>
              <a:rect r="r" b="b" t="t" l="l"/>
              <a:pathLst>
                <a:path h="975360" w="4145280">
                  <a:moveTo>
                    <a:pt x="0" y="0"/>
                  </a:moveTo>
                  <a:lnTo>
                    <a:pt x="4145280" y="0"/>
                  </a:lnTo>
                  <a:lnTo>
                    <a:pt x="414528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2811" r="0" b="-32811"/>
              </a:stretch>
            </a:blipFill>
          </p:spPr>
        </p:sp>
        <p:sp>
          <p:nvSpPr>
            <p:cNvPr name="TextBox 52" id="52"/>
            <p:cNvSpPr txBox="true"/>
            <p:nvPr/>
          </p:nvSpPr>
          <p:spPr>
            <a:xfrm>
              <a:off x="0" y="-76200"/>
              <a:ext cx="4145280" cy="10515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800"/>
                </a:lnSpc>
              </a:pPr>
              <a:r>
                <a:rPr lang="en-US" sz="40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20XX</a:t>
              </a:r>
            </a:p>
          </p:txBody>
        </p:sp>
      </p:grpSp>
      <p:grpSp>
        <p:nvGrpSpPr>
          <p:cNvPr name="Group 53" id="53"/>
          <p:cNvGrpSpPr/>
          <p:nvPr/>
        </p:nvGrpSpPr>
        <p:grpSpPr>
          <a:xfrm rot="0">
            <a:off x="15087600" y="4608576"/>
            <a:ext cx="3108960" cy="512064"/>
            <a:chOff x="0" y="0"/>
            <a:chExt cx="4145280" cy="682752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4145280" cy="682752"/>
            </a:xfrm>
            <a:custGeom>
              <a:avLst/>
              <a:gdLst/>
              <a:ahLst/>
              <a:cxnLst/>
              <a:rect r="r" b="b" t="t" l="l"/>
              <a:pathLst>
                <a:path h="682752" w="4145280">
                  <a:moveTo>
                    <a:pt x="0" y="0"/>
                  </a:moveTo>
                  <a:lnTo>
                    <a:pt x="4145280" y="0"/>
                  </a:lnTo>
                  <a:lnTo>
                    <a:pt x="4145280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68302" r="0" b="-68302"/>
              </a:stretch>
            </a:blipFill>
          </p:spPr>
        </p:sp>
        <p:sp>
          <p:nvSpPr>
            <p:cNvPr name="TextBox 55" id="55"/>
            <p:cNvSpPr txBox="true"/>
            <p:nvPr/>
          </p:nvSpPr>
          <p:spPr>
            <a:xfrm>
              <a:off x="0" y="-47625"/>
              <a:ext cx="4145280" cy="73037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640"/>
                </a:lnSpc>
              </a:pPr>
              <a:r>
                <a:rPr lang="en-US" sz="2200" b="true">
                  <a:solidFill>
                    <a:srgbClr val="38BDF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Marco 05</a:t>
              </a:r>
            </a:p>
          </p:txBody>
        </p:sp>
      </p:grpSp>
      <p:sp>
        <p:nvSpPr>
          <p:cNvPr name="TextBox 56" id="56"/>
          <p:cNvSpPr txBox="true"/>
          <p:nvPr/>
        </p:nvSpPr>
        <p:spPr>
          <a:xfrm rot="0">
            <a:off x="14996160" y="6261735"/>
            <a:ext cx="3291840" cy="16935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40"/>
              </a:lnSpc>
            </a:pPr>
            <a:r>
              <a:rPr lang="en-US" sz="2200">
                <a:solidFill>
                  <a:srgbClr val="7E8FA6"/>
                </a:solidFill>
                <a:latin typeface="Calibri (MS)"/>
                <a:ea typeface="Calibri (MS)"/>
                <a:cs typeface="Calibri (MS)"/>
                <a:sym typeface="Calibri (MS)"/>
              </a:rPr>
              <a:t>Lorem ipsum dolor sit amet consectetur elit.</a:t>
            </a:r>
          </a:p>
        </p:txBody>
      </p:sp>
      <p:grpSp>
        <p:nvGrpSpPr>
          <p:cNvPr name="Group 57" id="57"/>
          <p:cNvGrpSpPr/>
          <p:nvPr/>
        </p:nvGrpSpPr>
        <p:grpSpPr>
          <a:xfrm rot="0">
            <a:off x="1005840" y="2743200"/>
            <a:ext cx="16276320" cy="1005840"/>
            <a:chOff x="0" y="0"/>
            <a:chExt cx="21701760" cy="1341120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21701761" cy="1341120"/>
            </a:xfrm>
            <a:custGeom>
              <a:avLst/>
              <a:gdLst/>
              <a:ahLst/>
              <a:cxnLst/>
              <a:rect r="r" b="b" t="t" l="l"/>
              <a:pathLst>
                <a:path h="1341120" w="21701761">
                  <a:moveTo>
                    <a:pt x="0" y="0"/>
                  </a:moveTo>
                  <a:lnTo>
                    <a:pt x="21701761" y="0"/>
                  </a:lnTo>
                  <a:lnTo>
                    <a:pt x="21701761" y="1341120"/>
                  </a:lnTo>
                  <a:lnTo>
                    <a:pt x="0" y="13411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65303" r="0" b="-265303"/>
              </a:stretch>
            </a:blipFill>
          </p:spPr>
        </p:sp>
        <p:sp>
          <p:nvSpPr>
            <p:cNvPr name="TextBox 59" id="59"/>
            <p:cNvSpPr txBox="true"/>
            <p:nvPr/>
          </p:nvSpPr>
          <p:spPr>
            <a:xfrm>
              <a:off x="0" y="-76200"/>
              <a:ext cx="21701760" cy="14173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800"/>
                </a:lnSpc>
              </a:pPr>
              <a:r>
                <a:rPr lang="en-US" sz="4000">
                  <a:solidFill>
                    <a:srgbClr val="3A4C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Lorem ipsum dolor sit amet, consectetur adipiscing elit. Sed do eiusmod tempor incididunt ut labore et dolore magna aliqua.</a:t>
              </a:r>
            </a:p>
          </p:txBody>
        </p:sp>
      </p:grpSp>
      <p:grpSp>
        <p:nvGrpSpPr>
          <p:cNvPr name="Group 60" id="60"/>
          <p:cNvGrpSpPr/>
          <p:nvPr/>
        </p:nvGrpSpPr>
        <p:grpSpPr>
          <a:xfrm rot="0">
            <a:off x="1005840" y="9692640"/>
            <a:ext cx="10058400" cy="457200"/>
            <a:chOff x="0" y="0"/>
            <a:chExt cx="13411200" cy="609600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13411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3411200">
                  <a:moveTo>
                    <a:pt x="0" y="0"/>
                  </a:moveTo>
                  <a:lnTo>
                    <a:pt x="13411200" y="0"/>
                  </a:lnTo>
                  <a:lnTo>
                    <a:pt x="13411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78670" r="0" b="-378670"/>
              </a:stretch>
            </a:blipFill>
          </p:spPr>
        </p:sp>
        <p:sp>
          <p:nvSpPr>
            <p:cNvPr name="TextBox 62" id="62"/>
            <p:cNvSpPr txBox="true"/>
            <p:nvPr/>
          </p:nvSpPr>
          <p:spPr>
            <a:xfrm>
              <a:off x="0" y="-38100"/>
              <a:ext cx="13411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7E8F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Seminário de IoT — Segurança em IoT · Grupo 6</a:t>
              </a:r>
            </a:p>
          </p:txBody>
        </p:sp>
      </p:grpSp>
      <p:grpSp>
        <p:nvGrpSpPr>
          <p:cNvPr name="Group 63" id="63"/>
          <p:cNvGrpSpPr/>
          <p:nvPr/>
        </p:nvGrpSpPr>
        <p:grpSpPr>
          <a:xfrm rot="0">
            <a:off x="16367760" y="9692640"/>
            <a:ext cx="914400" cy="457200"/>
            <a:chOff x="0" y="0"/>
            <a:chExt cx="1219200" cy="609600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1219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65" id="65"/>
            <p:cNvSpPr txBox="true"/>
            <p:nvPr/>
          </p:nvSpPr>
          <p:spPr>
            <a:xfrm>
              <a:off x="0" y="-38100"/>
              <a:ext cx="1219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7E8F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10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05840" y="914400"/>
            <a:ext cx="621792" cy="559613"/>
            <a:chOff x="0" y="0"/>
            <a:chExt cx="829056" cy="74615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29056" cy="746125"/>
            </a:xfrm>
            <a:custGeom>
              <a:avLst/>
              <a:gdLst/>
              <a:ahLst/>
              <a:cxnLst/>
              <a:rect r="r" b="b" t="t" l="l"/>
              <a:pathLst>
                <a:path h="746125" w="829056">
                  <a:moveTo>
                    <a:pt x="0" y="373126"/>
                  </a:moveTo>
                  <a:lnTo>
                    <a:pt x="186563" y="0"/>
                  </a:lnTo>
                  <a:lnTo>
                    <a:pt x="642493" y="0"/>
                  </a:lnTo>
                  <a:lnTo>
                    <a:pt x="829056" y="373126"/>
                  </a:lnTo>
                  <a:lnTo>
                    <a:pt x="642493" y="746125"/>
                  </a:lnTo>
                  <a:lnTo>
                    <a:pt x="186563" y="746125"/>
                  </a:lnTo>
                  <a:close/>
                </a:path>
              </a:pathLst>
            </a:custGeom>
            <a:solidFill>
              <a:srgbClr val="38BDF8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865376" y="859536"/>
            <a:ext cx="13898880" cy="475488"/>
            <a:chOff x="0" y="0"/>
            <a:chExt cx="18531840" cy="63398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8531839" cy="633984"/>
            </a:xfrm>
            <a:custGeom>
              <a:avLst/>
              <a:gdLst/>
              <a:ahLst/>
              <a:cxnLst/>
              <a:rect r="r" b="b" t="t" l="l"/>
              <a:pathLst>
                <a:path h="633984" w="18531839">
                  <a:moveTo>
                    <a:pt x="0" y="0"/>
                  </a:moveTo>
                  <a:lnTo>
                    <a:pt x="18531839" y="0"/>
                  </a:lnTo>
                  <a:lnTo>
                    <a:pt x="18531839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19562" r="0" b="-519562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18531840" cy="68160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b="true" sz="2200" spc="399">
                  <a:solidFill>
                    <a:srgbClr val="4A6FA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FUNDAMENTAÇÃO TEÓRICA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005840" y="1426464"/>
            <a:ext cx="15727680" cy="1097280"/>
            <a:chOff x="0" y="0"/>
            <a:chExt cx="20970240" cy="146304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0970239" cy="1463040"/>
            </a:xfrm>
            <a:custGeom>
              <a:avLst/>
              <a:gdLst/>
              <a:ahLst/>
              <a:cxnLst/>
              <a:rect r="r" b="b" t="t" l="l"/>
              <a:pathLst>
                <a:path h="1463040" w="20970239">
                  <a:moveTo>
                    <a:pt x="0" y="0"/>
                  </a:moveTo>
                  <a:lnTo>
                    <a:pt x="20970239" y="0"/>
                  </a:lnTo>
                  <a:lnTo>
                    <a:pt x="20970239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29285" r="0" b="-229285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42875"/>
              <a:ext cx="20970240" cy="16059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920"/>
                </a:lnSpc>
              </a:pPr>
              <a:r>
                <a:rPr lang="en-US" sz="66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Definições Fundamentais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993143" y="2821943"/>
            <a:ext cx="7980683" cy="3097787"/>
            <a:chOff x="0" y="0"/>
            <a:chExt cx="10640911" cy="413038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0640949" cy="4130421"/>
            </a:xfrm>
            <a:custGeom>
              <a:avLst/>
              <a:gdLst/>
              <a:ahLst/>
              <a:cxnLst/>
              <a:rect r="r" b="b" t="t" l="l"/>
              <a:pathLst>
                <a:path h="4130421" w="10640949">
                  <a:moveTo>
                    <a:pt x="0" y="196723"/>
                  </a:moveTo>
                  <a:cubicBezTo>
                    <a:pt x="0" y="88011"/>
                    <a:pt x="88011" y="0"/>
                    <a:pt x="196723" y="0"/>
                  </a:cubicBezTo>
                  <a:lnTo>
                    <a:pt x="10444226" y="0"/>
                  </a:lnTo>
                  <a:cubicBezTo>
                    <a:pt x="10552811" y="0"/>
                    <a:pt x="10640949" y="88011"/>
                    <a:pt x="10640949" y="196723"/>
                  </a:cubicBezTo>
                  <a:lnTo>
                    <a:pt x="10640949" y="3933698"/>
                  </a:lnTo>
                  <a:cubicBezTo>
                    <a:pt x="10640949" y="4042283"/>
                    <a:pt x="10552938" y="4130421"/>
                    <a:pt x="10444226" y="4130421"/>
                  </a:cubicBezTo>
                  <a:lnTo>
                    <a:pt x="196723" y="4130421"/>
                  </a:lnTo>
                  <a:cubicBezTo>
                    <a:pt x="88011" y="4130421"/>
                    <a:pt x="0" y="4042283"/>
                    <a:pt x="0" y="3933698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3DEEA"/>
              </a:solidFill>
              <a:prstDash val="solid"/>
              <a:miter/>
            </a:ln>
          </p:spPr>
        </p:sp>
      </p:grpSp>
      <p:grpSp>
        <p:nvGrpSpPr>
          <p:cNvPr name="Group 12" id="12"/>
          <p:cNvGrpSpPr/>
          <p:nvPr/>
        </p:nvGrpSpPr>
        <p:grpSpPr>
          <a:xfrm rot="0">
            <a:off x="1463040" y="3291840"/>
            <a:ext cx="1133856" cy="1133856"/>
            <a:chOff x="0" y="0"/>
            <a:chExt cx="1511808" cy="1511808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511808" cy="1511808"/>
            </a:xfrm>
            <a:custGeom>
              <a:avLst/>
              <a:gdLst/>
              <a:ahLst/>
              <a:cxnLst/>
              <a:rect r="r" b="b" t="t" l="l"/>
              <a:pathLst>
                <a:path h="1511808" w="1511808">
                  <a:moveTo>
                    <a:pt x="0" y="755904"/>
                  </a:moveTo>
                  <a:cubicBezTo>
                    <a:pt x="0" y="338455"/>
                    <a:pt x="338455" y="0"/>
                    <a:pt x="755904" y="0"/>
                  </a:cubicBezTo>
                  <a:cubicBezTo>
                    <a:pt x="1173353" y="0"/>
                    <a:pt x="1511808" y="338455"/>
                    <a:pt x="1511808" y="755904"/>
                  </a:cubicBezTo>
                  <a:cubicBezTo>
                    <a:pt x="1511808" y="1173353"/>
                    <a:pt x="1173353" y="1511808"/>
                    <a:pt x="755904" y="1511808"/>
                  </a:cubicBezTo>
                  <a:cubicBezTo>
                    <a:pt x="338455" y="1511808"/>
                    <a:pt x="0" y="1173353"/>
                    <a:pt x="0" y="755904"/>
                  </a:cubicBezTo>
                  <a:close/>
                </a:path>
              </a:pathLst>
            </a:custGeom>
            <a:solidFill>
              <a:srgbClr val="4A6FA5"/>
            </a:solid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1755648" y="3584448"/>
            <a:ext cx="548640" cy="548640"/>
            <a:chOff x="0" y="0"/>
            <a:chExt cx="731520" cy="731520"/>
          </a:xfrm>
        </p:grpSpPr>
        <p:sp>
          <p:nvSpPr>
            <p:cNvPr name="Freeform 15" id="15" descr="/home/claude/icons/FiFileText_FFFFFF.png"/>
            <p:cNvSpPr/>
            <p:nvPr/>
          </p:nvSpPr>
          <p:spPr>
            <a:xfrm flipH="false" flipV="false" rot="0">
              <a:off x="0" y="0"/>
              <a:ext cx="731520" cy="731520"/>
            </a:xfrm>
            <a:custGeom>
              <a:avLst/>
              <a:gdLst/>
              <a:ahLst/>
              <a:cxnLst/>
              <a:rect r="r" b="b" t="t" l="l"/>
              <a:pathLst>
                <a:path h="73152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731520"/>
                  </a:lnTo>
                  <a:lnTo>
                    <a:pt x="0" y="7315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2926080" y="3291840"/>
            <a:ext cx="5577840" cy="640080"/>
            <a:chOff x="0" y="0"/>
            <a:chExt cx="7437120" cy="85344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7437120" cy="853440"/>
            </a:xfrm>
            <a:custGeom>
              <a:avLst/>
              <a:gdLst/>
              <a:ahLst/>
              <a:cxnLst/>
              <a:rect r="r" b="b" t="t" l="l"/>
              <a:pathLst>
                <a:path h="853440" w="7437120">
                  <a:moveTo>
                    <a:pt x="0" y="0"/>
                  </a:moveTo>
                  <a:lnTo>
                    <a:pt x="7437120" y="0"/>
                  </a:lnTo>
                  <a:lnTo>
                    <a:pt x="743712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19798" r="0" b="-119798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76200"/>
              <a:ext cx="7437120" cy="9296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800"/>
                </a:lnSpc>
              </a:pPr>
              <a:r>
                <a:rPr lang="en-US" sz="40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Objetivo 01 — Lorem ipsum</a:t>
              </a: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2926080" y="3957447"/>
            <a:ext cx="5577840" cy="16935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7E8FA6"/>
                </a:solidFill>
                <a:latin typeface="Calibri (MS)"/>
                <a:ea typeface="Calibri (MS)"/>
                <a:cs typeface="Calibri (MS)"/>
                <a:sym typeface="Calibri (MS)"/>
              </a:rPr>
              <a:t>Lorem ipsum dolor sit amet, consectetur adipiscing elit. Sed do eiusmod tempor incididunt ut labore et dolore magna aliqua.</a:t>
            </a:r>
          </a:p>
        </p:txBody>
      </p:sp>
      <p:grpSp>
        <p:nvGrpSpPr>
          <p:cNvPr name="Group 20" id="20"/>
          <p:cNvGrpSpPr/>
          <p:nvPr/>
        </p:nvGrpSpPr>
        <p:grpSpPr>
          <a:xfrm rot="0">
            <a:off x="9314183" y="2821943"/>
            <a:ext cx="7980683" cy="3097787"/>
            <a:chOff x="0" y="0"/>
            <a:chExt cx="10640911" cy="4130383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0640949" cy="4130421"/>
            </a:xfrm>
            <a:custGeom>
              <a:avLst/>
              <a:gdLst/>
              <a:ahLst/>
              <a:cxnLst/>
              <a:rect r="r" b="b" t="t" l="l"/>
              <a:pathLst>
                <a:path h="4130421" w="10640949">
                  <a:moveTo>
                    <a:pt x="0" y="196723"/>
                  </a:moveTo>
                  <a:cubicBezTo>
                    <a:pt x="0" y="88011"/>
                    <a:pt x="88011" y="0"/>
                    <a:pt x="196723" y="0"/>
                  </a:cubicBezTo>
                  <a:lnTo>
                    <a:pt x="10444226" y="0"/>
                  </a:lnTo>
                  <a:cubicBezTo>
                    <a:pt x="10552811" y="0"/>
                    <a:pt x="10640949" y="88011"/>
                    <a:pt x="10640949" y="196723"/>
                  </a:cubicBezTo>
                  <a:lnTo>
                    <a:pt x="10640949" y="3933698"/>
                  </a:lnTo>
                  <a:cubicBezTo>
                    <a:pt x="10640949" y="4042283"/>
                    <a:pt x="10552938" y="4130421"/>
                    <a:pt x="10444226" y="4130421"/>
                  </a:cubicBezTo>
                  <a:lnTo>
                    <a:pt x="196723" y="4130421"/>
                  </a:lnTo>
                  <a:cubicBezTo>
                    <a:pt x="88011" y="4130421"/>
                    <a:pt x="0" y="4042283"/>
                    <a:pt x="0" y="3933698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3DEEA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9784080" y="3291840"/>
            <a:ext cx="1133856" cy="1133856"/>
            <a:chOff x="0" y="0"/>
            <a:chExt cx="1511808" cy="1511808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511808" cy="1511808"/>
            </a:xfrm>
            <a:custGeom>
              <a:avLst/>
              <a:gdLst/>
              <a:ahLst/>
              <a:cxnLst/>
              <a:rect r="r" b="b" t="t" l="l"/>
              <a:pathLst>
                <a:path h="1511808" w="1511808">
                  <a:moveTo>
                    <a:pt x="0" y="755904"/>
                  </a:moveTo>
                  <a:cubicBezTo>
                    <a:pt x="0" y="338455"/>
                    <a:pt x="338455" y="0"/>
                    <a:pt x="755904" y="0"/>
                  </a:cubicBezTo>
                  <a:cubicBezTo>
                    <a:pt x="1173353" y="0"/>
                    <a:pt x="1511808" y="338455"/>
                    <a:pt x="1511808" y="755904"/>
                  </a:cubicBezTo>
                  <a:cubicBezTo>
                    <a:pt x="1511808" y="1173353"/>
                    <a:pt x="1173353" y="1511808"/>
                    <a:pt x="755904" y="1511808"/>
                  </a:cubicBezTo>
                  <a:cubicBezTo>
                    <a:pt x="338455" y="1511808"/>
                    <a:pt x="0" y="1173353"/>
                    <a:pt x="0" y="755904"/>
                  </a:cubicBezTo>
                  <a:close/>
                </a:path>
              </a:pathLst>
            </a:custGeom>
            <a:solidFill>
              <a:srgbClr val="4A6FA5"/>
            </a:solid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10076688" y="3584448"/>
            <a:ext cx="548640" cy="548640"/>
            <a:chOff x="0" y="0"/>
            <a:chExt cx="731520" cy="731520"/>
          </a:xfrm>
        </p:grpSpPr>
        <p:sp>
          <p:nvSpPr>
            <p:cNvPr name="Freeform 25" id="25" descr="/home/claude/icons/FiLink_FFFFFF.png"/>
            <p:cNvSpPr/>
            <p:nvPr/>
          </p:nvSpPr>
          <p:spPr>
            <a:xfrm flipH="false" flipV="false" rot="0">
              <a:off x="0" y="0"/>
              <a:ext cx="731520" cy="731520"/>
            </a:xfrm>
            <a:custGeom>
              <a:avLst/>
              <a:gdLst/>
              <a:ahLst/>
              <a:cxnLst/>
              <a:rect r="r" b="b" t="t" l="l"/>
              <a:pathLst>
                <a:path h="73152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731520"/>
                  </a:lnTo>
                  <a:lnTo>
                    <a:pt x="0" y="7315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11247120" y="3291840"/>
            <a:ext cx="5577840" cy="640080"/>
            <a:chOff x="0" y="0"/>
            <a:chExt cx="7437120" cy="85344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7437120" cy="853440"/>
            </a:xfrm>
            <a:custGeom>
              <a:avLst/>
              <a:gdLst/>
              <a:ahLst/>
              <a:cxnLst/>
              <a:rect r="r" b="b" t="t" l="l"/>
              <a:pathLst>
                <a:path h="853440" w="7437120">
                  <a:moveTo>
                    <a:pt x="0" y="0"/>
                  </a:moveTo>
                  <a:lnTo>
                    <a:pt x="7437120" y="0"/>
                  </a:lnTo>
                  <a:lnTo>
                    <a:pt x="743712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19798" r="0" b="-119798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76200"/>
              <a:ext cx="7437120" cy="9296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800"/>
                </a:lnSpc>
              </a:pPr>
              <a:r>
                <a:rPr lang="en-US" sz="40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Objetivo 02 — Lorem ipsum</a:t>
              </a:r>
            </a:p>
          </p:txBody>
        </p:sp>
      </p:grpSp>
      <p:sp>
        <p:nvSpPr>
          <p:cNvPr name="TextBox 29" id="29"/>
          <p:cNvSpPr txBox="true"/>
          <p:nvPr/>
        </p:nvSpPr>
        <p:spPr>
          <a:xfrm rot="0">
            <a:off x="11247120" y="3957447"/>
            <a:ext cx="5577840" cy="16935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7E8FA6"/>
                </a:solidFill>
                <a:latin typeface="Calibri (MS)"/>
                <a:ea typeface="Calibri (MS)"/>
                <a:cs typeface="Calibri (MS)"/>
                <a:sym typeface="Calibri (MS)"/>
              </a:rPr>
              <a:t>Lorem ipsum dolor sit amet, consectetur adipiscing elit. Sed do eiusmod tempor incididunt ut labore et dolore magna aliqua.</a:t>
            </a:r>
          </a:p>
        </p:txBody>
      </p:sp>
      <p:grpSp>
        <p:nvGrpSpPr>
          <p:cNvPr name="Group 30" id="30"/>
          <p:cNvGrpSpPr/>
          <p:nvPr/>
        </p:nvGrpSpPr>
        <p:grpSpPr>
          <a:xfrm rot="0">
            <a:off x="993143" y="6260087"/>
            <a:ext cx="7980683" cy="3097787"/>
            <a:chOff x="0" y="0"/>
            <a:chExt cx="10640911" cy="4130383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0640949" cy="4130421"/>
            </a:xfrm>
            <a:custGeom>
              <a:avLst/>
              <a:gdLst/>
              <a:ahLst/>
              <a:cxnLst/>
              <a:rect r="r" b="b" t="t" l="l"/>
              <a:pathLst>
                <a:path h="4130421" w="10640949">
                  <a:moveTo>
                    <a:pt x="0" y="196723"/>
                  </a:moveTo>
                  <a:cubicBezTo>
                    <a:pt x="0" y="88011"/>
                    <a:pt x="88011" y="0"/>
                    <a:pt x="196723" y="0"/>
                  </a:cubicBezTo>
                  <a:lnTo>
                    <a:pt x="10444226" y="0"/>
                  </a:lnTo>
                  <a:cubicBezTo>
                    <a:pt x="10552811" y="0"/>
                    <a:pt x="10640949" y="88011"/>
                    <a:pt x="10640949" y="196723"/>
                  </a:cubicBezTo>
                  <a:lnTo>
                    <a:pt x="10640949" y="3933698"/>
                  </a:lnTo>
                  <a:cubicBezTo>
                    <a:pt x="10640949" y="4042283"/>
                    <a:pt x="10552938" y="4130421"/>
                    <a:pt x="10444226" y="4130421"/>
                  </a:cubicBezTo>
                  <a:lnTo>
                    <a:pt x="196723" y="4130421"/>
                  </a:lnTo>
                  <a:cubicBezTo>
                    <a:pt x="88011" y="4130421"/>
                    <a:pt x="0" y="4042283"/>
                    <a:pt x="0" y="3933698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3DEEA"/>
              </a:solidFill>
              <a:prstDash val="solid"/>
              <a:miter/>
            </a:ln>
          </p:spPr>
        </p:sp>
      </p:grpSp>
      <p:grpSp>
        <p:nvGrpSpPr>
          <p:cNvPr name="Group 32" id="32"/>
          <p:cNvGrpSpPr/>
          <p:nvPr/>
        </p:nvGrpSpPr>
        <p:grpSpPr>
          <a:xfrm rot="0">
            <a:off x="1463040" y="6729984"/>
            <a:ext cx="1133856" cy="1133856"/>
            <a:chOff x="0" y="0"/>
            <a:chExt cx="1511808" cy="1511808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511808" cy="1511808"/>
            </a:xfrm>
            <a:custGeom>
              <a:avLst/>
              <a:gdLst/>
              <a:ahLst/>
              <a:cxnLst/>
              <a:rect r="r" b="b" t="t" l="l"/>
              <a:pathLst>
                <a:path h="1511808" w="1511808">
                  <a:moveTo>
                    <a:pt x="0" y="755904"/>
                  </a:moveTo>
                  <a:cubicBezTo>
                    <a:pt x="0" y="338455"/>
                    <a:pt x="338455" y="0"/>
                    <a:pt x="755904" y="0"/>
                  </a:cubicBezTo>
                  <a:cubicBezTo>
                    <a:pt x="1173353" y="0"/>
                    <a:pt x="1511808" y="338455"/>
                    <a:pt x="1511808" y="755904"/>
                  </a:cubicBezTo>
                  <a:cubicBezTo>
                    <a:pt x="1511808" y="1173353"/>
                    <a:pt x="1173353" y="1511808"/>
                    <a:pt x="755904" y="1511808"/>
                  </a:cubicBezTo>
                  <a:cubicBezTo>
                    <a:pt x="338455" y="1511808"/>
                    <a:pt x="0" y="1173353"/>
                    <a:pt x="0" y="755904"/>
                  </a:cubicBezTo>
                  <a:close/>
                </a:path>
              </a:pathLst>
            </a:custGeom>
            <a:solidFill>
              <a:srgbClr val="4A6FA5"/>
            </a:solidFill>
          </p:spPr>
        </p:sp>
      </p:grpSp>
      <p:grpSp>
        <p:nvGrpSpPr>
          <p:cNvPr name="Group 34" id="34"/>
          <p:cNvGrpSpPr/>
          <p:nvPr/>
        </p:nvGrpSpPr>
        <p:grpSpPr>
          <a:xfrm rot="0">
            <a:off x="1755648" y="7022592"/>
            <a:ext cx="548640" cy="548640"/>
            <a:chOff x="0" y="0"/>
            <a:chExt cx="731520" cy="731520"/>
          </a:xfrm>
        </p:grpSpPr>
        <p:sp>
          <p:nvSpPr>
            <p:cNvPr name="Freeform 35" id="35" descr="/home/claude/icons/FiGlobe_FFFFFF.png"/>
            <p:cNvSpPr/>
            <p:nvPr/>
          </p:nvSpPr>
          <p:spPr>
            <a:xfrm flipH="false" flipV="false" rot="0">
              <a:off x="0" y="0"/>
              <a:ext cx="731520" cy="731520"/>
            </a:xfrm>
            <a:custGeom>
              <a:avLst/>
              <a:gdLst/>
              <a:ahLst/>
              <a:cxnLst/>
              <a:rect r="r" b="b" t="t" l="l"/>
              <a:pathLst>
                <a:path h="73152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731520"/>
                  </a:lnTo>
                  <a:lnTo>
                    <a:pt x="0" y="7315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36" id="36"/>
          <p:cNvGrpSpPr/>
          <p:nvPr/>
        </p:nvGrpSpPr>
        <p:grpSpPr>
          <a:xfrm rot="0">
            <a:off x="2926080" y="6729984"/>
            <a:ext cx="5577840" cy="640080"/>
            <a:chOff x="0" y="0"/>
            <a:chExt cx="7437120" cy="85344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7437120" cy="853440"/>
            </a:xfrm>
            <a:custGeom>
              <a:avLst/>
              <a:gdLst/>
              <a:ahLst/>
              <a:cxnLst/>
              <a:rect r="r" b="b" t="t" l="l"/>
              <a:pathLst>
                <a:path h="853440" w="7437120">
                  <a:moveTo>
                    <a:pt x="0" y="0"/>
                  </a:moveTo>
                  <a:lnTo>
                    <a:pt x="7437120" y="0"/>
                  </a:lnTo>
                  <a:lnTo>
                    <a:pt x="743712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19798" r="0" b="-119798"/>
              </a:stretch>
            </a:blip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76200"/>
              <a:ext cx="7437120" cy="9296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800"/>
                </a:lnSpc>
              </a:pPr>
              <a:r>
                <a:rPr lang="en-US" sz="40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Objetivo 03 — Lorem ipsum</a:t>
              </a:r>
            </a:p>
          </p:txBody>
        </p:sp>
      </p:grpSp>
      <p:sp>
        <p:nvSpPr>
          <p:cNvPr name="TextBox 39" id="39"/>
          <p:cNvSpPr txBox="true"/>
          <p:nvPr/>
        </p:nvSpPr>
        <p:spPr>
          <a:xfrm rot="0">
            <a:off x="2926080" y="7395591"/>
            <a:ext cx="5577840" cy="16935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7E8FA6"/>
                </a:solidFill>
                <a:latin typeface="Calibri (MS)"/>
                <a:ea typeface="Calibri (MS)"/>
                <a:cs typeface="Calibri (MS)"/>
                <a:sym typeface="Calibri (MS)"/>
              </a:rPr>
              <a:t>Lorem ipsum dolor sit amet, consectetur adipiscing elit. Sed do eiusmod tempor incididunt ut labore et dolore magna aliqua.</a:t>
            </a:r>
          </a:p>
        </p:txBody>
      </p:sp>
      <p:grpSp>
        <p:nvGrpSpPr>
          <p:cNvPr name="Group 40" id="40"/>
          <p:cNvGrpSpPr/>
          <p:nvPr/>
        </p:nvGrpSpPr>
        <p:grpSpPr>
          <a:xfrm rot="0">
            <a:off x="9314183" y="6260087"/>
            <a:ext cx="7980683" cy="3097787"/>
            <a:chOff x="0" y="0"/>
            <a:chExt cx="10640911" cy="4130383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10640949" cy="4130421"/>
            </a:xfrm>
            <a:custGeom>
              <a:avLst/>
              <a:gdLst/>
              <a:ahLst/>
              <a:cxnLst/>
              <a:rect r="r" b="b" t="t" l="l"/>
              <a:pathLst>
                <a:path h="4130421" w="10640949">
                  <a:moveTo>
                    <a:pt x="0" y="196723"/>
                  </a:moveTo>
                  <a:cubicBezTo>
                    <a:pt x="0" y="88011"/>
                    <a:pt x="88011" y="0"/>
                    <a:pt x="196723" y="0"/>
                  </a:cubicBezTo>
                  <a:lnTo>
                    <a:pt x="10444226" y="0"/>
                  </a:lnTo>
                  <a:cubicBezTo>
                    <a:pt x="10552811" y="0"/>
                    <a:pt x="10640949" y="88011"/>
                    <a:pt x="10640949" y="196723"/>
                  </a:cubicBezTo>
                  <a:lnTo>
                    <a:pt x="10640949" y="3933698"/>
                  </a:lnTo>
                  <a:cubicBezTo>
                    <a:pt x="10640949" y="4042283"/>
                    <a:pt x="10552938" y="4130421"/>
                    <a:pt x="10444226" y="4130421"/>
                  </a:cubicBezTo>
                  <a:lnTo>
                    <a:pt x="196723" y="4130421"/>
                  </a:lnTo>
                  <a:cubicBezTo>
                    <a:pt x="88011" y="4130421"/>
                    <a:pt x="0" y="4042283"/>
                    <a:pt x="0" y="3933698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3DEEA"/>
              </a:solidFill>
              <a:prstDash val="solid"/>
              <a:miter/>
            </a:ln>
          </p:spPr>
        </p:sp>
      </p:grpSp>
      <p:grpSp>
        <p:nvGrpSpPr>
          <p:cNvPr name="Group 42" id="42"/>
          <p:cNvGrpSpPr/>
          <p:nvPr/>
        </p:nvGrpSpPr>
        <p:grpSpPr>
          <a:xfrm rot="0">
            <a:off x="9784080" y="6729984"/>
            <a:ext cx="1133856" cy="1133856"/>
            <a:chOff x="0" y="0"/>
            <a:chExt cx="1511808" cy="1511808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1511808" cy="1511808"/>
            </a:xfrm>
            <a:custGeom>
              <a:avLst/>
              <a:gdLst/>
              <a:ahLst/>
              <a:cxnLst/>
              <a:rect r="r" b="b" t="t" l="l"/>
              <a:pathLst>
                <a:path h="1511808" w="1511808">
                  <a:moveTo>
                    <a:pt x="0" y="755904"/>
                  </a:moveTo>
                  <a:cubicBezTo>
                    <a:pt x="0" y="338455"/>
                    <a:pt x="338455" y="0"/>
                    <a:pt x="755904" y="0"/>
                  </a:cubicBezTo>
                  <a:cubicBezTo>
                    <a:pt x="1173353" y="0"/>
                    <a:pt x="1511808" y="338455"/>
                    <a:pt x="1511808" y="755904"/>
                  </a:cubicBezTo>
                  <a:cubicBezTo>
                    <a:pt x="1511808" y="1173353"/>
                    <a:pt x="1173353" y="1511808"/>
                    <a:pt x="755904" y="1511808"/>
                  </a:cubicBezTo>
                  <a:cubicBezTo>
                    <a:pt x="338455" y="1511808"/>
                    <a:pt x="0" y="1173353"/>
                    <a:pt x="0" y="755904"/>
                  </a:cubicBezTo>
                  <a:close/>
                </a:path>
              </a:pathLst>
            </a:custGeom>
            <a:solidFill>
              <a:srgbClr val="4A6FA5"/>
            </a:solidFill>
          </p:spPr>
        </p:sp>
      </p:grpSp>
      <p:grpSp>
        <p:nvGrpSpPr>
          <p:cNvPr name="Group 44" id="44"/>
          <p:cNvGrpSpPr/>
          <p:nvPr/>
        </p:nvGrpSpPr>
        <p:grpSpPr>
          <a:xfrm rot="0">
            <a:off x="10076688" y="7022592"/>
            <a:ext cx="548640" cy="548640"/>
            <a:chOff x="0" y="0"/>
            <a:chExt cx="731520" cy="731520"/>
          </a:xfrm>
        </p:grpSpPr>
        <p:sp>
          <p:nvSpPr>
            <p:cNvPr name="Freeform 45" id="45" descr="/home/claude/icons/FiDatabase_FFFFFF.png"/>
            <p:cNvSpPr/>
            <p:nvPr/>
          </p:nvSpPr>
          <p:spPr>
            <a:xfrm flipH="false" flipV="false" rot="0">
              <a:off x="0" y="0"/>
              <a:ext cx="731520" cy="731520"/>
            </a:xfrm>
            <a:custGeom>
              <a:avLst/>
              <a:gdLst/>
              <a:ahLst/>
              <a:cxnLst/>
              <a:rect r="r" b="b" t="t" l="l"/>
              <a:pathLst>
                <a:path h="73152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731520"/>
                  </a:lnTo>
                  <a:lnTo>
                    <a:pt x="0" y="7315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46" id="46"/>
          <p:cNvGrpSpPr/>
          <p:nvPr/>
        </p:nvGrpSpPr>
        <p:grpSpPr>
          <a:xfrm rot="0">
            <a:off x="11247120" y="6729984"/>
            <a:ext cx="5577840" cy="640080"/>
            <a:chOff x="0" y="0"/>
            <a:chExt cx="7437120" cy="853440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7437120" cy="853440"/>
            </a:xfrm>
            <a:custGeom>
              <a:avLst/>
              <a:gdLst/>
              <a:ahLst/>
              <a:cxnLst/>
              <a:rect r="r" b="b" t="t" l="l"/>
              <a:pathLst>
                <a:path h="853440" w="7437120">
                  <a:moveTo>
                    <a:pt x="0" y="0"/>
                  </a:moveTo>
                  <a:lnTo>
                    <a:pt x="7437120" y="0"/>
                  </a:lnTo>
                  <a:lnTo>
                    <a:pt x="743712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19798" r="0" b="-119798"/>
              </a:stretch>
            </a:blipFill>
          </p:spPr>
        </p:sp>
        <p:sp>
          <p:nvSpPr>
            <p:cNvPr name="TextBox 48" id="48"/>
            <p:cNvSpPr txBox="true"/>
            <p:nvPr/>
          </p:nvSpPr>
          <p:spPr>
            <a:xfrm>
              <a:off x="0" y="-76200"/>
              <a:ext cx="7437120" cy="9296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800"/>
                </a:lnSpc>
              </a:pPr>
              <a:r>
                <a:rPr lang="en-US" sz="40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Objetivo 04 — Lorem ipsum</a:t>
              </a:r>
            </a:p>
          </p:txBody>
        </p:sp>
      </p:grpSp>
      <p:sp>
        <p:nvSpPr>
          <p:cNvPr name="TextBox 49" id="49"/>
          <p:cNvSpPr txBox="true"/>
          <p:nvPr/>
        </p:nvSpPr>
        <p:spPr>
          <a:xfrm rot="0">
            <a:off x="11247120" y="7395591"/>
            <a:ext cx="5577840" cy="16935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7E8FA6"/>
                </a:solidFill>
                <a:latin typeface="Calibri (MS)"/>
                <a:ea typeface="Calibri (MS)"/>
                <a:cs typeface="Calibri (MS)"/>
                <a:sym typeface="Calibri (MS)"/>
              </a:rPr>
              <a:t>Lorem ipsum dolor sit amet, consectetur adipiscing elit. Sed do eiusmod tempor incididunt ut labore et dolore magna aliqua.</a:t>
            </a:r>
          </a:p>
        </p:txBody>
      </p:sp>
      <p:grpSp>
        <p:nvGrpSpPr>
          <p:cNvPr name="Group 50" id="50"/>
          <p:cNvGrpSpPr/>
          <p:nvPr/>
        </p:nvGrpSpPr>
        <p:grpSpPr>
          <a:xfrm rot="0">
            <a:off x="1005840" y="9692640"/>
            <a:ext cx="10058400" cy="457200"/>
            <a:chOff x="0" y="0"/>
            <a:chExt cx="13411200" cy="60960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13411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3411200">
                  <a:moveTo>
                    <a:pt x="0" y="0"/>
                  </a:moveTo>
                  <a:lnTo>
                    <a:pt x="13411200" y="0"/>
                  </a:lnTo>
                  <a:lnTo>
                    <a:pt x="13411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78670" r="0" b="-378670"/>
              </a:stretch>
            </a:blipFill>
          </p:spPr>
        </p:sp>
        <p:sp>
          <p:nvSpPr>
            <p:cNvPr name="TextBox 52" id="52"/>
            <p:cNvSpPr txBox="true"/>
            <p:nvPr/>
          </p:nvSpPr>
          <p:spPr>
            <a:xfrm>
              <a:off x="0" y="-38100"/>
              <a:ext cx="13411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7E8F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Seminário de IoT — Segurança em IoT · Grupo 6</a:t>
              </a:r>
            </a:p>
          </p:txBody>
        </p:sp>
      </p:grpSp>
      <p:grpSp>
        <p:nvGrpSpPr>
          <p:cNvPr name="Group 53" id="53"/>
          <p:cNvGrpSpPr/>
          <p:nvPr/>
        </p:nvGrpSpPr>
        <p:grpSpPr>
          <a:xfrm rot="0">
            <a:off x="16367760" y="9692640"/>
            <a:ext cx="914400" cy="457200"/>
            <a:chOff x="0" y="0"/>
            <a:chExt cx="1219200" cy="609600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1219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55" id="55"/>
            <p:cNvSpPr txBox="true"/>
            <p:nvPr/>
          </p:nvSpPr>
          <p:spPr>
            <a:xfrm>
              <a:off x="0" y="-38100"/>
              <a:ext cx="1219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7E8F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11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05840" y="914400"/>
            <a:ext cx="621792" cy="559613"/>
            <a:chOff x="0" y="0"/>
            <a:chExt cx="829056" cy="74615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29056" cy="746125"/>
            </a:xfrm>
            <a:custGeom>
              <a:avLst/>
              <a:gdLst/>
              <a:ahLst/>
              <a:cxnLst/>
              <a:rect r="r" b="b" t="t" l="l"/>
              <a:pathLst>
                <a:path h="746125" w="829056">
                  <a:moveTo>
                    <a:pt x="0" y="373126"/>
                  </a:moveTo>
                  <a:lnTo>
                    <a:pt x="186563" y="0"/>
                  </a:lnTo>
                  <a:lnTo>
                    <a:pt x="642493" y="0"/>
                  </a:lnTo>
                  <a:lnTo>
                    <a:pt x="829056" y="373126"/>
                  </a:lnTo>
                  <a:lnTo>
                    <a:pt x="642493" y="746125"/>
                  </a:lnTo>
                  <a:lnTo>
                    <a:pt x="186563" y="746125"/>
                  </a:lnTo>
                  <a:close/>
                </a:path>
              </a:pathLst>
            </a:custGeom>
            <a:solidFill>
              <a:srgbClr val="38BDF8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865376" y="859536"/>
            <a:ext cx="13898880" cy="475488"/>
            <a:chOff x="0" y="0"/>
            <a:chExt cx="18531840" cy="63398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8531839" cy="633984"/>
            </a:xfrm>
            <a:custGeom>
              <a:avLst/>
              <a:gdLst/>
              <a:ahLst/>
              <a:cxnLst/>
              <a:rect r="r" b="b" t="t" l="l"/>
              <a:pathLst>
                <a:path h="633984" w="18531839">
                  <a:moveTo>
                    <a:pt x="0" y="0"/>
                  </a:moveTo>
                  <a:lnTo>
                    <a:pt x="18531839" y="0"/>
                  </a:lnTo>
                  <a:lnTo>
                    <a:pt x="18531839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19562" r="0" b="-519562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18531840" cy="68160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b="true" sz="2200" spc="399">
                  <a:solidFill>
                    <a:srgbClr val="4A6FA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FUNDAMENTAÇÃO TEÓRICA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005840" y="1426464"/>
            <a:ext cx="15727680" cy="1097280"/>
            <a:chOff x="0" y="0"/>
            <a:chExt cx="20970240" cy="146304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0970239" cy="1463040"/>
            </a:xfrm>
            <a:custGeom>
              <a:avLst/>
              <a:gdLst/>
              <a:ahLst/>
              <a:cxnLst/>
              <a:rect r="r" b="b" t="t" l="l"/>
              <a:pathLst>
                <a:path h="1463040" w="20970239">
                  <a:moveTo>
                    <a:pt x="0" y="0"/>
                  </a:moveTo>
                  <a:lnTo>
                    <a:pt x="20970239" y="0"/>
                  </a:lnTo>
                  <a:lnTo>
                    <a:pt x="20970239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29285" r="0" b="-229285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42875"/>
              <a:ext cx="20970240" cy="16059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920"/>
                </a:lnSpc>
              </a:pPr>
              <a:r>
                <a:rPr lang="en-US" sz="66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Tecnologias Relacionadas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993143" y="2821943"/>
            <a:ext cx="5328923" cy="6151883"/>
            <a:chOff x="0" y="0"/>
            <a:chExt cx="7105231" cy="8202511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7105396" cy="8202676"/>
            </a:xfrm>
            <a:custGeom>
              <a:avLst/>
              <a:gdLst/>
              <a:ahLst/>
              <a:cxnLst/>
              <a:rect r="r" b="b" t="t" l="l"/>
              <a:pathLst>
                <a:path h="8202676" w="7105396">
                  <a:moveTo>
                    <a:pt x="0" y="196088"/>
                  </a:moveTo>
                  <a:cubicBezTo>
                    <a:pt x="0" y="87757"/>
                    <a:pt x="87757" y="0"/>
                    <a:pt x="196088" y="0"/>
                  </a:cubicBezTo>
                  <a:lnTo>
                    <a:pt x="6909308" y="0"/>
                  </a:lnTo>
                  <a:cubicBezTo>
                    <a:pt x="7017512" y="0"/>
                    <a:pt x="7105396" y="87757"/>
                    <a:pt x="7105396" y="196088"/>
                  </a:cubicBezTo>
                  <a:lnTo>
                    <a:pt x="7105396" y="8006588"/>
                  </a:lnTo>
                  <a:cubicBezTo>
                    <a:pt x="7105396" y="8114792"/>
                    <a:pt x="7017638" y="8202676"/>
                    <a:pt x="6909308" y="8202676"/>
                  </a:cubicBezTo>
                  <a:lnTo>
                    <a:pt x="196088" y="8202676"/>
                  </a:lnTo>
                  <a:cubicBezTo>
                    <a:pt x="87757" y="8202549"/>
                    <a:pt x="0" y="8114792"/>
                    <a:pt x="0" y="8006461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3DEEA"/>
              </a:solidFill>
              <a:prstDash val="solid"/>
              <a:miter/>
            </a:ln>
          </p:spPr>
        </p:sp>
      </p:grpSp>
      <p:grpSp>
        <p:nvGrpSpPr>
          <p:cNvPr name="Group 12" id="12"/>
          <p:cNvGrpSpPr/>
          <p:nvPr/>
        </p:nvGrpSpPr>
        <p:grpSpPr>
          <a:xfrm rot="0">
            <a:off x="1463040" y="3383280"/>
            <a:ext cx="1207008" cy="1207008"/>
            <a:chOff x="0" y="0"/>
            <a:chExt cx="1609344" cy="1609344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609344" cy="1609344"/>
            </a:xfrm>
            <a:custGeom>
              <a:avLst/>
              <a:gdLst/>
              <a:ahLst/>
              <a:cxnLst/>
              <a:rect r="r" b="b" t="t" l="l"/>
              <a:pathLst>
                <a:path h="1609344" w="1609344">
                  <a:moveTo>
                    <a:pt x="0" y="804672"/>
                  </a:moveTo>
                  <a:cubicBezTo>
                    <a:pt x="0" y="360299"/>
                    <a:pt x="360299" y="0"/>
                    <a:pt x="804672" y="0"/>
                  </a:cubicBezTo>
                  <a:cubicBezTo>
                    <a:pt x="1249045" y="0"/>
                    <a:pt x="1609344" y="360299"/>
                    <a:pt x="1609344" y="804672"/>
                  </a:cubicBezTo>
                  <a:cubicBezTo>
                    <a:pt x="1609344" y="1249045"/>
                    <a:pt x="1249045" y="1609344"/>
                    <a:pt x="804672" y="1609344"/>
                  </a:cubicBezTo>
                  <a:cubicBezTo>
                    <a:pt x="360299" y="1609344"/>
                    <a:pt x="0" y="1249045"/>
                    <a:pt x="0" y="804672"/>
                  </a:cubicBezTo>
                  <a:close/>
                </a:path>
              </a:pathLst>
            </a:custGeom>
            <a:solidFill>
              <a:srgbClr val="4A6FA5"/>
            </a:solid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1773936" y="3694176"/>
            <a:ext cx="585216" cy="585216"/>
            <a:chOff x="0" y="0"/>
            <a:chExt cx="780288" cy="780288"/>
          </a:xfrm>
        </p:grpSpPr>
        <p:sp>
          <p:nvSpPr>
            <p:cNvPr name="Freeform 15" id="15" descr="/home/claude/icons/FiCpu_FFFFFF.png"/>
            <p:cNvSpPr/>
            <p:nvPr/>
          </p:nvSpPr>
          <p:spPr>
            <a:xfrm flipH="false" flipV="false" rot="0">
              <a:off x="0" y="0"/>
              <a:ext cx="780288" cy="780288"/>
            </a:xfrm>
            <a:custGeom>
              <a:avLst/>
              <a:gdLst/>
              <a:ahLst/>
              <a:cxnLst/>
              <a:rect r="r" b="b" t="t" l="l"/>
              <a:pathLst>
                <a:path h="780288" w="780288">
                  <a:moveTo>
                    <a:pt x="0" y="0"/>
                  </a:moveTo>
                  <a:lnTo>
                    <a:pt x="780288" y="0"/>
                  </a:lnTo>
                  <a:lnTo>
                    <a:pt x="780288" y="780288"/>
                  </a:lnTo>
                  <a:lnTo>
                    <a:pt x="0" y="7802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1463040" y="4937760"/>
            <a:ext cx="4389120" cy="640080"/>
            <a:chOff x="0" y="0"/>
            <a:chExt cx="5852160" cy="85344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5852160" cy="853440"/>
            </a:xfrm>
            <a:custGeom>
              <a:avLst/>
              <a:gdLst/>
              <a:ahLst/>
              <a:cxnLst/>
              <a:rect r="r" b="b" t="t" l="l"/>
              <a:pathLst>
                <a:path h="853440" w="5852160">
                  <a:moveTo>
                    <a:pt x="0" y="0"/>
                  </a:moveTo>
                  <a:lnTo>
                    <a:pt x="5852160" y="0"/>
                  </a:lnTo>
                  <a:lnTo>
                    <a:pt x="585216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83611" r="0" b="-83611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76200"/>
              <a:ext cx="5852160" cy="9296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800"/>
                </a:lnSpc>
              </a:pPr>
              <a:r>
                <a:rPr lang="en-US" sz="40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Tecnologia 01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1463040" y="5577840"/>
            <a:ext cx="4389120" cy="548640"/>
            <a:chOff x="0" y="0"/>
            <a:chExt cx="5852160" cy="73152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5852160" cy="731520"/>
            </a:xfrm>
            <a:custGeom>
              <a:avLst/>
              <a:gdLst/>
              <a:ahLst/>
              <a:cxnLst/>
              <a:rect r="r" b="b" t="t" l="l"/>
              <a:pathLst>
                <a:path h="731520" w="5852160">
                  <a:moveTo>
                    <a:pt x="0" y="0"/>
                  </a:moveTo>
                  <a:lnTo>
                    <a:pt x="5852160" y="0"/>
                  </a:lnTo>
                  <a:lnTo>
                    <a:pt x="585216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05880" r="0" b="-105880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57150"/>
              <a:ext cx="5852160" cy="7886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rPr lang="en-US" sz="2600" b="true">
                  <a:solidFill>
                    <a:srgbClr val="38BDF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Lorem ipsum</a:t>
              </a:r>
            </a:p>
          </p:txBody>
        </p:sp>
      </p:grpSp>
      <p:sp>
        <p:nvSpPr>
          <p:cNvPr name="TextBox 22" id="22"/>
          <p:cNvSpPr txBox="true"/>
          <p:nvPr/>
        </p:nvSpPr>
        <p:spPr>
          <a:xfrm rot="0">
            <a:off x="1463040" y="6179820"/>
            <a:ext cx="4389120" cy="2415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7E8FA6"/>
                </a:solidFill>
                <a:latin typeface="Calibri (MS)"/>
                <a:ea typeface="Calibri (MS)"/>
                <a:cs typeface="Calibri (MS)"/>
                <a:sym typeface="Calibri (MS)"/>
              </a:rPr>
              <a:t>Lorem ipsum dolor sit amet, consectetur adipiscing elit. Sed do eiusmod tempor incididunt ut labore et dolore magna aliqua.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6662423" y="2821943"/>
            <a:ext cx="5328923" cy="6151883"/>
            <a:chOff x="0" y="0"/>
            <a:chExt cx="7105231" cy="8202511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7105396" cy="8202676"/>
            </a:xfrm>
            <a:custGeom>
              <a:avLst/>
              <a:gdLst/>
              <a:ahLst/>
              <a:cxnLst/>
              <a:rect r="r" b="b" t="t" l="l"/>
              <a:pathLst>
                <a:path h="8202676" w="7105396">
                  <a:moveTo>
                    <a:pt x="0" y="196088"/>
                  </a:moveTo>
                  <a:cubicBezTo>
                    <a:pt x="0" y="87757"/>
                    <a:pt x="87757" y="0"/>
                    <a:pt x="196088" y="0"/>
                  </a:cubicBezTo>
                  <a:lnTo>
                    <a:pt x="6909308" y="0"/>
                  </a:lnTo>
                  <a:cubicBezTo>
                    <a:pt x="7017512" y="0"/>
                    <a:pt x="7105396" y="87757"/>
                    <a:pt x="7105396" y="196088"/>
                  </a:cubicBezTo>
                  <a:lnTo>
                    <a:pt x="7105396" y="8006588"/>
                  </a:lnTo>
                  <a:cubicBezTo>
                    <a:pt x="7105396" y="8114792"/>
                    <a:pt x="7017638" y="8202676"/>
                    <a:pt x="6909308" y="8202676"/>
                  </a:cubicBezTo>
                  <a:lnTo>
                    <a:pt x="196088" y="8202676"/>
                  </a:lnTo>
                  <a:cubicBezTo>
                    <a:pt x="87757" y="8202549"/>
                    <a:pt x="0" y="8114792"/>
                    <a:pt x="0" y="8006461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3DEEA"/>
              </a:solidFill>
              <a:prstDash val="solid"/>
              <a:miter/>
            </a:ln>
          </p:spPr>
        </p:sp>
      </p:grpSp>
      <p:grpSp>
        <p:nvGrpSpPr>
          <p:cNvPr name="Group 25" id="25"/>
          <p:cNvGrpSpPr/>
          <p:nvPr/>
        </p:nvGrpSpPr>
        <p:grpSpPr>
          <a:xfrm rot="0">
            <a:off x="7132320" y="3383280"/>
            <a:ext cx="1207008" cy="1207008"/>
            <a:chOff x="0" y="0"/>
            <a:chExt cx="1609344" cy="1609344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609344" cy="1609344"/>
            </a:xfrm>
            <a:custGeom>
              <a:avLst/>
              <a:gdLst/>
              <a:ahLst/>
              <a:cxnLst/>
              <a:rect r="r" b="b" t="t" l="l"/>
              <a:pathLst>
                <a:path h="1609344" w="1609344">
                  <a:moveTo>
                    <a:pt x="0" y="804672"/>
                  </a:moveTo>
                  <a:cubicBezTo>
                    <a:pt x="0" y="360299"/>
                    <a:pt x="360299" y="0"/>
                    <a:pt x="804672" y="0"/>
                  </a:cubicBezTo>
                  <a:cubicBezTo>
                    <a:pt x="1249045" y="0"/>
                    <a:pt x="1609344" y="360299"/>
                    <a:pt x="1609344" y="804672"/>
                  </a:cubicBezTo>
                  <a:cubicBezTo>
                    <a:pt x="1609344" y="1249045"/>
                    <a:pt x="1249045" y="1609344"/>
                    <a:pt x="804672" y="1609344"/>
                  </a:cubicBezTo>
                  <a:cubicBezTo>
                    <a:pt x="360299" y="1609344"/>
                    <a:pt x="0" y="1249045"/>
                    <a:pt x="0" y="804672"/>
                  </a:cubicBezTo>
                  <a:close/>
                </a:path>
              </a:pathLst>
            </a:custGeom>
            <a:solidFill>
              <a:srgbClr val="4A6FA5"/>
            </a:solid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7443216" y="3694176"/>
            <a:ext cx="585216" cy="585216"/>
            <a:chOff x="0" y="0"/>
            <a:chExt cx="780288" cy="780288"/>
          </a:xfrm>
        </p:grpSpPr>
        <p:sp>
          <p:nvSpPr>
            <p:cNvPr name="Freeform 28" id="28" descr="/home/claude/icons/FiWifi_FFFFFF.png"/>
            <p:cNvSpPr/>
            <p:nvPr/>
          </p:nvSpPr>
          <p:spPr>
            <a:xfrm flipH="false" flipV="false" rot="0">
              <a:off x="0" y="0"/>
              <a:ext cx="780288" cy="780288"/>
            </a:xfrm>
            <a:custGeom>
              <a:avLst/>
              <a:gdLst/>
              <a:ahLst/>
              <a:cxnLst/>
              <a:rect r="r" b="b" t="t" l="l"/>
              <a:pathLst>
                <a:path h="780288" w="780288">
                  <a:moveTo>
                    <a:pt x="0" y="0"/>
                  </a:moveTo>
                  <a:lnTo>
                    <a:pt x="780288" y="0"/>
                  </a:lnTo>
                  <a:lnTo>
                    <a:pt x="780288" y="780288"/>
                  </a:lnTo>
                  <a:lnTo>
                    <a:pt x="0" y="7802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7132320" y="4937760"/>
            <a:ext cx="4389120" cy="640080"/>
            <a:chOff x="0" y="0"/>
            <a:chExt cx="5852160" cy="85344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5852160" cy="853440"/>
            </a:xfrm>
            <a:custGeom>
              <a:avLst/>
              <a:gdLst/>
              <a:ahLst/>
              <a:cxnLst/>
              <a:rect r="r" b="b" t="t" l="l"/>
              <a:pathLst>
                <a:path h="853440" w="5852160">
                  <a:moveTo>
                    <a:pt x="0" y="0"/>
                  </a:moveTo>
                  <a:lnTo>
                    <a:pt x="5852160" y="0"/>
                  </a:lnTo>
                  <a:lnTo>
                    <a:pt x="585216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83611" r="0" b="-83611"/>
              </a:stretch>
            </a:blipFill>
          </p:spPr>
        </p:sp>
        <p:sp>
          <p:nvSpPr>
            <p:cNvPr name="TextBox 31" id="31"/>
            <p:cNvSpPr txBox="true"/>
            <p:nvPr/>
          </p:nvSpPr>
          <p:spPr>
            <a:xfrm>
              <a:off x="0" y="-76200"/>
              <a:ext cx="5852160" cy="9296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800"/>
                </a:lnSpc>
              </a:pPr>
              <a:r>
                <a:rPr lang="en-US" sz="40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Tecnologia 02</a:t>
              </a: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7132320" y="5577840"/>
            <a:ext cx="4389120" cy="548640"/>
            <a:chOff x="0" y="0"/>
            <a:chExt cx="5852160" cy="73152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5852160" cy="731520"/>
            </a:xfrm>
            <a:custGeom>
              <a:avLst/>
              <a:gdLst/>
              <a:ahLst/>
              <a:cxnLst/>
              <a:rect r="r" b="b" t="t" l="l"/>
              <a:pathLst>
                <a:path h="731520" w="5852160">
                  <a:moveTo>
                    <a:pt x="0" y="0"/>
                  </a:moveTo>
                  <a:lnTo>
                    <a:pt x="5852160" y="0"/>
                  </a:lnTo>
                  <a:lnTo>
                    <a:pt x="585216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05880" r="0" b="-105880"/>
              </a:stretch>
            </a:blip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57150"/>
              <a:ext cx="5852160" cy="7886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rPr lang="en-US" sz="2600" b="true">
                  <a:solidFill>
                    <a:srgbClr val="38BDF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Lorem ipsum</a:t>
              </a:r>
            </a:p>
          </p:txBody>
        </p:sp>
      </p:grpSp>
      <p:sp>
        <p:nvSpPr>
          <p:cNvPr name="TextBox 35" id="35"/>
          <p:cNvSpPr txBox="true"/>
          <p:nvPr/>
        </p:nvSpPr>
        <p:spPr>
          <a:xfrm rot="0">
            <a:off x="7132320" y="6179820"/>
            <a:ext cx="4389120" cy="2415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7E8FA6"/>
                </a:solidFill>
                <a:latin typeface="Calibri (MS)"/>
                <a:ea typeface="Calibri (MS)"/>
                <a:cs typeface="Calibri (MS)"/>
                <a:sym typeface="Calibri (MS)"/>
              </a:rPr>
              <a:t>Lorem ipsum dolor sit amet, consectetur adipiscing elit. Sed do eiusmod tempor incididunt ut labore et dolore magna aliqua.</a:t>
            </a:r>
          </a:p>
        </p:txBody>
      </p:sp>
      <p:grpSp>
        <p:nvGrpSpPr>
          <p:cNvPr name="Group 36" id="36"/>
          <p:cNvGrpSpPr/>
          <p:nvPr/>
        </p:nvGrpSpPr>
        <p:grpSpPr>
          <a:xfrm rot="0">
            <a:off x="12331703" y="2821943"/>
            <a:ext cx="5328923" cy="6151883"/>
            <a:chOff x="0" y="0"/>
            <a:chExt cx="7105231" cy="8202511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7105396" cy="8202676"/>
            </a:xfrm>
            <a:custGeom>
              <a:avLst/>
              <a:gdLst/>
              <a:ahLst/>
              <a:cxnLst/>
              <a:rect r="r" b="b" t="t" l="l"/>
              <a:pathLst>
                <a:path h="8202676" w="7105396">
                  <a:moveTo>
                    <a:pt x="0" y="196088"/>
                  </a:moveTo>
                  <a:cubicBezTo>
                    <a:pt x="0" y="87757"/>
                    <a:pt x="87757" y="0"/>
                    <a:pt x="196088" y="0"/>
                  </a:cubicBezTo>
                  <a:lnTo>
                    <a:pt x="6909308" y="0"/>
                  </a:lnTo>
                  <a:cubicBezTo>
                    <a:pt x="7017512" y="0"/>
                    <a:pt x="7105396" y="87757"/>
                    <a:pt x="7105396" y="196088"/>
                  </a:cubicBezTo>
                  <a:lnTo>
                    <a:pt x="7105396" y="8006588"/>
                  </a:lnTo>
                  <a:cubicBezTo>
                    <a:pt x="7105396" y="8114792"/>
                    <a:pt x="7017638" y="8202676"/>
                    <a:pt x="6909308" y="8202676"/>
                  </a:cubicBezTo>
                  <a:lnTo>
                    <a:pt x="196088" y="8202676"/>
                  </a:lnTo>
                  <a:cubicBezTo>
                    <a:pt x="87757" y="8202549"/>
                    <a:pt x="0" y="8114792"/>
                    <a:pt x="0" y="8006461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3DEEA"/>
              </a:solidFill>
              <a:prstDash val="solid"/>
              <a:miter/>
            </a:ln>
          </p:spPr>
        </p:sp>
      </p:grpSp>
      <p:grpSp>
        <p:nvGrpSpPr>
          <p:cNvPr name="Group 38" id="38"/>
          <p:cNvGrpSpPr/>
          <p:nvPr/>
        </p:nvGrpSpPr>
        <p:grpSpPr>
          <a:xfrm rot="0">
            <a:off x="12801600" y="3383280"/>
            <a:ext cx="1207008" cy="1207008"/>
            <a:chOff x="0" y="0"/>
            <a:chExt cx="1609344" cy="1609344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1609344" cy="1609344"/>
            </a:xfrm>
            <a:custGeom>
              <a:avLst/>
              <a:gdLst/>
              <a:ahLst/>
              <a:cxnLst/>
              <a:rect r="r" b="b" t="t" l="l"/>
              <a:pathLst>
                <a:path h="1609344" w="1609344">
                  <a:moveTo>
                    <a:pt x="0" y="804672"/>
                  </a:moveTo>
                  <a:cubicBezTo>
                    <a:pt x="0" y="360299"/>
                    <a:pt x="360299" y="0"/>
                    <a:pt x="804672" y="0"/>
                  </a:cubicBezTo>
                  <a:cubicBezTo>
                    <a:pt x="1249045" y="0"/>
                    <a:pt x="1609344" y="360299"/>
                    <a:pt x="1609344" y="804672"/>
                  </a:cubicBezTo>
                  <a:cubicBezTo>
                    <a:pt x="1609344" y="1249045"/>
                    <a:pt x="1249045" y="1609344"/>
                    <a:pt x="804672" y="1609344"/>
                  </a:cubicBezTo>
                  <a:cubicBezTo>
                    <a:pt x="360299" y="1609344"/>
                    <a:pt x="0" y="1249045"/>
                    <a:pt x="0" y="804672"/>
                  </a:cubicBezTo>
                  <a:close/>
                </a:path>
              </a:pathLst>
            </a:custGeom>
            <a:solidFill>
              <a:srgbClr val="4A6FA5"/>
            </a:solidFill>
          </p:spPr>
        </p:sp>
      </p:grpSp>
      <p:grpSp>
        <p:nvGrpSpPr>
          <p:cNvPr name="Group 40" id="40"/>
          <p:cNvGrpSpPr/>
          <p:nvPr/>
        </p:nvGrpSpPr>
        <p:grpSpPr>
          <a:xfrm rot="0">
            <a:off x="13112496" y="3694176"/>
            <a:ext cx="585216" cy="585216"/>
            <a:chOff x="0" y="0"/>
            <a:chExt cx="780288" cy="780288"/>
          </a:xfrm>
        </p:grpSpPr>
        <p:sp>
          <p:nvSpPr>
            <p:cNvPr name="Freeform 41" id="41" descr="/home/claude/icons/FiCloud_FFFFFF.png"/>
            <p:cNvSpPr/>
            <p:nvPr/>
          </p:nvSpPr>
          <p:spPr>
            <a:xfrm flipH="false" flipV="false" rot="0">
              <a:off x="0" y="0"/>
              <a:ext cx="780288" cy="780288"/>
            </a:xfrm>
            <a:custGeom>
              <a:avLst/>
              <a:gdLst/>
              <a:ahLst/>
              <a:cxnLst/>
              <a:rect r="r" b="b" t="t" l="l"/>
              <a:pathLst>
                <a:path h="780288" w="780288">
                  <a:moveTo>
                    <a:pt x="0" y="0"/>
                  </a:moveTo>
                  <a:lnTo>
                    <a:pt x="780288" y="0"/>
                  </a:lnTo>
                  <a:lnTo>
                    <a:pt x="780288" y="780288"/>
                  </a:lnTo>
                  <a:lnTo>
                    <a:pt x="0" y="7802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42" id="42"/>
          <p:cNvGrpSpPr/>
          <p:nvPr/>
        </p:nvGrpSpPr>
        <p:grpSpPr>
          <a:xfrm rot="0">
            <a:off x="12801600" y="4937760"/>
            <a:ext cx="4389120" cy="640080"/>
            <a:chOff x="0" y="0"/>
            <a:chExt cx="5852160" cy="85344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5852160" cy="853440"/>
            </a:xfrm>
            <a:custGeom>
              <a:avLst/>
              <a:gdLst/>
              <a:ahLst/>
              <a:cxnLst/>
              <a:rect r="r" b="b" t="t" l="l"/>
              <a:pathLst>
                <a:path h="853440" w="5852160">
                  <a:moveTo>
                    <a:pt x="0" y="0"/>
                  </a:moveTo>
                  <a:lnTo>
                    <a:pt x="5852160" y="0"/>
                  </a:lnTo>
                  <a:lnTo>
                    <a:pt x="585216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83611" r="0" b="-83611"/>
              </a:stretch>
            </a:blipFill>
          </p:spPr>
        </p:sp>
        <p:sp>
          <p:nvSpPr>
            <p:cNvPr name="TextBox 44" id="44"/>
            <p:cNvSpPr txBox="true"/>
            <p:nvPr/>
          </p:nvSpPr>
          <p:spPr>
            <a:xfrm>
              <a:off x="0" y="-76200"/>
              <a:ext cx="5852160" cy="9296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800"/>
                </a:lnSpc>
              </a:pPr>
              <a:r>
                <a:rPr lang="en-US" sz="40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Tecnologia 03</a:t>
              </a:r>
            </a:p>
          </p:txBody>
        </p:sp>
      </p:grpSp>
      <p:grpSp>
        <p:nvGrpSpPr>
          <p:cNvPr name="Group 45" id="45"/>
          <p:cNvGrpSpPr/>
          <p:nvPr/>
        </p:nvGrpSpPr>
        <p:grpSpPr>
          <a:xfrm rot="0">
            <a:off x="12801600" y="5577840"/>
            <a:ext cx="4389120" cy="548640"/>
            <a:chOff x="0" y="0"/>
            <a:chExt cx="5852160" cy="73152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5852160" cy="731520"/>
            </a:xfrm>
            <a:custGeom>
              <a:avLst/>
              <a:gdLst/>
              <a:ahLst/>
              <a:cxnLst/>
              <a:rect r="r" b="b" t="t" l="l"/>
              <a:pathLst>
                <a:path h="731520" w="5852160">
                  <a:moveTo>
                    <a:pt x="0" y="0"/>
                  </a:moveTo>
                  <a:lnTo>
                    <a:pt x="5852160" y="0"/>
                  </a:lnTo>
                  <a:lnTo>
                    <a:pt x="585216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05880" r="0" b="-105880"/>
              </a:stretch>
            </a:blipFill>
          </p:spPr>
        </p:sp>
        <p:sp>
          <p:nvSpPr>
            <p:cNvPr name="TextBox 47" id="47"/>
            <p:cNvSpPr txBox="true"/>
            <p:nvPr/>
          </p:nvSpPr>
          <p:spPr>
            <a:xfrm>
              <a:off x="0" y="-57150"/>
              <a:ext cx="5852160" cy="7886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rPr lang="en-US" sz="2600" b="true">
                  <a:solidFill>
                    <a:srgbClr val="38BDF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Lorem ipsum</a:t>
              </a:r>
            </a:p>
          </p:txBody>
        </p:sp>
      </p:grpSp>
      <p:sp>
        <p:nvSpPr>
          <p:cNvPr name="TextBox 48" id="48"/>
          <p:cNvSpPr txBox="true"/>
          <p:nvPr/>
        </p:nvSpPr>
        <p:spPr>
          <a:xfrm rot="0">
            <a:off x="12801600" y="6179820"/>
            <a:ext cx="4389120" cy="2415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7E8FA6"/>
                </a:solidFill>
                <a:latin typeface="Calibri (MS)"/>
                <a:ea typeface="Calibri (MS)"/>
                <a:cs typeface="Calibri (MS)"/>
                <a:sym typeface="Calibri (MS)"/>
              </a:rPr>
              <a:t>Lorem ipsum dolor sit amet, consectetur adipiscing elit. Sed do eiusmod tempor incididunt ut labore et dolore magna aliqua.</a:t>
            </a:r>
          </a:p>
        </p:txBody>
      </p:sp>
      <p:grpSp>
        <p:nvGrpSpPr>
          <p:cNvPr name="Group 49" id="49"/>
          <p:cNvGrpSpPr/>
          <p:nvPr/>
        </p:nvGrpSpPr>
        <p:grpSpPr>
          <a:xfrm rot="0">
            <a:off x="1005840" y="9692640"/>
            <a:ext cx="10058400" cy="457200"/>
            <a:chOff x="0" y="0"/>
            <a:chExt cx="13411200" cy="609600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13411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3411200">
                  <a:moveTo>
                    <a:pt x="0" y="0"/>
                  </a:moveTo>
                  <a:lnTo>
                    <a:pt x="13411200" y="0"/>
                  </a:lnTo>
                  <a:lnTo>
                    <a:pt x="13411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78670" r="0" b="-378670"/>
              </a:stretch>
            </a:blipFill>
          </p:spPr>
        </p:sp>
        <p:sp>
          <p:nvSpPr>
            <p:cNvPr name="TextBox 51" id="51"/>
            <p:cNvSpPr txBox="true"/>
            <p:nvPr/>
          </p:nvSpPr>
          <p:spPr>
            <a:xfrm>
              <a:off x="0" y="-38100"/>
              <a:ext cx="13411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7E8F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Seminário de IoT — Segurança em IoT · Grupo 6</a:t>
              </a:r>
            </a:p>
          </p:txBody>
        </p:sp>
      </p:grpSp>
      <p:grpSp>
        <p:nvGrpSpPr>
          <p:cNvPr name="Group 52" id="52"/>
          <p:cNvGrpSpPr/>
          <p:nvPr/>
        </p:nvGrpSpPr>
        <p:grpSpPr>
          <a:xfrm rot="0">
            <a:off x="16367760" y="9692640"/>
            <a:ext cx="914400" cy="457200"/>
            <a:chOff x="0" y="0"/>
            <a:chExt cx="1219200" cy="60960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1219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54" id="54"/>
            <p:cNvSpPr txBox="true"/>
            <p:nvPr/>
          </p:nvSpPr>
          <p:spPr>
            <a:xfrm>
              <a:off x="0" y="-38100"/>
              <a:ext cx="1219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7E8F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12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F2C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7498080" cy="10287000"/>
            <a:chOff x="0" y="0"/>
            <a:chExt cx="999744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99744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9997440">
                  <a:moveTo>
                    <a:pt x="0" y="0"/>
                  </a:moveTo>
                  <a:lnTo>
                    <a:pt x="9997440" y="0"/>
                  </a:lnTo>
                  <a:lnTo>
                    <a:pt x="999744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0345B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097280" y="7132320"/>
            <a:ext cx="1097280" cy="987552"/>
            <a:chOff x="0" y="0"/>
            <a:chExt cx="1463040" cy="131673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463040" cy="1316736"/>
            </a:xfrm>
            <a:custGeom>
              <a:avLst/>
              <a:gdLst/>
              <a:ahLst/>
              <a:cxnLst/>
              <a:rect r="r" b="b" t="t" l="l"/>
              <a:pathLst>
                <a:path h="1316736" w="1463040">
                  <a:moveTo>
                    <a:pt x="0" y="658368"/>
                  </a:moveTo>
                  <a:lnTo>
                    <a:pt x="329184" y="0"/>
                  </a:lnTo>
                  <a:lnTo>
                    <a:pt x="1133856" y="0"/>
                  </a:lnTo>
                  <a:lnTo>
                    <a:pt x="1463040" y="658368"/>
                  </a:lnTo>
                  <a:lnTo>
                    <a:pt x="1133856" y="1316736"/>
                  </a:lnTo>
                  <a:lnTo>
                    <a:pt x="329184" y="1316736"/>
                  </a:lnTo>
                  <a:close/>
                </a:path>
              </a:pathLst>
            </a:custGeom>
            <a:solidFill>
              <a:srgbClr val="38BDF8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2468880" y="7955280"/>
            <a:ext cx="731520" cy="658368"/>
            <a:chOff x="0" y="0"/>
            <a:chExt cx="975360" cy="87782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975360" cy="877824"/>
            </a:xfrm>
            <a:custGeom>
              <a:avLst/>
              <a:gdLst/>
              <a:ahLst/>
              <a:cxnLst/>
              <a:rect r="r" b="b" t="t" l="l"/>
              <a:pathLst>
                <a:path h="877824" w="975360">
                  <a:moveTo>
                    <a:pt x="0" y="438912"/>
                  </a:moveTo>
                  <a:lnTo>
                    <a:pt x="219456" y="0"/>
                  </a:lnTo>
                  <a:lnTo>
                    <a:pt x="755904" y="0"/>
                  </a:lnTo>
                  <a:lnTo>
                    <a:pt x="975360" y="438912"/>
                  </a:lnTo>
                  <a:lnTo>
                    <a:pt x="755904" y="877824"/>
                  </a:lnTo>
                  <a:lnTo>
                    <a:pt x="219456" y="877824"/>
                  </a:lnTo>
                  <a:close/>
                </a:path>
              </a:pathLst>
            </a:custGeom>
            <a:solidFill>
              <a:srgbClr val="23507F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1005840" y="2468880"/>
            <a:ext cx="5852160" cy="2926080"/>
            <a:chOff x="0" y="0"/>
            <a:chExt cx="7802880" cy="390144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7802880" cy="3901440"/>
            </a:xfrm>
            <a:custGeom>
              <a:avLst/>
              <a:gdLst/>
              <a:ahLst/>
              <a:cxnLst/>
              <a:rect r="r" b="b" t="t" l="l"/>
              <a:pathLst>
                <a:path h="3901440" w="7802880">
                  <a:moveTo>
                    <a:pt x="0" y="0"/>
                  </a:moveTo>
                  <a:lnTo>
                    <a:pt x="7802880" y="0"/>
                  </a:lnTo>
                  <a:lnTo>
                    <a:pt x="7802880" y="3901440"/>
                  </a:lnTo>
                  <a:lnTo>
                    <a:pt x="0" y="39014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71475"/>
              <a:ext cx="7802880" cy="42729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080"/>
                </a:lnSpc>
              </a:pPr>
              <a:r>
                <a:rPr lang="en-US" sz="184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03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097280" y="1920240"/>
            <a:ext cx="4572000" cy="548640"/>
            <a:chOff x="0" y="0"/>
            <a:chExt cx="6096000" cy="73152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6096000" cy="731520"/>
            </a:xfrm>
            <a:custGeom>
              <a:avLst/>
              <a:gdLst/>
              <a:ahLst/>
              <a:cxnLst/>
              <a:rect r="r" b="b" t="t" l="l"/>
              <a:pathLst>
                <a:path h="731520" w="6096000">
                  <a:moveTo>
                    <a:pt x="0" y="0"/>
                  </a:moveTo>
                  <a:lnTo>
                    <a:pt x="6096000" y="0"/>
                  </a:lnTo>
                  <a:lnTo>
                    <a:pt x="60960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12375" r="0" b="-112375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6096000" cy="7696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b="true" sz="2400" spc="600">
                  <a:solidFill>
                    <a:srgbClr val="38BDF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SEÇÃO</a:t>
              </a: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8412480" y="3606165"/>
            <a:ext cx="8961120" cy="21545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640"/>
              </a:lnSpc>
            </a:pPr>
            <a:r>
              <a:rPr lang="en-US" sz="7200" b="true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Funcionamento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412480" y="5760720"/>
            <a:ext cx="8412480" cy="1463040"/>
            <a:chOff x="0" y="0"/>
            <a:chExt cx="11216640" cy="195072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1216640" cy="1950720"/>
            </a:xfrm>
            <a:custGeom>
              <a:avLst/>
              <a:gdLst/>
              <a:ahLst/>
              <a:cxnLst/>
              <a:rect r="r" b="b" t="t" l="l"/>
              <a:pathLst>
                <a:path h="1950720" w="11216640">
                  <a:moveTo>
                    <a:pt x="0" y="0"/>
                  </a:moveTo>
                  <a:lnTo>
                    <a:pt x="11216640" y="0"/>
                  </a:lnTo>
                  <a:lnTo>
                    <a:pt x="11216640" y="1950720"/>
                  </a:lnTo>
                  <a:lnTo>
                    <a:pt x="0" y="19507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62038" r="0" b="-62038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57150"/>
              <a:ext cx="11216640" cy="20078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rPr lang="en-US" sz="2600">
                  <a:solidFill>
                    <a:srgbClr val="AFC4DC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Lorem ipsum dolor sit amet, consectetur adipiscing elit. Sed do eiusmod tempor incididunt ut labore et dolore magna aliqua.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8412480" y="2651760"/>
            <a:ext cx="804672" cy="804672"/>
            <a:chOff x="0" y="0"/>
            <a:chExt cx="1072896" cy="1072896"/>
          </a:xfrm>
        </p:grpSpPr>
        <p:sp>
          <p:nvSpPr>
            <p:cNvPr name="Freeform 19" id="19" descr="/home/claude/icons/FiSettings_38BDF8.png"/>
            <p:cNvSpPr/>
            <p:nvPr/>
          </p:nvSpPr>
          <p:spPr>
            <a:xfrm flipH="false" flipV="false" rot="0">
              <a:off x="0" y="0"/>
              <a:ext cx="1072896" cy="1072896"/>
            </a:xfrm>
            <a:custGeom>
              <a:avLst/>
              <a:gdLst/>
              <a:ahLst/>
              <a:cxnLst/>
              <a:rect r="r" b="b" t="t" l="l"/>
              <a:pathLst>
                <a:path h="1072896" w="1072896">
                  <a:moveTo>
                    <a:pt x="0" y="0"/>
                  </a:moveTo>
                  <a:lnTo>
                    <a:pt x="1072896" y="0"/>
                  </a:lnTo>
                  <a:lnTo>
                    <a:pt x="1072896" y="1072896"/>
                  </a:lnTo>
                  <a:lnTo>
                    <a:pt x="0" y="10728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1097280" y="9692640"/>
            <a:ext cx="10058400" cy="457200"/>
            <a:chOff x="0" y="0"/>
            <a:chExt cx="13411200" cy="6096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3411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3411200">
                  <a:moveTo>
                    <a:pt x="0" y="0"/>
                  </a:moveTo>
                  <a:lnTo>
                    <a:pt x="13411200" y="0"/>
                  </a:lnTo>
                  <a:lnTo>
                    <a:pt x="13411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78670" r="0" b="-378670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38100"/>
              <a:ext cx="13411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6E85A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Seminário de IoT — Segurança em IoT · Grupo 6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16367760" y="9692640"/>
            <a:ext cx="914400" cy="457200"/>
            <a:chOff x="0" y="0"/>
            <a:chExt cx="1219200" cy="6096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219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1219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6E85A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13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05840" y="914400"/>
            <a:ext cx="621792" cy="559613"/>
            <a:chOff x="0" y="0"/>
            <a:chExt cx="829056" cy="74615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29056" cy="746125"/>
            </a:xfrm>
            <a:custGeom>
              <a:avLst/>
              <a:gdLst/>
              <a:ahLst/>
              <a:cxnLst/>
              <a:rect r="r" b="b" t="t" l="l"/>
              <a:pathLst>
                <a:path h="746125" w="829056">
                  <a:moveTo>
                    <a:pt x="0" y="373126"/>
                  </a:moveTo>
                  <a:lnTo>
                    <a:pt x="186563" y="0"/>
                  </a:lnTo>
                  <a:lnTo>
                    <a:pt x="642493" y="0"/>
                  </a:lnTo>
                  <a:lnTo>
                    <a:pt x="829056" y="373126"/>
                  </a:lnTo>
                  <a:lnTo>
                    <a:pt x="642493" y="746125"/>
                  </a:lnTo>
                  <a:lnTo>
                    <a:pt x="186563" y="746125"/>
                  </a:lnTo>
                  <a:close/>
                </a:path>
              </a:pathLst>
            </a:custGeom>
            <a:solidFill>
              <a:srgbClr val="38BDF8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865376" y="859536"/>
            <a:ext cx="13898880" cy="475488"/>
            <a:chOff x="0" y="0"/>
            <a:chExt cx="18531840" cy="63398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8531839" cy="633984"/>
            </a:xfrm>
            <a:custGeom>
              <a:avLst/>
              <a:gdLst/>
              <a:ahLst/>
              <a:cxnLst/>
              <a:rect r="r" b="b" t="t" l="l"/>
              <a:pathLst>
                <a:path h="633984" w="18531839">
                  <a:moveTo>
                    <a:pt x="0" y="0"/>
                  </a:moveTo>
                  <a:lnTo>
                    <a:pt x="18531839" y="0"/>
                  </a:lnTo>
                  <a:lnTo>
                    <a:pt x="18531839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19562" r="0" b="-519562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18531840" cy="68160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b="true" sz="2200" spc="399">
                  <a:solidFill>
                    <a:srgbClr val="4A6FA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FUNCIONAMENTO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005840" y="1426464"/>
            <a:ext cx="15727680" cy="1097280"/>
            <a:chOff x="0" y="0"/>
            <a:chExt cx="20970240" cy="146304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0970239" cy="1463040"/>
            </a:xfrm>
            <a:custGeom>
              <a:avLst/>
              <a:gdLst/>
              <a:ahLst/>
              <a:cxnLst/>
              <a:rect r="r" b="b" t="t" l="l"/>
              <a:pathLst>
                <a:path h="1463040" w="20970239">
                  <a:moveTo>
                    <a:pt x="0" y="0"/>
                  </a:moveTo>
                  <a:lnTo>
                    <a:pt x="20970239" y="0"/>
                  </a:lnTo>
                  <a:lnTo>
                    <a:pt x="20970239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29285" r="0" b="-229285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42875"/>
              <a:ext cx="20970240" cy="16059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920"/>
                </a:lnSpc>
              </a:pPr>
              <a:r>
                <a:rPr lang="en-US" sz="66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Fluxo Geral de Operação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005840" y="2743200"/>
            <a:ext cx="16276320" cy="1005840"/>
            <a:chOff x="0" y="0"/>
            <a:chExt cx="21701760" cy="134112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1701761" cy="1341120"/>
            </a:xfrm>
            <a:custGeom>
              <a:avLst/>
              <a:gdLst/>
              <a:ahLst/>
              <a:cxnLst/>
              <a:rect r="r" b="b" t="t" l="l"/>
              <a:pathLst>
                <a:path h="1341120" w="21701761">
                  <a:moveTo>
                    <a:pt x="0" y="0"/>
                  </a:moveTo>
                  <a:lnTo>
                    <a:pt x="21701761" y="0"/>
                  </a:lnTo>
                  <a:lnTo>
                    <a:pt x="21701761" y="1341120"/>
                  </a:lnTo>
                  <a:lnTo>
                    <a:pt x="0" y="13411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65303" r="0" b="-265303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76200"/>
              <a:ext cx="21701760" cy="14173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800"/>
                </a:lnSpc>
              </a:pPr>
              <a:r>
                <a:rPr lang="en-US" sz="4000">
                  <a:solidFill>
                    <a:srgbClr val="3A4C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Lorem ipsum dolor sit amet, consectetur adipiscing elit. Sed do eiusmod tempor incididunt ut labore et dolore magna aliqua.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993143" y="4559303"/>
            <a:ext cx="3591563" cy="2128523"/>
            <a:chOff x="0" y="0"/>
            <a:chExt cx="4788751" cy="2838031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4788789" cy="2838069"/>
            </a:xfrm>
            <a:custGeom>
              <a:avLst/>
              <a:gdLst/>
              <a:ahLst/>
              <a:cxnLst/>
              <a:rect r="r" b="b" t="t" l="l"/>
              <a:pathLst>
                <a:path h="2838069" w="4788789">
                  <a:moveTo>
                    <a:pt x="0" y="197485"/>
                  </a:moveTo>
                  <a:cubicBezTo>
                    <a:pt x="0" y="88392"/>
                    <a:pt x="88392" y="0"/>
                    <a:pt x="197485" y="0"/>
                  </a:cubicBezTo>
                  <a:lnTo>
                    <a:pt x="4591304" y="0"/>
                  </a:lnTo>
                  <a:cubicBezTo>
                    <a:pt x="4700397" y="0"/>
                    <a:pt x="4788789" y="88392"/>
                    <a:pt x="4788789" y="197485"/>
                  </a:cubicBezTo>
                  <a:lnTo>
                    <a:pt x="4788789" y="2640584"/>
                  </a:lnTo>
                  <a:cubicBezTo>
                    <a:pt x="4788789" y="2749677"/>
                    <a:pt x="4700397" y="2838069"/>
                    <a:pt x="4591304" y="2838069"/>
                  </a:cubicBezTo>
                  <a:lnTo>
                    <a:pt x="197485" y="2838069"/>
                  </a:lnTo>
                  <a:cubicBezTo>
                    <a:pt x="88392" y="2838069"/>
                    <a:pt x="0" y="2749677"/>
                    <a:pt x="0" y="2640584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3DEEA"/>
              </a:solidFill>
              <a:prstDash val="solid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1280160" y="4901184"/>
            <a:ext cx="3017520" cy="457200"/>
            <a:chOff x="0" y="0"/>
            <a:chExt cx="4023360" cy="6096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4023360" cy="609600"/>
            </a:xfrm>
            <a:custGeom>
              <a:avLst/>
              <a:gdLst/>
              <a:ahLst/>
              <a:cxnLst/>
              <a:rect r="r" b="b" t="t" l="l"/>
              <a:pathLst>
                <a:path h="609600" w="4023360">
                  <a:moveTo>
                    <a:pt x="0" y="0"/>
                  </a:moveTo>
                  <a:lnTo>
                    <a:pt x="4023360" y="0"/>
                  </a:lnTo>
                  <a:lnTo>
                    <a:pt x="402336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78601" r="0" b="-78601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402336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b="true" sz="2000" spc="300">
                  <a:solidFill>
                    <a:srgbClr val="38BDF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ETAPA 01</a:t>
              </a: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1280160" y="5329047"/>
            <a:ext cx="3017520" cy="11449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b="true">
                <a:solidFill>
                  <a:srgbClr val="0F2C4C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Lorem ipsum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4700016" y="5394960"/>
            <a:ext cx="475488" cy="475488"/>
            <a:chOff x="0" y="0"/>
            <a:chExt cx="633984" cy="633984"/>
          </a:xfrm>
        </p:grpSpPr>
        <p:sp>
          <p:nvSpPr>
            <p:cNvPr name="Freeform 20" id="20" descr="/home/claude/icons/FiArrowRight_64748B.png"/>
            <p:cNvSpPr/>
            <p:nvPr/>
          </p:nvSpPr>
          <p:spPr>
            <a:xfrm flipH="false" flipV="false" rot="0">
              <a:off x="0" y="0"/>
              <a:ext cx="633984" cy="633984"/>
            </a:xfrm>
            <a:custGeom>
              <a:avLst/>
              <a:gdLst/>
              <a:ahLst/>
              <a:cxnLst/>
              <a:rect r="r" b="b" t="t" l="l"/>
              <a:pathLst>
                <a:path h="633984" w="633984">
                  <a:moveTo>
                    <a:pt x="0" y="0"/>
                  </a:moveTo>
                  <a:lnTo>
                    <a:pt x="633984" y="0"/>
                  </a:lnTo>
                  <a:lnTo>
                    <a:pt x="633984" y="633984"/>
                  </a:lnTo>
                  <a:lnTo>
                    <a:pt x="0" y="6339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21" id="21"/>
          <p:cNvSpPr txBox="true"/>
          <p:nvPr/>
        </p:nvSpPr>
        <p:spPr>
          <a:xfrm rot="0">
            <a:off x="1005840" y="6901815"/>
            <a:ext cx="3566160" cy="11449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40"/>
              </a:lnSpc>
            </a:pPr>
            <a:r>
              <a:rPr lang="en-US" sz="2200">
                <a:solidFill>
                  <a:srgbClr val="7E8FA6"/>
                </a:solidFill>
                <a:latin typeface="Calibri (MS)"/>
                <a:ea typeface="Calibri (MS)"/>
                <a:cs typeface="Calibri (MS)"/>
                <a:sym typeface="Calibri (MS)"/>
              </a:rPr>
              <a:t>Lorem ipsum dolor sit amet elit.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5254247" y="4559303"/>
            <a:ext cx="3591563" cy="2128523"/>
            <a:chOff x="0" y="0"/>
            <a:chExt cx="4788751" cy="2838031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4788789" cy="2838069"/>
            </a:xfrm>
            <a:custGeom>
              <a:avLst/>
              <a:gdLst/>
              <a:ahLst/>
              <a:cxnLst/>
              <a:rect r="r" b="b" t="t" l="l"/>
              <a:pathLst>
                <a:path h="2838069" w="4788789">
                  <a:moveTo>
                    <a:pt x="0" y="197485"/>
                  </a:moveTo>
                  <a:cubicBezTo>
                    <a:pt x="0" y="88392"/>
                    <a:pt x="88392" y="0"/>
                    <a:pt x="197485" y="0"/>
                  </a:cubicBezTo>
                  <a:lnTo>
                    <a:pt x="4591304" y="0"/>
                  </a:lnTo>
                  <a:cubicBezTo>
                    <a:pt x="4700397" y="0"/>
                    <a:pt x="4788789" y="88392"/>
                    <a:pt x="4788789" y="197485"/>
                  </a:cubicBezTo>
                  <a:lnTo>
                    <a:pt x="4788789" y="2640584"/>
                  </a:lnTo>
                  <a:cubicBezTo>
                    <a:pt x="4788789" y="2749677"/>
                    <a:pt x="4700397" y="2838069"/>
                    <a:pt x="4591304" y="2838069"/>
                  </a:cubicBezTo>
                  <a:lnTo>
                    <a:pt x="197485" y="2838069"/>
                  </a:lnTo>
                  <a:cubicBezTo>
                    <a:pt x="88392" y="2838069"/>
                    <a:pt x="0" y="2749677"/>
                    <a:pt x="0" y="2640584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3DEEA"/>
              </a:solidFill>
              <a:prstDash val="solid"/>
              <a:miter/>
            </a:ln>
          </p:spPr>
        </p:sp>
      </p:grpSp>
      <p:grpSp>
        <p:nvGrpSpPr>
          <p:cNvPr name="Group 24" id="24"/>
          <p:cNvGrpSpPr/>
          <p:nvPr/>
        </p:nvGrpSpPr>
        <p:grpSpPr>
          <a:xfrm rot="0">
            <a:off x="5541264" y="4901184"/>
            <a:ext cx="3017520" cy="457200"/>
            <a:chOff x="0" y="0"/>
            <a:chExt cx="4023360" cy="6096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4023360" cy="609600"/>
            </a:xfrm>
            <a:custGeom>
              <a:avLst/>
              <a:gdLst/>
              <a:ahLst/>
              <a:cxnLst/>
              <a:rect r="r" b="b" t="t" l="l"/>
              <a:pathLst>
                <a:path h="609600" w="4023360">
                  <a:moveTo>
                    <a:pt x="0" y="0"/>
                  </a:moveTo>
                  <a:lnTo>
                    <a:pt x="4023360" y="0"/>
                  </a:lnTo>
                  <a:lnTo>
                    <a:pt x="402336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78601" r="0" b="-78601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38100"/>
              <a:ext cx="402336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b="true" sz="2000" spc="300">
                  <a:solidFill>
                    <a:srgbClr val="38BDF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ETAPA 02</a:t>
              </a:r>
            </a:p>
          </p:txBody>
        </p:sp>
      </p:grpSp>
      <p:sp>
        <p:nvSpPr>
          <p:cNvPr name="TextBox 27" id="27"/>
          <p:cNvSpPr txBox="true"/>
          <p:nvPr/>
        </p:nvSpPr>
        <p:spPr>
          <a:xfrm rot="0">
            <a:off x="5541264" y="5329047"/>
            <a:ext cx="3017520" cy="11449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b="true">
                <a:solidFill>
                  <a:srgbClr val="0F2C4C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Dolor sit amet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8961120" y="5394960"/>
            <a:ext cx="475488" cy="475488"/>
            <a:chOff x="0" y="0"/>
            <a:chExt cx="633984" cy="633984"/>
          </a:xfrm>
        </p:grpSpPr>
        <p:sp>
          <p:nvSpPr>
            <p:cNvPr name="Freeform 29" id="29" descr="/home/claude/icons/FiArrowRight_64748B.png"/>
            <p:cNvSpPr/>
            <p:nvPr/>
          </p:nvSpPr>
          <p:spPr>
            <a:xfrm flipH="false" flipV="false" rot="0">
              <a:off x="0" y="0"/>
              <a:ext cx="633984" cy="633984"/>
            </a:xfrm>
            <a:custGeom>
              <a:avLst/>
              <a:gdLst/>
              <a:ahLst/>
              <a:cxnLst/>
              <a:rect r="r" b="b" t="t" l="l"/>
              <a:pathLst>
                <a:path h="633984" w="633984">
                  <a:moveTo>
                    <a:pt x="0" y="0"/>
                  </a:moveTo>
                  <a:lnTo>
                    <a:pt x="633984" y="0"/>
                  </a:lnTo>
                  <a:lnTo>
                    <a:pt x="633984" y="633984"/>
                  </a:lnTo>
                  <a:lnTo>
                    <a:pt x="0" y="6339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30" id="30"/>
          <p:cNvSpPr txBox="true"/>
          <p:nvPr/>
        </p:nvSpPr>
        <p:spPr>
          <a:xfrm rot="0">
            <a:off x="5266944" y="6901815"/>
            <a:ext cx="3566160" cy="11449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40"/>
              </a:lnSpc>
            </a:pPr>
            <a:r>
              <a:rPr lang="en-US" sz="2200">
                <a:solidFill>
                  <a:srgbClr val="7E8FA6"/>
                </a:solidFill>
                <a:latin typeface="Calibri (MS)"/>
                <a:ea typeface="Calibri (MS)"/>
                <a:cs typeface="Calibri (MS)"/>
                <a:sym typeface="Calibri (MS)"/>
              </a:rPr>
              <a:t>Lorem ipsum dolor sit amet elit.</a:t>
            </a:r>
          </a:p>
        </p:txBody>
      </p:sp>
      <p:grpSp>
        <p:nvGrpSpPr>
          <p:cNvPr name="Group 31" id="31"/>
          <p:cNvGrpSpPr/>
          <p:nvPr/>
        </p:nvGrpSpPr>
        <p:grpSpPr>
          <a:xfrm rot="0">
            <a:off x="9515351" y="4559303"/>
            <a:ext cx="3591563" cy="2128523"/>
            <a:chOff x="0" y="0"/>
            <a:chExt cx="4788751" cy="2838031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4788789" cy="2838069"/>
            </a:xfrm>
            <a:custGeom>
              <a:avLst/>
              <a:gdLst/>
              <a:ahLst/>
              <a:cxnLst/>
              <a:rect r="r" b="b" t="t" l="l"/>
              <a:pathLst>
                <a:path h="2838069" w="4788789">
                  <a:moveTo>
                    <a:pt x="0" y="197485"/>
                  </a:moveTo>
                  <a:cubicBezTo>
                    <a:pt x="0" y="88392"/>
                    <a:pt x="88392" y="0"/>
                    <a:pt x="197485" y="0"/>
                  </a:cubicBezTo>
                  <a:lnTo>
                    <a:pt x="4591304" y="0"/>
                  </a:lnTo>
                  <a:cubicBezTo>
                    <a:pt x="4700397" y="0"/>
                    <a:pt x="4788789" y="88392"/>
                    <a:pt x="4788789" y="197485"/>
                  </a:cubicBezTo>
                  <a:lnTo>
                    <a:pt x="4788789" y="2640584"/>
                  </a:lnTo>
                  <a:cubicBezTo>
                    <a:pt x="4788789" y="2749677"/>
                    <a:pt x="4700397" y="2838069"/>
                    <a:pt x="4591304" y="2838069"/>
                  </a:cubicBezTo>
                  <a:lnTo>
                    <a:pt x="197485" y="2838069"/>
                  </a:lnTo>
                  <a:cubicBezTo>
                    <a:pt x="88392" y="2838069"/>
                    <a:pt x="0" y="2749677"/>
                    <a:pt x="0" y="2640584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3DEEA"/>
              </a:solidFill>
              <a:prstDash val="solid"/>
              <a:miter/>
            </a:ln>
          </p:spPr>
        </p:sp>
      </p:grpSp>
      <p:grpSp>
        <p:nvGrpSpPr>
          <p:cNvPr name="Group 33" id="33"/>
          <p:cNvGrpSpPr/>
          <p:nvPr/>
        </p:nvGrpSpPr>
        <p:grpSpPr>
          <a:xfrm rot="0">
            <a:off x="9802368" y="4901184"/>
            <a:ext cx="3017520" cy="457200"/>
            <a:chOff x="0" y="0"/>
            <a:chExt cx="4023360" cy="6096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4023360" cy="609600"/>
            </a:xfrm>
            <a:custGeom>
              <a:avLst/>
              <a:gdLst/>
              <a:ahLst/>
              <a:cxnLst/>
              <a:rect r="r" b="b" t="t" l="l"/>
              <a:pathLst>
                <a:path h="609600" w="4023360">
                  <a:moveTo>
                    <a:pt x="0" y="0"/>
                  </a:moveTo>
                  <a:lnTo>
                    <a:pt x="4023360" y="0"/>
                  </a:lnTo>
                  <a:lnTo>
                    <a:pt x="402336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78601" r="0" b="-78601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38100"/>
              <a:ext cx="402336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b="true" sz="2000" spc="300">
                  <a:solidFill>
                    <a:srgbClr val="38BDF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ETAPA 03</a:t>
              </a:r>
            </a:p>
          </p:txBody>
        </p:sp>
      </p:grpSp>
      <p:sp>
        <p:nvSpPr>
          <p:cNvPr name="TextBox 36" id="36"/>
          <p:cNvSpPr txBox="true"/>
          <p:nvPr/>
        </p:nvSpPr>
        <p:spPr>
          <a:xfrm rot="0">
            <a:off x="9802368" y="5329047"/>
            <a:ext cx="3017520" cy="11449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b="true">
                <a:solidFill>
                  <a:srgbClr val="0F2C4C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Consectetur elit</a:t>
            </a:r>
          </a:p>
        </p:txBody>
      </p:sp>
      <p:grpSp>
        <p:nvGrpSpPr>
          <p:cNvPr name="Group 37" id="37"/>
          <p:cNvGrpSpPr/>
          <p:nvPr/>
        </p:nvGrpSpPr>
        <p:grpSpPr>
          <a:xfrm rot="0">
            <a:off x="13222224" y="5394960"/>
            <a:ext cx="475488" cy="475488"/>
            <a:chOff x="0" y="0"/>
            <a:chExt cx="633984" cy="633984"/>
          </a:xfrm>
        </p:grpSpPr>
        <p:sp>
          <p:nvSpPr>
            <p:cNvPr name="Freeform 38" id="38" descr="/home/claude/icons/FiArrowRight_64748B.png"/>
            <p:cNvSpPr/>
            <p:nvPr/>
          </p:nvSpPr>
          <p:spPr>
            <a:xfrm flipH="false" flipV="false" rot="0">
              <a:off x="0" y="0"/>
              <a:ext cx="633984" cy="633984"/>
            </a:xfrm>
            <a:custGeom>
              <a:avLst/>
              <a:gdLst/>
              <a:ahLst/>
              <a:cxnLst/>
              <a:rect r="r" b="b" t="t" l="l"/>
              <a:pathLst>
                <a:path h="633984" w="633984">
                  <a:moveTo>
                    <a:pt x="0" y="0"/>
                  </a:moveTo>
                  <a:lnTo>
                    <a:pt x="633984" y="0"/>
                  </a:lnTo>
                  <a:lnTo>
                    <a:pt x="633984" y="633984"/>
                  </a:lnTo>
                  <a:lnTo>
                    <a:pt x="0" y="6339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39" id="39"/>
          <p:cNvSpPr txBox="true"/>
          <p:nvPr/>
        </p:nvSpPr>
        <p:spPr>
          <a:xfrm rot="0">
            <a:off x="9528048" y="6901815"/>
            <a:ext cx="3566160" cy="11449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40"/>
              </a:lnSpc>
            </a:pPr>
            <a:r>
              <a:rPr lang="en-US" sz="2200">
                <a:solidFill>
                  <a:srgbClr val="7E8FA6"/>
                </a:solidFill>
                <a:latin typeface="Calibri (MS)"/>
                <a:ea typeface="Calibri (MS)"/>
                <a:cs typeface="Calibri (MS)"/>
                <a:sym typeface="Calibri (MS)"/>
              </a:rPr>
              <a:t>Lorem ipsum dolor sit amet elit.</a:t>
            </a:r>
          </a:p>
        </p:txBody>
      </p:sp>
      <p:grpSp>
        <p:nvGrpSpPr>
          <p:cNvPr name="Group 40" id="40"/>
          <p:cNvGrpSpPr/>
          <p:nvPr/>
        </p:nvGrpSpPr>
        <p:grpSpPr>
          <a:xfrm rot="0">
            <a:off x="13776455" y="4559303"/>
            <a:ext cx="3591563" cy="2128523"/>
            <a:chOff x="0" y="0"/>
            <a:chExt cx="4788751" cy="2838031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4788789" cy="2838069"/>
            </a:xfrm>
            <a:custGeom>
              <a:avLst/>
              <a:gdLst/>
              <a:ahLst/>
              <a:cxnLst/>
              <a:rect r="r" b="b" t="t" l="l"/>
              <a:pathLst>
                <a:path h="2838069" w="4788789">
                  <a:moveTo>
                    <a:pt x="0" y="197485"/>
                  </a:moveTo>
                  <a:cubicBezTo>
                    <a:pt x="0" y="88392"/>
                    <a:pt x="88392" y="0"/>
                    <a:pt x="197485" y="0"/>
                  </a:cubicBezTo>
                  <a:lnTo>
                    <a:pt x="4591304" y="0"/>
                  </a:lnTo>
                  <a:cubicBezTo>
                    <a:pt x="4700397" y="0"/>
                    <a:pt x="4788789" y="88392"/>
                    <a:pt x="4788789" y="197485"/>
                  </a:cubicBezTo>
                  <a:lnTo>
                    <a:pt x="4788789" y="2640584"/>
                  </a:lnTo>
                  <a:cubicBezTo>
                    <a:pt x="4788789" y="2749677"/>
                    <a:pt x="4700397" y="2838069"/>
                    <a:pt x="4591304" y="2838069"/>
                  </a:cubicBezTo>
                  <a:lnTo>
                    <a:pt x="197485" y="2838069"/>
                  </a:lnTo>
                  <a:cubicBezTo>
                    <a:pt x="88392" y="2838069"/>
                    <a:pt x="0" y="2749677"/>
                    <a:pt x="0" y="2640584"/>
                  </a:cubicBezTo>
                  <a:close/>
                </a:path>
              </a:pathLst>
            </a:custGeom>
            <a:solidFill>
              <a:srgbClr val="4A6FA5"/>
            </a:solidFill>
            <a:ln w="25400" cap="sq">
              <a:solidFill>
                <a:srgbClr val="D3DEEA"/>
              </a:solidFill>
              <a:prstDash val="solid"/>
              <a:miter/>
            </a:ln>
          </p:spPr>
        </p:sp>
      </p:grpSp>
      <p:grpSp>
        <p:nvGrpSpPr>
          <p:cNvPr name="Group 42" id="42"/>
          <p:cNvGrpSpPr/>
          <p:nvPr/>
        </p:nvGrpSpPr>
        <p:grpSpPr>
          <a:xfrm rot="0">
            <a:off x="14063472" y="4901184"/>
            <a:ext cx="3017520" cy="457200"/>
            <a:chOff x="0" y="0"/>
            <a:chExt cx="4023360" cy="60960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4023360" cy="609600"/>
            </a:xfrm>
            <a:custGeom>
              <a:avLst/>
              <a:gdLst/>
              <a:ahLst/>
              <a:cxnLst/>
              <a:rect r="r" b="b" t="t" l="l"/>
              <a:pathLst>
                <a:path h="609600" w="4023360">
                  <a:moveTo>
                    <a:pt x="0" y="0"/>
                  </a:moveTo>
                  <a:lnTo>
                    <a:pt x="4023360" y="0"/>
                  </a:lnTo>
                  <a:lnTo>
                    <a:pt x="402336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78601" r="0" b="-78601"/>
              </a:stretch>
            </a:blipFill>
          </p:spPr>
        </p:sp>
        <p:sp>
          <p:nvSpPr>
            <p:cNvPr name="TextBox 44" id="44"/>
            <p:cNvSpPr txBox="true"/>
            <p:nvPr/>
          </p:nvSpPr>
          <p:spPr>
            <a:xfrm>
              <a:off x="0" y="-38100"/>
              <a:ext cx="402336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b="true" sz="2000" spc="300">
                  <a:solidFill>
                    <a:srgbClr val="DCE8F7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ETAPA 04</a:t>
              </a:r>
            </a:p>
          </p:txBody>
        </p:sp>
      </p:grpSp>
      <p:sp>
        <p:nvSpPr>
          <p:cNvPr name="TextBox 45" id="45"/>
          <p:cNvSpPr txBox="true"/>
          <p:nvPr/>
        </p:nvSpPr>
        <p:spPr>
          <a:xfrm rot="0">
            <a:off x="14063472" y="5329047"/>
            <a:ext cx="3017520" cy="11449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b="true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Sed eiusmod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13789152" y="6901815"/>
            <a:ext cx="3566160" cy="11449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40"/>
              </a:lnSpc>
            </a:pPr>
            <a:r>
              <a:rPr lang="en-US" sz="2200">
                <a:solidFill>
                  <a:srgbClr val="7E8FA6"/>
                </a:solidFill>
                <a:latin typeface="Calibri (MS)"/>
                <a:ea typeface="Calibri (MS)"/>
                <a:cs typeface="Calibri (MS)"/>
                <a:sym typeface="Calibri (MS)"/>
              </a:rPr>
              <a:t>Lorem ipsum dolor sit amet elit.</a:t>
            </a:r>
          </a:p>
        </p:txBody>
      </p:sp>
      <p:grpSp>
        <p:nvGrpSpPr>
          <p:cNvPr name="Group 47" id="47"/>
          <p:cNvGrpSpPr/>
          <p:nvPr/>
        </p:nvGrpSpPr>
        <p:grpSpPr>
          <a:xfrm rot="0">
            <a:off x="1005840" y="9692640"/>
            <a:ext cx="10058400" cy="457200"/>
            <a:chOff x="0" y="0"/>
            <a:chExt cx="13411200" cy="60960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13411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3411200">
                  <a:moveTo>
                    <a:pt x="0" y="0"/>
                  </a:moveTo>
                  <a:lnTo>
                    <a:pt x="13411200" y="0"/>
                  </a:lnTo>
                  <a:lnTo>
                    <a:pt x="13411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78670" r="0" b="-378670"/>
              </a:stretch>
            </a:blipFill>
          </p:spPr>
        </p:sp>
        <p:sp>
          <p:nvSpPr>
            <p:cNvPr name="TextBox 49" id="49"/>
            <p:cNvSpPr txBox="true"/>
            <p:nvPr/>
          </p:nvSpPr>
          <p:spPr>
            <a:xfrm>
              <a:off x="0" y="-38100"/>
              <a:ext cx="13411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7E8F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Seminário de IoT — Segurança em IoT · Grupo 6</a:t>
              </a: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16367760" y="9692640"/>
            <a:ext cx="914400" cy="457200"/>
            <a:chOff x="0" y="0"/>
            <a:chExt cx="1219200" cy="60960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1219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52" id="52"/>
            <p:cNvSpPr txBox="true"/>
            <p:nvPr/>
          </p:nvSpPr>
          <p:spPr>
            <a:xfrm>
              <a:off x="0" y="-38100"/>
              <a:ext cx="1219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7E8F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14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05840" y="914400"/>
            <a:ext cx="621792" cy="559613"/>
            <a:chOff x="0" y="0"/>
            <a:chExt cx="829056" cy="74615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29056" cy="746125"/>
            </a:xfrm>
            <a:custGeom>
              <a:avLst/>
              <a:gdLst/>
              <a:ahLst/>
              <a:cxnLst/>
              <a:rect r="r" b="b" t="t" l="l"/>
              <a:pathLst>
                <a:path h="746125" w="829056">
                  <a:moveTo>
                    <a:pt x="0" y="373126"/>
                  </a:moveTo>
                  <a:lnTo>
                    <a:pt x="186563" y="0"/>
                  </a:lnTo>
                  <a:lnTo>
                    <a:pt x="642493" y="0"/>
                  </a:lnTo>
                  <a:lnTo>
                    <a:pt x="829056" y="373126"/>
                  </a:lnTo>
                  <a:lnTo>
                    <a:pt x="642493" y="746125"/>
                  </a:lnTo>
                  <a:lnTo>
                    <a:pt x="186563" y="746125"/>
                  </a:lnTo>
                  <a:close/>
                </a:path>
              </a:pathLst>
            </a:custGeom>
            <a:solidFill>
              <a:srgbClr val="38BDF8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865376" y="859536"/>
            <a:ext cx="13898880" cy="475488"/>
            <a:chOff x="0" y="0"/>
            <a:chExt cx="18531840" cy="63398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8531839" cy="633984"/>
            </a:xfrm>
            <a:custGeom>
              <a:avLst/>
              <a:gdLst/>
              <a:ahLst/>
              <a:cxnLst/>
              <a:rect r="r" b="b" t="t" l="l"/>
              <a:pathLst>
                <a:path h="633984" w="18531839">
                  <a:moveTo>
                    <a:pt x="0" y="0"/>
                  </a:moveTo>
                  <a:lnTo>
                    <a:pt x="18531839" y="0"/>
                  </a:lnTo>
                  <a:lnTo>
                    <a:pt x="18531839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19562" r="0" b="-519562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18531840" cy="68160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b="true" sz="2200" spc="399">
                  <a:solidFill>
                    <a:srgbClr val="4A6FA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FUNCIONAMENTO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005840" y="1426464"/>
            <a:ext cx="15727680" cy="1097280"/>
            <a:chOff x="0" y="0"/>
            <a:chExt cx="20970240" cy="146304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0970239" cy="1463040"/>
            </a:xfrm>
            <a:custGeom>
              <a:avLst/>
              <a:gdLst/>
              <a:ahLst/>
              <a:cxnLst/>
              <a:rect r="r" b="b" t="t" l="l"/>
              <a:pathLst>
                <a:path h="1463040" w="20970239">
                  <a:moveTo>
                    <a:pt x="0" y="0"/>
                  </a:moveTo>
                  <a:lnTo>
                    <a:pt x="20970239" y="0"/>
                  </a:lnTo>
                  <a:lnTo>
                    <a:pt x="20970239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29285" r="0" b="-229285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42875"/>
              <a:ext cx="20970240" cy="16059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920"/>
                </a:lnSpc>
              </a:pPr>
              <a:r>
                <a:rPr lang="en-US" sz="66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Detalhamento do Processo</a:t>
              </a: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1005840" y="2758440"/>
            <a:ext cx="7955280" cy="2179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00"/>
              </a:lnSpc>
            </a:pPr>
            <a:r>
              <a:rPr lang="en-US" sz="4000">
                <a:solidFill>
                  <a:srgbClr val="3A4C63"/>
                </a:solidFill>
                <a:latin typeface="Calibri (MS)"/>
                <a:ea typeface="Calibri (MS)"/>
                <a:cs typeface="Calibri (MS)"/>
                <a:sym typeface="Calibri (MS)"/>
              </a:rPr>
              <a:t>Lorem ipsum dolor sit amet, consectetur adipiscing elit. Sed do eiusmod tempor incididunt ut labore et dolore magna aliqua. Ut enim ad minim veniam, quis nostrud exercitation.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05840" y="5135880"/>
            <a:ext cx="7955280" cy="3916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965200" indent="-482600" lvl="1">
              <a:lnSpc>
                <a:spcPts val="4800"/>
              </a:lnSpc>
              <a:buFont typeface="Arial"/>
              <a:buChar char="•"/>
            </a:pPr>
            <a:r>
              <a:rPr lang="en-US" sz="4000">
                <a:solidFill>
                  <a:srgbClr val="3A4C63"/>
                </a:solidFill>
                <a:latin typeface="Calibri (MS)"/>
                <a:ea typeface="Calibri (MS)"/>
                <a:cs typeface="Calibri (MS)"/>
                <a:sym typeface="Calibri (MS)"/>
              </a:rPr>
              <a:t>Lorem ipsum dolor sit amet, consectetur elit</a:t>
            </a:r>
          </a:p>
          <a:p>
            <a:pPr algn="l" marL="965200" indent="-482600" lvl="1">
              <a:lnSpc>
                <a:spcPts val="4800"/>
              </a:lnSpc>
              <a:buFont typeface="Arial"/>
              <a:buChar char="•"/>
            </a:pPr>
            <a:r>
              <a:rPr lang="en-US" sz="4000">
                <a:solidFill>
                  <a:srgbClr val="3A4C63"/>
                </a:solidFill>
                <a:latin typeface="Calibri (MS)"/>
                <a:ea typeface="Calibri (MS)"/>
                <a:cs typeface="Calibri (MS)"/>
                <a:sym typeface="Calibri (MS)"/>
              </a:rPr>
              <a:t>Sed do eiusmod tempor incididunt ut labore</a:t>
            </a:r>
          </a:p>
          <a:p>
            <a:pPr algn="l" marL="965200" indent="-482600" lvl="1">
              <a:lnSpc>
                <a:spcPts val="4800"/>
              </a:lnSpc>
              <a:buFont typeface="Arial"/>
              <a:buChar char="•"/>
            </a:pPr>
            <a:r>
              <a:rPr lang="en-US" sz="4000">
                <a:solidFill>
                  <a:srgbClr val="3A4C63"/>
                </a:solidFill>
                <a:latin typeface="Calibri (MS)"/>
                <a:ea typeface="Calibri (MS)"/>
                <a:cs typeface="Calibri (MS)"/>
                <a:sym typeface="Calibri (MS)"/>
              </a:rPr>
              <a:t>Ut enim ad minim veniam quis nostrud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9493882" y="2818762"/>
            <a:ext cx="7804147" cy="6249667"/>
            <a:chOff x="0" y="0"/>
            <a:chExt cx="10405529" cy="8332889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0405491" cy="8332851"/>
            </a:xfrm>
            <a:custGeom>
              <a:avLst/>
              <a:gdLst/>
              <a:ahLst/>
              <a:cxnLst/>
              <a:rect r="r" b="b" t="t" l="l"/>
              <a:pathLst>
                <a:path h="8332851" w="10405491">
                  <a:moveTo>
                    <a:pt x="0" y="196088"/>
                  </a:moveTo>
                  <a:cubicBezTo>
                    <a:pt x="0" y="87757"/>
                    <a:pt x="87757" y="0"/>
                    <a:pt x="196088" y="0"/>
                  </a:cubicBezTo>
                  <a:lnTo>
                    <a:pt x="10209403" y="0"/>
                  </a:lnTo>
                  <a:cubicBezTo>
                    <a:pt x="10317735" y="0"/>
                    <a:pt x="10405491" y="87757"/>
                    <a:pt x="10405491" y="196088"/>
                  </a:cubicBezTo>
                  <a:lnTo>
                    <a:pt x="10405491" y="8136763"/>
                  </a:lnTo>
                  <a:cubicBezTo>
                    <a:pt x="10405491" y="8245094"/>
                    <a:pt x="10317735" y="8332851"/>
                    <a:pt x="10209403" y="8332851"/>
                  </a:cubicBezTo>
                  <a:lnTo>
                    <a:pt x="196088" y="8332851"/>
                  </a:lnTo>
                  <a:cubicBezTo>
                    <a:pt x="87757" y="8332851"/>
                    <a:pt x="0" y="8245094"/>
                    <a:pt x="0" y="8136763"/>
                  </a:cubicBezTo>
                  <a:close/>
                </a:path>
              </a:pathLst>
            </a:custGeom>
            <a:solidFill>
              <a:srgbClr val="F7FAFD"/>
            </a:solidFill>
            <a:ln w="31750" cap="sq">
              <a:solidFill>
                <a:srgbClr val="A9C1DC"/>
              </a:solidFill>
              <a:prstDash val="dash"/>
              <a:miter/>
            </a:ln>
          </p:spPr>
        </p:sp>
      </p:grpSp>
      <p:grpSp>
        <p:nvGrpSpPr>
          <p:cNvPr name="Group 14" id="14"/>
          <p:cNvGrpSpPr/>
          <p:nvPr/>
        </p:nvGrpSpPr>
        <p:grpSpPr>
          <a:xfrm rot="0">
            <a:off x="12993624" y="5175504"/>
            <a:ext cx="804672" cy="804672"/>
            <a:chOff x="0" y="0"/>
            <a:chExt cx="1072896" cy="1072896"/>
          </a:xfrm>
        </p:grpSpPr>
        <p:sp>
          <p:nvSpPr>
            <p:cNvPr name="Freeform 15" id="15" descr="/home/claude/icons/FiGitBranch_64748B.png"/>
            <p:cNvSpPr/>
            <p:nvPr/>
          </p:nvSpPr>
          <p:spPr>
            <a:xfrm flipH="false" flipV="false" rot="0">
              <a:off x="0" y="0"/>
              <a:ext cx="1072896" cy="1072896"/>
            </a:xfrm>
            <a:custGeom>
              <a:avLst/>
              <a:gdLst/>
              <a:ahLst/>
              <a:cxnLst/>
              <a:rect r="r" b="b" t="t" l="l"/>
              <a:pathLst>
                <a:path h="1072896" w="1072896">
                  <a:moveTo>
                    <a:pt x="0" y="0"/>
                  </a:moveTo>
                  <a:lnTo>
                    <a:pt x="1072896" y="0"/>
                  </a:lnTo>
                  <a:lnTo>
                    <a:pt x="1072896" y="1072896"/>
                  </a:lnTo>
                  <a:lnTo>
                    <a:pt x="0" y="10728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9875520" y="6035040"/>
            <a:ext cx="7040880" cy="548640"/>
            <a:chOff x="0" y="0"/>
            <a:chExt cx="9387840" cy="73152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9387840" cy="731520"/>
            </a:xfrm>
            <a:custGeom>
              <a:avLst/>
              <a:gdLst/>
              <a:ahLst/>
              <a:cxnLst/>
              <a:rect r="r" b="b" t="t" l="l"/>
              <a:pathLst>
                <a:path h="731520" w="9387840">
                  <a:moveTo>
                    <a:pt x="0" y="0"/>
                  </a:moveTo>
                  <a:lnTo>
                    <a:pt x="9387840" y="0"/>
                  </a:lnTo>
                  <a:lnTo>
                    <a:pt x="938784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00057" r="0" b="-200057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57150"/>
              <a:ext cx="9387840" cy="7886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120"/>
                </a:lnSpc>
              </a:pPr>
              <a:r>
                <a:rPr lang="en-US" sz="2600" b="true">
                  <a:solidFill>
                    <a:srgbClr val="7E8F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Inserir fluxograma detalhado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9875520" y="6565392"/>
            <a:ext cx="7040880" cy="438912"/>
            <a:chOff x="0" y="0"/>
            <a:chExt cx="9387840" cy="585216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9387840" cy="585216"/>
            </a:xfrm>
            <a:custGeom>
              <a:avLst/>
              <a:gdLst/>
              <a:ahLst/>
              <a:cxnLst/>
              <a:rect r="r" b="b" t="t" l="l"/>
              <a:pathLst>
                <a:path h="585216" w="9387840">
                  <a:moveTo>
                    <a:pt x="0" y="0"/>
                  </a:moveTo>
                  <a:lnTo>
                    <a:pt x="9387840" y="0"/>
                  </a:lnTo>
                  <a:lnTo>
                    <a:pt x="9387840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62572" r="0" b="-262572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38100"/>
              <a:ext cx="9387840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400"/>
                </a:lnSpc>
              </a:pPr>
              <a:r>
                <a:rPr lang="en-US" sz="2000" i="true">
                  <a:solidFill>
                    <a:srgbClr val="7E8FA6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Substitua por diagrama, fluxo, tabela ou captura de tela</a:t>
              </a: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005840" y="9692640"/>
            <a:ext cx="10058400" cy="457200"/>
            <a:chOff x="0" y="0"/>
            <a:chExt cx="13411200" cy="6096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3411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3411200">
                  <a:moveTo>
                    <a:pt x="0" y="0"/>
                  </a:moveTo>
                  <a:lnTo>
                    <a:pt x="13411200" y="0"/>
                  </a:lnTo>
                  <a:lnTo>
                    <a:pt x="13411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78670" r="0" b="-378670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13411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7E8F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Seminário de IoT — Segurança em IoT · Grupo 6</a:t>
              </a: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6367760" y="9692640"/>
            <a:ext cx="914400" cy="457200"/>
            <a:chOff x="0" y="0"/>
            <a:chExt cx="1219200" cy="6096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219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1219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7E8F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15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05840" y="914400"/>
            <a:ext cx="621792" cy="559613"/>
            <a:chOff x="0" y="0"/>
            <a:chExt cx="829056" cy="74615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29056" cy="746125"/>
            </a:xfrm>
            <a:custGeom>
              <a:avLst/>
              <a:gdLst/>
              <a:ahLst/>
              <a:cxnLst/>
              <a:rect r="r" b="b" t="t" l="l"/>
              <a:pathLst>
                <a:path h="746125" w="829056">
                  <a:moveTo>
                    <a:pt x="0" y="373126"/>
                  </a:moveTo>
                  <a:lnTo>
                    <a:pt x="186563" y="0"/>
                  </a:lnTo>
                  <a:lnTo>
                    <a:pt x="642493" y="0"/>
                  </a:lnTo>
                  <a:lnTo>
                    <a:pt x="829056" y="373126"/>
                  </a:lnTo>
                  <a:lnTo>
                    <a:pt x="642493" y="746125"/>
                  </a:lnTo>
                  <a:lnTo>
                    <a:pt x="186563" y="746125"/>
                  </a:lnTo>
                  <a:close/>
                </a:path>
              </a:pathLst>
            </a:custGeom>
            <a:solidFill>
              <a:srgbClr val="38BDF8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865376" y="859536"/>
            <a:ext cx="13898880" cy="475488"/>
            <a:chOff x="0" y="0"/>
            <a:chExt cx="18531840" cy="63398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8531839" cy="633984"/>
            </a:xfrm>
            <a:custGeom>
              <a:avLst/>
              <a:gdLst/>
              <a:ahLst/>
              <a:cxnLst/>
              <a:rect r="r" b="b" t="t" l="l"/>
              <a:pathLst>
                <a:path h="633984" w="18531839">
                  <a:moveTo>
                    <a:pt x="0" y="0"/>
                  </a:moveTo>
                  <a:lnTo>
                    <a:pt x="18531839" y="0"/>
                  </a:lnTo>
                  <a:lnTo>
                    <a:pt x="18531839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19562" r="0" b="-519562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18531840" cy="68160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b="true" sz="2200" spc="399">
                  <a:solidFill>
                    <a:srgbClr val="4A6FA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FUNCIONAMENTO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005840" y="1426464"/>
            <a:ext cx="15727680" cy="1097280"/>
            <a:chOff x="0" y="0"/>
            <a:chExt cx="20970240" cy="146304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0970239" cy="1463040"/>
            </a:xfrm>
            <a:custGeom>
              <a:avLst/>
              <a:gdLst/>
              <a:ahLst/>
              <a:cxnLst/>
              <a:rect r="r" b="b" t="t" l="l"/>
              <a:pathLst>
                <a:path h="1463040" w="20970239">
                  <a:moveTo>
                    <a:pt x="0" y="0"/>
                  </a:moveTo>
                  <a:lnTo>
                    <a:pt x="20970239" y="0"/>
                  </a:lnTo>
                  <a:lnTo>
                    <a:pt x="20970239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29285" r="0" b="-229285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42875"/>
              <a:ext cx="20970240" cy="16059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920"/>
                </a:lnSpc>
              </a:pPr>
              <a:r>
                <a:rPr lang="en-US" sz="66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Modelo em Camadas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005840" y="2834640"/>
            <a:ext cx="10241280" cy="1426464"/>
            <a:chOff x="0" y="0"/>
            <a:chExt cx="13655040" cy="190195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3655041" cy="1901952"/>
            </a:xfrm>
            <a:custGeom>
              <a:avLst/>
              <a:gdLst/>
              <a:ahLst/>
              <a:cxnLst/>
              <a:rect r="r" b="b" t="t" l="l"/>
              <a:pathLst>
                <a:path h="1901952" w="13655041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13508737" y="0"/>
                  </a:lnTo>
                  <a:cubicBezTo>
                    <a:pt x="13589508" y="0"/>
                    <a:pt x="13655041" y="65532"/>
                    <a:pt x="13655041" y="146304"/>
                  </a:cubicBezTo>
                  <a:lnTo>
                    <a:pt x="13655041" y="1755648"/>
                  </a:lnTo>
                  <a:cubicBezTo>
                    <a:pt x="13655041" y="1836420"/>
                    <a:pt x="13589508" y="1901952"/>
                    <a:pt x="13508737" y="1901952"/>
                  </a:cubicBezTo>
                  <a:lnTo>
                    <a:pt x="146304" y="1901952"/>
                  </a:lnTo>
                  <a:cubicBezTo>
                    <a:pt x="65532" y="1901952"/>
                    <a:pt x="0" y="1836420"/>
                    <a:pt x="0" y="1755648"/>
                  </a:cubicBezTo>
                  <a:close/>
                </a:path>
              </a:pathLst>
            </a:custGeom>
            <a:solidFill>
              <a:srgbClr val="0F2C4C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554480" y="2834640"/>
            <a:ext cx="8046720" cy="1426464"/>
            <a:chOff x="0" y="0"/>
            <a:chExt cx="10728960" cy="1901952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0728960" cy="1901952"/>
            </a:xfrm>
            <a:custGeom>
              <a:avLst/>
              <a:gdLst/>
              <a:ahLst/>
              <a:cxnLst/>
              <a:rect r="r" b="b" t="t" l="l"/>
              <a:pathLst>
                <a:path h="1901952" w="10728960">
                  <a:moveTo>
                    <a:pt x="0" y="0"/>
                  </a:moveTo>
                  <a:lnTo>
                    <a:pt x="10728960" y="0"/>
                  </a:lnTo>
                  <a:lnTo>
                    <a:pt x="10728960" y="1901952"/>
                  </a:lnTo>
                  <a:lnTo>
                    <a:pt x="0" y="190195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9915" r="0" b="-59915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66675"/>
              <a:ext cx="10728960" cy="196862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079"/>
                </a:lnSpc>
              </a:pPr>
              <a:r>
                <a:rPr lang="en-US" sz="34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Camada 04 — Lorem ipsum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7955280" y="2834640"/>
            <a:ext cx="3108960" cy="1426464"/>
            <a:chOff x="0" y="0"/>
            <a:chExt cx="4145280" cy="1901952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4145280" cy="1901952"/>
            </a:xfrm>
            <a:custGeom>
              <a:avLst/>
              <a:gdLst/>
              <a:ahLst/>
              <a:cxnLst/>
              <a:rect r="r" b="b" t="t" l="l"/>
              <a:pathLst>
                <a:path h="1901952" w="4145280">
                  <a:moveTo>
                    <a:pt x="0" y="0"/>
                  </a:moveTo>
                  <a:lnTo>
                    <a:pt x="4145280" y="0"/>
                  </a:lnTo>
                  <a:lnTo>
                    <a:pt x="4145280" y="1901952"/>
                  </a:lnTo>
                  <a:lnTo>
                    <a:pt x="0" y="190195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8868" t="0" r="-8868" b="0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47625"/>
              <a:ext cx="4145280" cy="194957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520"/>
                </a:lnSpc>
              </a:pPr>
              <a:r>
                <a:rPr lang="en-US" sz="2100">
                  <a:solidFill>
                    <a:srgbClr val="C9D7EA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Lorem ipsum dolor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005840" y="4480560"/>
            <a:ext cx="10241280" cy="1426464"/>
            <a:chOff x="0" y="0"/>
            <a:chExt cx="13655040" cy="1901952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3655041" cy="1901952"/>
            </a:xfrm>
            <a:custGeom>
              <a:avLst/>
              <a:gdLst/>
              <a:ahLst/>
              <a:cxnLst/>
              <a:rect r="r" b="b" t="t" l="l"/>
              <a:pathLst>
                <a:path h="1901952" w="13655041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13508737" y="0"/>
                  </a:lnTo>
                  <a:cubicBezTo>
                    <a:pt x="13589508" y="0"/>
                    <a:pt x="13655041" y="65532"/>
                    <a:pt x="13655041" y="146304"/>
                  </a:cubicBezTo>
                  <a:lnTo>
                    <a:pt x="13655041" y="1755648"/>
                  </a:lnTo>
                  <a:cubicBezTo>
                    <a:pt x="13655041" y="1836420"/>
                    <a:pt x="13589508" y="1901952"/>
                    <a:pt x="13508737" y="1901952"/>
                  </a:cubicBezTo>
                  <a:lnTo>
                    <a:pt x="146304" y="1901952"/>
                  </a:lnTo>
                  <a:cubicBezTo>
                    <a:pt x="65532" y="1901952"/>
                    <a:pt x="0" y="1836420"/>
                    <a:pt x="0" y="1755648"/>
                  </a:cubicBezTo>
                  <a:close/>
                </a:path>
              </a:pathLst>
            </a:custGeom>
            <a:solidFill>
              <a:srgbClr val="23507F"/>
            </a:solid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1554480" y="4480560"/>
            <a:ext cx="8046720" cy="1426464"/>
            <a:chOff x="0" y="0"/>
            <a:chExt cx="10728960" cy="1901952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0728960" cy="1901952"/>
            </a:xfrm>
            <a:custGeom>
              <a:avLst/>
              <a:gdLst/>
              <a:ahLst/>
              <a:cxnLst/>
              <a:rect r="r" b="b" t="t" l="l"/>
              <a:pathLst>
                <a:path h="1901952" w="10728960">
                  <a:moveTo>
                    <a:pt x="0" y="0"/>
                  </a:moveTo>
                  <a:lnTo>
                    <a:pt x="10728960" y="0"/>
                  </a:lnTo>
                  <a:lnTo>
                    <a:pt x="10728960" y="1901952"/>
                  </a:lnTo>
                  <a:lnTo>
                    <a:pt x="0" y="190195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9915" r="0" b="-59915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66675"/>
              <a:ext cx="10728960" cy="196862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079"/>
                </a:lnSpc>
              </a:pPr>
              <a:r>
                <a:rPr lang="en-US" sz="34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Camada 03 — Lorem ipsum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7955280" y="4480560"/>
            <a:ext cx="3108960" cy="1426464"/>
            <a:chOff x="0" y="0"/>
            <a:chExt cx="4145280" cy="1901952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4145280" cy="1901952"/>
            </a:xfrm>
            <a:custGeom>
              <a:avLst/>
              <a:gdLst/>
              <a:ahLst/>
              <a:cxnLst/>
              <a:rect r="r" b="b" t="t" l="l"/>
              <a:pathLst>
                <a:path h="1901952" w="4145280">
                  <a:moveTo>
                    <a:pt x="0" y="0"/>
                  </a:moveTo>
                  <a:lnTo>
                    <a:pt x="4145280" y="0"/>
                  </a:lnTo>
                  <a:lnTo>
                    <a:pt x="4145280" y="1901952"/>
                  </a:lnTo>
                  <a:lnTo>
                    <a:pt x="0" y="190195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8868" t="0" r="-8868" b="0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47625"/>
              <a:ext cx="4145280" cy="194957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520"/>
                </a:lnSpc>
              </a:pPr>
              <a:r>
                <a:rPr lang="en-US" sz="2100">
                  <a:solidFill>
                    <a:srgbClr val="C9D7EA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Lorem ipsum dolor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1005840" y="6126480"/>
            <a:ext cx="10241280" cy="1426464"/>
            <a:chOff x="0" y="0"/>
            <a:chExt cx="13655040" cy="1901952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3655041" cy="1901952"/>
            </a:xfrm>
            <a:custGeom>
              <a:avLst/>
              <a:gdLst/>
              <a:ahLst/>
              <a:cxnLst/>
              <a:rect r="r" b="b" t="t" l="l"/>
              <a:pathLst>
                <a:path h="1901952" w="13655041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13508737" y="0"/>
                  </a:lnTo>
                  <a:cubicBezTo>
                    <a:pt x="13589508" y="0"/>
                    <a:pt x="13655041" y="65532"/>
                    <a:pt x="13655041" y="146304"/>
                  </a:cubicBezTo>
                  <a:lnTo>
                    <a:pt x="13655041" y="1755648"/>
                  </a:lnTo>
                  <a:cubicBezTo>
                    <a:pt x="13655041" y="1836420"/>
                    <a:pt x="13589508" y="1901952"/>
                    <a:pt x="13508737" y="1901952"/>
                  </a:cubicBezTo>
                  <a:lnTo>
                    <a:pt x="146304" y="1901952"/>
                  </a:lnTo>
                  <a:cubicBezTo>
                    <a:pt x="65532" y="1901952"/>
                    <a:pt x="0" y="1836420"/>
                    <a:pt x="0" y="1755648"/>
                  </a:cubicBezTo>
                  <a:close/>
                </a:path>
              </a:pathLst>
            </a:custGeom>
            <a:solidFill>
              <a:srgbClr val="4A6FA5"/>
            </a:solid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1554480" y="6126480"/>
            <a:ext cx="8046720" cy="1426464"/>
            <a:chOff x="0" y="0"/>
            <a:chExt cx="10728960" cy="1901952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0728960" cy="1901952"/>
            </a:xfrm>
            <a:custGeom>
              <a:avLst/>
              <a:gdLst/>
              <a:ahLst/>
              <a:cxnLst/>
              <a:rect r="r" b="b" t="t" l="l"/>
              <a:pathLst>
                <a:path h="1901952" w="10728960">
                  <a:moveTo>
                    <a:pt x="0" y="0"/>
                  </a:moveTo>
                  <a:lnTo>
                    <a:pt x="10728960" y="0"/>
                  </a:lnTo>
                  <a:lnTo>
                    <a:pt x="10728960" y="1901952"/>
                  </a:lnTo>
                  <a:lnTo>
                    <a:pt x="0" y="190195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9915" r="0" b="-59915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66675"/>
              <a:ext cx="10728960" cy="196862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079"/>
                </a:lnSpc>
              </a:pPr>
              <a:r>
                <a:rPr lang="en-US" sz="34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Camada 02 — Lorem ipsum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7955280" y="6126480"/>
            <a:ext cx="3108960" cy="1426464"/>
            <a:chOff x="0" y="0"/>
            <a:chExt cx="4145280" cy="1901952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4145280" cy="1901952"/>
            </a:xfrm>
            <a:custGeom>
              <a:avLst/>
              <a:gdLst/>
              <a:ahLst/>
              <a:cxnLst/>
              <a:rect r="r" b="b" t="t" l="l"/>
              <a:pathLst>
                <a:path h="1901952" w="4145280">
                  <a:moveTo>
                    <a:pt x="0" y="0"/>
                  </a:moveTo>
                  <a:lnTo>
                    <a:pt x="4145280" y="0"/>
                  </a:lnTo>
                  <a:lnTo>
                    <a:pt x="4145280" y="1901952"/>
                  </a:lnTo>
                  <a:lnTo>
                    <a:pt x="0" y="190195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8868" t="0" r="-8868" b="0"/>
              </a:stretch>
            </a:blip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47625"/>
              <a:ext cx="4145280" cy="194957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520"/>
                </a:lnSpc>
              </a:pPr>
              <a:r>
                <a:rPr lang="en-US" sz="2100">
                  <a:solidFill>
                    <a:srgbClr val="C9D7EA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Lorem ipsum dolor</a:t>
              </a: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1005840" y="7772400"/>
            <a:ext cx="10241280" cy="1426464"/>
            <a:chOff x="0" y="0"/>
            <a:chExt cx="13655040" cy="1901952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13655041" cy="1901952"/>
            </a:xfrm>
            <a:custGeom>
              <a:avLst/>
              <a:gdLst/>
              <a:ahLst/>
              <a:cxnLst/>
              <a:rect r="r" b="b" t="t" l="l"/>
              <a:pathLst>
                <a:path h="1901952" w="13655041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13508737" y="0"/>
                  </a:lnTo>
                  <a:cubicBezTo>
                    <a:pt x="13589508" y="0"/>
                    <a:pt x="13655041" y="65532"/>
                    <a:pt x="13655041" y="146304"/>
                  </a:cubicBezTo>
                  <a:lnTo>
                    <a:pt x="13655041" y="1755648"/>
                  </a:lnTo>
                  <a:cubicBezTo>
                    <a:pt x="13655041" y="1836420"/>
                    <a:pt x="13589508" y="1901952"/>
                    <a:pt x="13508737" y="1901952"/>
                  </a:cubicBezTo>
                  <a:lnTo>
                    <a:pt x="146304" y="1901952"/>
                  </a:lnTo>
                  <a:cubicBezTo>
                    <a:pt x="65532" y="1901952"/>
                    <a:pt x="0" y="1836420"/>
                    <a:pt x="0" y="1755648"/>
                  </a:cubicBezTo>
                  <a:close/>
                </a:path>
              </a:pathLst>
            </a:custGeom>
            <a:solidFill>
              <a:srgbClr val="38BDF8"/>
            </a:solidFill>
          </p:spPr>
        </p:sp>
      </p:grpSp>
      <p:grpSp>
        <p:nvGrpSpPr>
          <p:cNvPr name="Group 36" id="36"/>
          <p:cNvGrpSpPr/>
          <p:nvPr/>
        </p:nvGrpSpPr>
        <p:grpSpPr>
          <a:xfrm rot="0">
            <a:off x="1554480" y="7772400"/>
            <a:ext cx="8046720" cy="1426464"/>
            <a:chOff x="0" y="0"/>
            <a:chExt cx="10728960" cy="1901952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0728960" cy="1901952"/>
            </a:xfrm>
            <a:custGeom>
              <a:avLst/>
              <a:gdLst/>
              <a:ahLst/>
              <a:cxnLst/>
              <a:rect r="r" b="b" t="t" l="l"/>
              <a:pathLst>
                <a:path h="1901952" w="10728960">
                  <a:moveTo>
                    <a:pt x="0" y="0"/>
                  </a:moveTo>
                  <a:lnTo>
                    <a:pt x="10728960" y="0"/>
                  </a:lnTo>
                  <a:lnTo>
                    <a:pt x="10728960" y="1901952"/>
                  </a:lnTo>
                  <a:lnTo>
                    <a:pt x="0" y="190195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9915" r="0" b="-59915"/>
              </a:stretch>
            </a:blip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66675"/>
              <a:ext cx="10728960" cy="196862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079"/>
                </a:lnSpc>
              </a:pPr>
              <a:r>
                <a:rPr lang="en-US" sz="34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Camada 01 — Lorem ipsum</a:t>
              </a:r>
            </a:p>
          </p:txBody>
        </p:sp>
      </p:grpSp>
      <p:grpSp>
        <p:nvGrpSpPr>
          <p:cNvPr name="Group 39" id="39"/>
          <p:cNvGrpSpPr/>
          <p:nvPr/>
        </p:nvGrpSpPr>
        <p:grpSpPr>
          <a:xfrm rot="0">
            <a:off x="7955280" y="7772400"/>
            <a:ext cx="3108960" cy="1426464"/>
            <a:chOff x="0" y="0"/>
            <a:chExt cx="4145280" cy="1901952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4145280" cy="1901952"/>
            </a:xfrm>
            <a:custGeom>
              <a:avLst/>
              <a:gdLst/>
              <a:ahLst/>
              <a:cxnLst/>
              <a:rect r="r" b="b" t="t" l="l"/>
              <a:pathLst>
                <a:path h="1901952" w="4145280">
                  <a:moveTo>
                    <a:pt x="0" y="0"/>
                  </a:moveTo>
                  <a:lnTo>
                    <a:pt x="4145280" y="0"/>
                  </a:lnTo>
                  <a:lnTo>
                    <a:pt x="4145280" y="1901952"/>
                  </a:lnTo>
                  <a:lnTo>
                    <a:pt x="0" y="190195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8868" t="0" r="-8868" b="0"/>
              </a:stretch>
            </a:blipFill>
          </p:spPr>
        </p:sp>
        <p:sp>
          <p:nvSpPr>
            <p:cNvPr name="TextBox 41" id="41"/>
            <p:cNvSpPr txBox="true"/>
            <p:nvPr/>
          </p:nvSpPr>
          <p:spPr>
            <a:xfrm>
              <a:off x="0" y="-47625"/>
              <a:ext cx="4145280" cy="194957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520"/>
                </a:lnSpc>
              </a:pPr>
              <a:r>
                <a:rPr lang="en-US" sz="2100">
                  <a:solidFill>
                    <a:srgbClr val="27436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Lorem ipsum dolor</a:t>
              </a:r>
            </a:p>
          </p:txBody>
        </p:sp>
      </p:grpSp>
      <p:sp>
        <p:nvSpPr>
          <p:cNvPr name="TextBox 42" id="42"/>
          <p:cNvSpPr txBox="true"/>
          <p:nvPr/>
        </p:nvSpPr>
        <p:spPr>
          <a:xfrm rot="0">
            <a:off x="11887200" y="2878455"/>
            <a:ext cx="5486400" cy="6082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75640" indent="-337820" lvl="1">
              <a:lnSpc>
                <a:spcPts val="3359"/>
              </a:lnSpc>
              <a:buFont typeface="Arial"/>
              <a:buChar char="•"/>
            </a:pPr>
            <a:r>
              <a:rPr lang="en-US" sz="2799">
                <a:solidFill>
                  <a:srgbClr val="3A4C63"/>
                </a:solidFill>
                <a:latin typeface="Calibri (MS)"/>
                <a:ea typeface="Calibri (MS)"/>
                <a:cs typeface="Calibri (MS)"/>
                <a:sym typeface="Calibri (MS)"/>
              </a:rPr>
              <a:t>Lorem ipsum dolor sit amet, consectetur elit</a:t>
            </a:r>
          </a:p>
          <a:p>
            <a:pPr algn="l" marL="675640" indent="-337820" lvl="1">
              <a:lnSpc>
                <a:spcPts val="3359"/>
              </a:lnSpc>
              <a:buFont typeface="Arial"/>
              <a:buChar char="•"/>
            </a:pPr>
            <a:r>
              <a:rPr lang="en-US" sz="2799">
                <a:solidFill>
                  <a:srgbClr val="3A4C63"/>
                </a:solidFill>
                <a:latin typeface="Calibri (MS)"/>
                <a:ea typeface="Calibri (MS)"/>
                <a:cs typeface="Calibri (MS)"/>
                <a:sym typeface="Calibri (MS)"/>
              </a:rPr>
              <a:t>Sed do eiusmod tempor incididunt ut labore</a:t>
            </a:r>
          </a:p>
          <a:p>
            <a:pPr algn="l" marL="675640" indent="-337820" lvl="1">
              <a:lnSpc>
                <a:spcPts val="3359"/>
              </a:lnSpc>
              <a:buFont typeface="Arial"/>
              <a:buChar char="•"/>
            </a:pPr>
            <a:r>
              <a:rPr lang="en-US" sz="2799">
                <a:solidFill>
                  <a:srgbClr val="3A4C63"/>
                </a:solidFill>
                <a:latin typeface="Calibri (MS)"/>
                <a:ea typeface="Calibri (MS)"/>
                <a:cs typeface="Calibri (MS)"/>
                <a:sym typeface="Calibri (MS)"/>
              </a:rPr>
              <a:t>Ut enim ad minim veniam quis nostrud</a:t>
            </a:r>
          </a:p>
          <a:p>
            <a:pPr algn="l" marL="675640" indent="-337820" lvl="1">
              <a:lnSpc>
                <a:spcPts val="3359"/>
              </a:lnSpc>
              <a:buFont typeface="Arial"/>
              <a:buChar char="•"/>
            </a:pPr>
            <a:r>
              <a:rPr lang="en-US" sz="2799">
                <a:solidFill>
                  <a:srgbClr val="3A4C63"/>
                </a:solidFill>
                <a:latin typeface="Calibri (MS)"/>
                <a:ea typeface="Calibri (MS)"/>
                <a:cs typeface="Calibri (MS)"/>
                <a:sym typeface="Calibri (MS)"/>
              </a:rPr>
              <a:t>Duis aute irure dolor in reprehenderit</a:t>
            </a:r>
          </a:p>
        </p:txBody>
      </p:sp>
      <p:grpSp>
        <p:nvGrpSpPr>
          <p:cNvPr name="Group 43" id="43"/>
          <p:cNvGrpSpPr/>
          <p:nvPr/>
        </p:nvGrpSpPr>
        <p:grpSpPr>
          <a:xfrm rot="0">
            <a:off x="1005840" y="9692640"/>
            <a:ext cx="10058400" cy="457200"/>
            <a:chOff x="0" y="0"/>
            <a:chExt cx="13411200" cy="60960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13411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3411200">
                  <a:moveTo>
                    <a:pt x="0" y="0"/>
                  </a:moveTo>
                  <a:lnTo>
                    <a:pt x="13411200" y="0"/>
                  </a:lnTo>
                  <a:lnTo>
                    <a:pt x="13411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78670" r="0" b="-378670"/>
              </a:stretch>
            </a:blipFill>
          </p:spPr>
        </p:sp>
        <p:sp>
          <p:nvSpPr>
            <p:cNvPr name="TextBox 45" id="45"/>
            <p:cNvSpPr txBox="true"/>
            <p:nvPr/>
          </p:nvSpPr>
          <p:spPr>
            <a:xfrm>
              <a:off x="0" y="-38100"/>
              <a:ext cx="13411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7E8F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Seminário de IoT — Segurança em IoT · Grupo 6</a:t>
              </a:r>
            </a:p>
          </p:txBody>
        </p:sp>
      </p:grpSp>
      <p:grpSp>
        <p:nvGrpSpPr>
          <p:cNvPr name="Group 46" id="46"/>
          <p:cNvGrpSpPr/>
          <p:nvPr/>
        </p:nvGrpSpPr>
        <p:grpSpPr>
          <a:xfrm rot="0">
            <a:off x="16367760" y="9692640"/>
            <a:ext cx="914400" cy="457200"/>
            <a:chOff x="0" y="0"/>
            <a:chExt cx="1219200" cy="609600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1219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48" id="48"/>
            <p:cNvSpPr txBox="true"/>
            <p:nvPr/>
          </p:nvSpPr>
          <p:spPr>
            <a:xfrm>
              <a:off x="0" y="-38100"/>
              <a:ext cx="1219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7E8F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16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F2C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7498080" cy="10287000"/>
            <a:chOff x="0" y="0"/>
            <a:chExt cx="999744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99744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9997440">
                  <a:moveTo>
                    <a:pt x="0" y="0"/>
                  </a:moveTo>
                  <a:lnTo>
                    <a:pt x="9997440" y="0"/>
                  </a:lnTo>
                  <a:lnTo>
                    <a:pt x="999744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0345B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097280" y="7132320"/>
            <a:ext cx="1097280" cy="987552"/>
            <a:chOff x="0" y="0"/>
            <a:chExt cx="1463040" cy="131673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463040" cy="1316736"/>
            </a:xfrm>
            <a:custGeom>
              <a:avLst/>
              <a:gdLst/>
              <a:ahLst/>
              <a:cxnLst/>
              <a:rect r="r" b="b" t="t" l="l"/>
              <a:pathLst>
                <a:path h="1316736" w="1463040">
                  <a:moveTo>
                    <a:pt x="0" y="658368"/>
                  </a:moveTo>
                  <a:lnTo>
                    <a:pt x="329184" y="0"/>
                  </a:lnTo>
                  <a:lnTo>
                    <a:pt x="1133856" y="0"/>
                  </a:lnTo>
                  <a:lnTo>
                    <a:pt x="1463040" y="658368"/>
                  </a:lnTo>
                  <a:lnTo>
                    <a:pt x="1133856" y="1316736"/>
                  </a:lnTo>
                  <a:lnTo>
                    <a:pt x="329184" y="1316736"/>
                  </a:lnTo>
                  <a:close/>
                </a:path>
              </a:pathLst>
            </a:custGeom>
            <a:solidFill>
              <a:srgbClr val="38BDF8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2468880" y="7955280"/>
            <a:ext cx="731520" cy="658368"/>
            <a:chOff x="0" y="0"/>
            <a:chExt cx="975360" cy="87782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975360" cy="877824"/>
            </a:xfrm>
            <a:custGeom>
              <a:avLst/>
              <a:gdLst/>
              <a:ahLst/>
              <a:cxnLst/>
              <a:rect r="r" b="b" t="t" l="l"/>
              <a:pathLst>
                <a:path h="877824" w="975360">
                  <a:moveTo>
                    <a:pt x="0" y="438912"/>
                  </a:moveTo>
                  <a:lnTo>
                    <a:pt x="219456" y="0"/>
                  </a:lnTo>
                  <a:lnTo>
                    <a:pt x="755904" y="0"/>
                  </a:lnTo>
                  <a:lnTo>
                    <a:pt x="975360" y="438912"/>
                  </a:lnTo>
                  <a:lnTo>
                    <a:pt x="755904" y="877824"/>
                  </a:lnTo>
                  <a:lnTo>
                    <a:pt x="219456" y="877824"/>
                  </a:lnTo>
                  <a:close/>
                </a:path>
              </a:pathLst>
            </a:custGeom>
            <a:solidFill>
              <a:srgbClr val="23507F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1005840" y="2468880"/>
            <a:ext cx="5852160" cy="2926080"/>
            <a:chOff x="0" y="0"/>
            <a:chExt cx="7802880" cy="390144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7802880" cy="3901440"/>
            </a:xfrm>
            <a:custGeom>
              <a:avLst/>
              <a:gdLst/>
              <a:ahLst/>
              <a:cxnLst/>
              <a:rect r="r" b="b" t="t" l="l"/>
              <a:pathLst>
                <a:path h="3901440" w="7802880">
                  <a:moveTo>
                    <a:pt x="0" y="0"/>
                  </a:moveTo>
                  <a:lnTo>
                    <a:pt x="7802880" y="0"/>
                  </a:lnTo>
                  <a:lnTo>
                    <a:pt x="7802880" y="3901440"/>
                  </a:lnTo>
                  <a:lnTo>
                    <a:pt x="0" y="39014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71475"/>
              <a:ext cx="7802880" cy="42729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080"/>
                </a:lnSpc>
              </a:pPr>
              <a:r>
                <a:rPr lang="en-US" sz="184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04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097280" y="1920240"/>
            <a:ext cx="4572000" cy="548640"/>
            <a:chOff x="0" y="0"/>
            <a:chExt cx="6096000" cy="73152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6096000" cy="731520"/>
            </a:xfrm>
            <a:custGeom>
              <a:avLst/>
              <a:gdLst/>
              <a:ahLst/>
              <a:cxnLst/>
              <a:rect r="r" b="b" t="t" l="l"/>
              <a:pathLst>
                <a:path h="731520" w="6096000">
                  <a:moveTo>
                    <a:pt x="0" y="0"/>
                  </a:moveTo>
                  <a:lnTo>
                    <a:pt x="6096000" y="0"/>
                  </a:lnTo>
                  <a:lnTo>
                    <a:pt x="60960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12375" r="0" b="-112375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6096000" cy="7696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b="true" sz="2400" spc="600">
                  <a:solidFill>
                    <a:srgbClr val="38BDF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SEÇÃO</a:t>
              </a: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8412480" y="3606165"/>
            <a:ext cx="8961120" cy="21545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640"/>
              </a:lnSpc>
            </a:pPr>
            <a:r>
              <a:rPr lang="en-US" sz="7200" b="true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Tecnologias Envolvidas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412480" y="5760720"/>
            <a:ext cx="8412480" cy="1463040"/>
            <a:chOff x="0" y="0"/>
            <a:chExt cx="11216640" cy="195072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1216640" cy="1950720"/>
            </a:xfrm>
            <a:custGeom>
              <a:avLst/>
              <a:gdLst/>
              <a:ahLst/>
              <a:cxnLst/>
              <a:rect r="r" b="b" t="t" l="l"/>
              <a:pathLst>
                <a:path h="1950720" w="11216640">
                  <a:moveTo>
                    <a:pt x="0" y="0"/>
                  </a:moveTo>
                  <a:lnTo>
                    <a:pt x="11216640" y="0"/>
                  </a:lnTo>
                  <a:lnTo>
                    <a:pt x="11216640" y="1950720"/>
                  </a:lnTo>
                  <a:lnTo>
                    <a:pt x="0" y="19507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62038" r="0" b="-62038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57150"/>
              <a:ext cx="11216640" cy="20078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rPr lang="en-US" sz="2600">
                  <a:solidFill>
                    <a:srgbClr val="AFC4DC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Lorem ipsum dolor sit amet, consectetur adipiscing elit. Sed do eiusmod tempor incididunt ut labore et dolore magna aliqua.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8412480" y="2651760"/>
            <a:ext cx="804672" cy="804672"/>
            <a:chOff x="0" y="0"/>
            <a:chExt cx="1072896" cy="1072896"/>
          </a:xfrm>
        </p:grpSpPr>
        <p:sp>
          <p:nvSpPr>
            <p:cNvPr name="Freeform 19" id="19" descr="/home/claude/icons/FiCpu_38BDF8.png"/>
            <p:cNvSpPr/>
            <p:nvPr/>
          </p:nvSpPr>
          <p:spPr>
            <a:xfrm flipH="false" flipV="false" rot="0">
              <a:off x="0" y="0"/>
              <a:ext cx="1072896" cy="1072896"/>
            </a:xfrm>
            <a:custGeom>
              <a:avLst/>
              <a:gdLst/>
              <a:ahLst/>
              <a:cxnLst/>
              <a:rect r="r" b="b" t="t" l="l"/>
              <a:pathLst>
                <a:path h="1072896" w="1072896">
                  <a:moveTo>
                    <a:pt x="0" y="0"/>
                  </a:moveTo>
                  <a:lnTo>
                    <a:pt x="1072896" y="0"/>
                  </a:lnTo>
                  <a:lnTo>
                    <a:pt x="1072896" y="1072896"/>
                  </a:lnTo>
                  <a:lnTo>
                    <a:pt x="0" y="10728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1097280" y="9692640"/>
            <a:ext cx="10058400" cy="457200"/>
            <a:chOff x="0" y="0"/>
            <a:chExt cx="13411200" cy="6096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3411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3411200">
                  <a:moveTo>
                    <a:pt x="0" y="0"/>
                  </a:moveTo>
                  <a:lnTo>
                    <a:pt x="13411200" y="0"/>
                  </a:lnTo>
                  <a:lnTo>
                    <a:pt x="13411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78670" r="0" b="-378670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38100"/>
              <a:ext cx="13411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6E85A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Seminário de IoT — Segurança em IoT · Grupo 6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16367760" y="9692640"/>
            <a:ext cx="914400" cy="457200"/>
            <a:chOff x="0" y="0"/>
            <a:chExt cx="1219200" cy="6096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219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1219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6E85A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17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05840" y="914400"/>
            <a:ext cx="621792" cy="559613"/>
            <a:chOff x="0" y="0"/>
            <a:chExt cx="829056" cy="74615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29056" cy="746125"/>
            </a:xfrm>
            <a:custGeom>
              <a:avLst/>
              <a:gdLst/>
              <a:ahLst/>
              <a:cxnLst/>
              <a:rect r="r" b="b" t="t" l="l"/>
              <a:pathLst>
                <a:path h="746125" w="829056">
                  <a:moveTo>
                    <a:pt x="0" y="373126"/>
                  </a:moveTo>
                  <a:lnTo>
                    <a:pt x="186563" y="0"/>
                  </a:lnTo>
                  <a:lnTo>
                    <a:pt x="642493" y="0"/>
                  </a:lnTo>
                  <a:lnTo>
                    <a:pt x="829056" y="373126"/>
                  </a:lnTo>
                  <a:lnTo>
                    <a:pt x="642493" y="746125"/>
                  </a:lnTo>
                  <a:lnTo>
                    <a:pt x="186563" y="746125"/>
                  </a:lnTo>
                  <a:close/>
                </a:path>
              </a:pathLst>
            </a:custGeom>
            <a:solidFill>
              <a:srgbClr val="38BDF8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865376" y="859536"/>
            <a:ext cx="13898880" cy="475488"/>
            <a:chOff x="0" y="0"/>
            <a:chExt cx="18531840" cy="63398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8531839" cy="633984"/>
            </a:xfrm>
            <a:custGeom>
              <a:avLst/>
              <a:gdLst/>
              <a:ahLst/>
              <a:cxnLst/>
              <a:rect r="r" b="b" t="t" l="l"/>
              <a:pathLst>
                <a:path h="633984" w="18531839">
                  <a:moveTo>
                    <a:pt x="0" y="0"/>
                  </a:moveTo>
                  <a:lnTo>
                    <a:pt x="18531839" y="0"/>
                  </a:lnTo>
                  <a:lnTo>
                    <a:pt x="18531839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19562" r="0" b="-519562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18531840" cy="68160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b="true" sz="2200" spc="399">
                  <a:solidFill>
                    <a:srgbClr val="4A6FA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TECNOLOGIAS ENVOLVIDAS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005840" y="1426464"/>
            <a:ext cx="15727680" cy="1097280"/>
            <a:chOff x="0" y="0"/>
            <a:chExt cx="20970240" cy="146304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0970239" cy="1463040"/>
            </a:xfrm>
            <a:custGeom>
              <a:avLst/>
              <a:gdLst/>
              <a:ahLst/>
              <a:cxnLst/>
              <a:rect r="r" b="b" t="t" l="l"/>
              <a:pathLst>
                <a:path h="1463040" w="20970239">
                  <a:moveTo>
                    <a:pt x="0" y="0"/>
                  </a:moveTo>
                  <a:lnTo>
                    <a:pt x="20970239" y="0"/>
                  </a:lnTo>
                  <a:lnTo>
                    <a:pt x="20970239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29285" r="0" b="-229285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42875"/>
              <a:ext cx="20970240" cy="16059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920"/>
                </a:lnSpc>
              </a:pPr>
              <a:r>
                <a:rPr lang="en-US" sz="66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Protocolos de Comunicação</a:t>
              </a:r>
            </a:p>
          </p:txBody>
        </p:sp>
      </p:grpSp>
      <p:graphicFrame>
        <p:nvGraphicFramePr>
          <p:cNvPr name="Table 10" id="10"/>
          <p:cNvGraphicFramePr>
            <a:graphicFrameLocks noGrp="true"/>
          </p:cNvGraphicFramePr>
          <p:nvPr/>
        </p:nvGraphicFramePr>
        <p:xfrm>
          <a:off x="1005840" y="2926080"/>
          <a:ext cx="16256000" cy="5384800"/>
        </p:xfrm>
        <a:graphic>
          <a:graphicData uri="http://schemas.openxmlformats.org/drawingml/2006/table">
            <a:tbl>
              <a:tblPr/>
              <a:tblGrid>
                <a:gridCol w="4064000"/>
                <a:gridCol w="4064000"/>
                <a:gridCol w="4064000"/>
                <a:gridCol w="4064000"/>
              </a:tblGrid>
              <a:tr h="90744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359"/>
                        </a:lnSpc>
                        <a:defRPr/>
                      </a:pPr>
                      <a:r>
                        <a:rPr lang="en-US" sz="2799" b="true">
                          <a:solidFill>
                            <a:srgbClr val="FFFFF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Protocolo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4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359"/>
                        </a:lnSpc>
                        <a:defRPr/>
                      </a:pPr>
                      <a:r>
                        <a:rPr lang="en-US" sz="2799" b="true">
                          <a:solidFill>
                            <a:srgbClr val="FFFFF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Camada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4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359"/>
                        </a:lnSpc>
                        <a:defRPr/>
                      </a:pPr>
                      <a:r>
                        <a:rPr lang="en-US" sz="2799" b="true">
                          <a:solidFill>
                            <a:srgbClr val="FFFFF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Segurança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4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359"/>
                        </a:lnSpc>
                        <a:defRPr/>
                      </a:pPr>
                      <a:r>
                        <a:rPr lang="en-US" sz="2799" b="true">
                          <a:solidFill>
                            <a:srgbClr val="FFFFF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Aplicação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4C"/>
                    </a:solidFill>
                  </a:tcPr>
                </a:tc>
              </a:tr>
              <a:tr h="111934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99"/>
                        </a:lnSpc>
                        <a:defRPr/>
                      </a:pPr>
                      <a:r>
                        <a:rPr lang="en-US" sz="2499" b="true">
                          <a:solidFill>
                            <a:srgbClr val="3A4C63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Item 01 — Lorem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99"/>
                        </a:lnSpc>
                        <a:defRPr/>
                      </a:pPr>
                      <a:r>
                        <a:rPr lang="en-US" sz="2499">
                          <a:solidFill>
                            <a:srgbClr val="3A4C63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Lorem ipsum dolor sit amet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99"/>
                        </a:lnSpc>
                        <a:defRPr/>
                      </a:pPr>
                      <a:r>
                        <a:rPr lang="en-US" sz="2499">
                          <a:solidFill>
                            <a:srgbClr val="3A4C63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Lorem ipsum dolor sit amet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99"/>
                        </a:lnSpc>
                        <a:defRPr/>
                      </a:pPr>
                      <a:r>
                        <a:rPr lang="en-US" sz="2499">
                          <a:solidFill>
                            <a:srgbClr val="3A4C63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Lorem ipsum dolor sit amet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11934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99"/>
                        </a:lnSpc>
                        <a:defRPr/>
                      </a:pPr>
                      <a:r>
                        <a:rPr lang="en-US" sz="2499" b="true">
                          <a:solidFill>
                            <a:srgbClr val="3A4C63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Item 02 — Lorem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99"/>
                        </a:lnSpc>
                        <a:defRPr/>
                      </a:pPr>
                      <a:r>
                        <a:rPr lang="en-US" sz="2499">
                          <a:solidFill>
                            <a:srgbClr val="3A4C63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Lorem ipsum dolor sit amet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99"/>
                        </a:lnSpc>
                        <a:defRPr/>
                      </a:pPr>
                      <a:r>
                        <a:rPr lang="en-US" sz="2499">
                          <a:solidFill>
                            <a:srgbClr val="3A4C63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Lorem ipsum dolor sit amet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99"/>
                        </a:lnSpc>
                        <a:defRPr/>
                      </a:pPr>
                      <a:r>
                        <a:rPr lang="en-US" sz="2499">
                          <a:solidFill>
                            <a:srgbClr val="3A4C63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Lorem ipsum dolor sit amet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</a:tr>
              <a:tr h="111934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99"/>
                        </a:lnSpc>
                        <a:defRPr/>
                      </a:pPr>
                      <a:r>
                        <a:rPr lang="en-US" sz="2499" b="true">
                          <a:solidFill>
                            <a:srgbClr val="3A4C63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Item 03 — Lorem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99"/>
                        </a:lnSpc>
                        <a:defRPr/>
                      </a:pPr>
                      <a:r>
                        <a:rPr lang="en-US" sz="2499">
                          <a:solidFill>
                            <a:srgbClr val="3A4C63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Lorem ipsum dolor sit amet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99"/>
                        </a:lnSpc>
                        <a:defRPr/>
                      </a:pPr>
                      <a:r>
                        <a:rPr lang="en-US" sz="2499">
                          <a:solidFill>
                            <a:srgbClr val="3A4C63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Lorem ipsum dolor sit amet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99"/>
                        </a:lnSpc>
                        <a:defRPr/>
                      </a:pPr>
                      <a:r>
                        <a:rPr lang="en-US" sz="2499">
                          <a:solidFill>
                            <a:srgbClr val="3A4C63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Lorem ipsum dolor sit amet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11934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99"/>
                        </a:lnSpc>
                        <a:defRPr/>
                      </a:pPr>
                      <a:r>
                        <a:rPr lang="en-US" sz="2499" b="true">
                          <a:solidFill>
                            <a:srgbClr val="3A4C63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Item 04 — Lorem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99"/>
                        </a:lnSpc>
                        <a:defRPr/>
                      </a:pPr>
                      <a:r>
                        <a:rPr lang="en-US" sz="2499">
                          <a:solidFill>
                            <a:srgbClr val="3A4C63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Lorem ipsum dolor sit amet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99"/>
                        </a:lnSpc>
                        <a:defRPr/>
                      </a:pPr>
                      <a:r>
                        <a:rPr lang="en-US" sz="2499">
                          <a:solidFill>
                            <a:srgbClr val="3A4C63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Lorem ipsum dolor sit amet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99"/>
                        </a:lnSpc>
                        <a:defRPr/>
                      </a:pPr>
                      <a:r>
                        <a:rPr lang="en-US" sz="2499">
                          <a:solidFill>
                            <a:srgbClr val="3A4C63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Lorem ipsum dolor sit amet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</a:tr>
            </a:tbl>
          </a:graphicData>
        </a:graphic>
      </p:graphicFrame>
      <p:grpSp>
        <p:nvGrpSpPr>
          <p:cNvPr name="Group 11" id="11"/>
          <p:cNvGrpSpPr/>
          <p:nvPr/>
        </p:nvGrpSpPr>
        <p:grpSpPr>
          <a:xfrm rot="0">
            <a:off x="1005840" y="8686800"/>
            <a:ext cx="16276320" cy="548640"/>
            <a:chOff x="0" y="0"/>
            <a:chExt cx="21701760" cy="73152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1701761" cy="731520"/>
            </a:xfrm>
            <a:custGeom>
              <a:avLst/>
              <a:gdLst/>
              <a:ahLst/>
              <a:cxnLst/>
              <a:rect r="r" b="b" t="t" l="l"/>
              <a:pathLst>
                <a:path h="731520" w="21701761">
                  <a:moveTo>
                    <a:pt x="0" y="0"/>
                  </a:moveTo>
                  <a:lnTo>
                    <a:pt x="21701761" y="0"/>
                  </a:lnTo>
                  <a:lnTo>
                    <a:pt x="21701761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28056" r="0" b="-528056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47625"/>
              <a:ext cx="21701760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 i="true">
                  <a:solidFill>
                    <a:srgbClr val="7E8FA6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Lorem ipsum dolor sit amet — legenda ou fonte da tabela.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005840" y="9692640"/>
            <a:ext cx="10058400" cy="457200"/>
            <a:chOff x="0" y="0"/>
            <a:chExt cx="13411200" cy="609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3411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3411200">
                  <a:moveTo>
                    <a:pt x="0" y="0"/>
                  </a:moveTo>
                  <a:lnTo>
                    <a:pt x="13411200" y="0"/>
                  </a:lnTo>
                  <a:lnTo>
                    <a:pt x="13411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78670" r="0" b="-378670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13411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7E8F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Seminário de IoT — Segurança em IoT · Grupo 6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6367760" y="9692640"/>
            <a:ext cx="914400" cy="457200"/>
            <a:chOff x="0" y="0"/>
            <a:chExt cx="1219200" cy="6096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219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1219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7E8F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18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05840" y="914400"/>
            <a:ext cx="621792" cy="559613"/>
            <a:chOff x="0" y="0"/>
            <a:chExt cx="829056" cy="74615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29056" cy="746125"/>
            </a:xfrm>
            <a:custGeom>
              <a:avLst/>
              <a:gdLst/>
              <a:ahLst/>
              <a:cxnLst/>
              <a:rect r="r" b="b" t="t" l="l"/>
              <a:pathLst>
                <a:path h="746125" w="829056">
                  <a:moveTo>
                    <a:pt x="0" y="373126"/>
                  </a:moveTo>
                  <a:lnTo>
                    <a:pt x="186563" y="0"/>
                  </a:lnTo>
                  <a:lnTo>
                    <a:pt x="642493" y="0"/>
                  </a:lnTo>
                  <a:lnTo>
                    <a:pt x="829056" y="373126"/>
                  </a:lnTo>
                  <a:lnTo>
                    <a:pt x="642493" y="746125"/>
                  </a:lnTo>
                  <a:lnTo>
                    <a:pt x="186563" y="746125"/>
                  </a:lnTo>
                  <a:close/>
                </a:path>
              </a:pathLst>
            </a:custGeom>
            <a:solidFill>
              <a:srgbClr val="38BDF8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865376" y="859536"/>
            <a:ext cx="13898880" cy="475488"/>
            <a:chOff x="0" y="0"/>
            <a:chExt cx="18531840" cy="63398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8531839" cy="633984"/>
            </a:xfrm>
            <a:custGeom>
              <a:avLst/>
              <a:gdLst/>
              <a:ahLst/>
              <a:cxnLst/>
              <a:rect r="r" b="b" t="t" l="l"/>
              <a:pathLst>
                <a:path h="633984" w="18531839">
                  <a:moveTo>
                    <a:pt x="0" y="0"/>
                  </a:moveTo>
                  <a:lnTo>
                    <a:pt x="18531839" y="0"/>
                  </a:lnTo>
                  <a:lnTo>
                    <a:pt x="18531839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19562" r="0" b="-519562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18531840" cy="68160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b="true" sz="2200" spc="399">
                  <a:solidFill>
                    <a:srgbClr val="4A6FA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TECNOLOGIAS ENVOLVIDAS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005840" y="1426464"/>
            <a:ext cx="15727680" cy="1097280"/>
            <a:chOff x="0" y="0"/>
            <a:chExt cx="20970240" cy="146304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0970239" cy="1463040"/>
            </a:xfrm>
            <a:custGeom>
              <a:avLst/>
              <a:gdLst/>
              <a:ahLst/>
              <a:cxnLst/>
              <a:rect r="r" b="b" t="t" l="l"/>
              <a:pathLst>
                <a:path h="1463040" w="20970239">
                  <a:moveTo>
                    <a:pt x="0" y="0"/>
                  </a:moveTo>
                  <a:lnTo>
                    <a:pt x="20970239" y="0"/>
                  </a:lnTo>
                  <a:lnTo>
                    <a:pt x="20970239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29285" r="0" b="-229285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42875"/>
              <a:ext cx="20970240" cy="16059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920"/>
                </a:lnSpc>
              </a:pPr>
              <a:r>
                <a:rPr lang="en-US" sz="66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Plataformas de Hardware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993143" y="2821943"/>
            <a:ext cx="5328923" cy="6151883"/>
            <a:chOff x="0" y="0"/>
            <a:chExt cx="7105231" cy="8202511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7105396" cy="8202676"/>
            </a:xfrm>
            <a:custGeom>
              <a:avLst/>
              <a:gdLst/>
              <a:ahLst/>
              <a:cxnLst/>
              <a:rect r="r" b="b" t="t" l="l"/>
              <a:pathLst>
                <a:path h="8202676" w="7105396">
                  <a:moveTo>
                    <a:pt x="0" y="196088"/>
                  </a:moveTo>
                  <a:cubicBezTo>
                    <a:pt x="0" y="87757"/>
                    <a:pt x="87757" y="0"/>
                    <a:pt x="196088" y="0"/>
                  </a:cubicBezTo>
                  <a:lnTo>
                    <a:pt x="6909308" y="0"/>
                  </a:lnTo>
                  <a:cubicBezTo>
                    <a:pt x="7017512" y="0"/>
                    <a:pt x="7105396" y="87757"/>
                    <a:pt x="7105396" y="196088"/>
                  </a:cubicBezTo>
                  <a:lnTo>
                    <a:pt x="7105396" y="8006588"/>
                  </a:lnTo>
                  <a:cubicBezTo>
                    <a:pt x="7105396" y="8114792"/>
                    <a:pt x="7017638" y="8202676"/>
                    <a:pt x="6909308" y="8202676"/>
                  </a:cubicBezTo>
                  <a:lnTo>
                    <a:pt x="196088" y="8202676"/>
                  </a:lnTo>
                  <a:cubicBezTo>
                    <a:pt x="87757" y="8202549"/>
                    <a:pt x="0" y="8114792"/>
                    <a:pt x="0" y="8006461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3DEEA"/>
              </a:solidFill>
              <a:prstDash val="solid"/>
              <a:miter/>
            </a:ln>
          </p:spPr>
        </p:sp>
      </p:grpSp>
      <p:grpSp>
        <p:nvGrpSpPr>
          <p:cNvPr name="Group 12" id="12"/>
          <p:cNvGrpSpPr/>
          <p:nvPr/>
        </p:nvGrpSpPr>
        <p:grpSpPr>
          <a:xfrm rot="0">
            <a:off x="1463040" y="3383280"/>
            <a:ext cx="1207008" cy="1207008"/>
            <a:chOff x="0" y="0"/>
            <a:chExt cx="1609344" cy="1609344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609344" cy="1609344"/>
            </a:xfrm>
            <a:custGeom>
              <a:avLst/>
              <a:gdLst/>
              <a:ahLst/>
              <a:cxnLst/>
              <a:rect r="r" b="b" t="t" l="l"/>
              <a:pathLst>
                <a:path h="1609344" w="1609344">
                  <a:moveTo>
                    <a:pt x="0" y="804672"/>
                  </a:moveTo>
                  <a:cubicBezTo>
                    <a:pt x="0" y="360299"/>
                    <a:pt x="360299" y="0"/>
                    <a:pt x="804672" y="0"/>
                  </a:cubicBezTo>
                  <a:cubicBezTo>
                    <a:pt x="1249045" y="0"/>
                    <a:pt x="1609344" y="360299"/>
                    <a:pt x="1609344" y="804672"/>
                  </a:cubicBezTo>
                  <a:cubicBezTo>
                    <a:pt x="1609344" y="1249045"/>
                    <a:pt x="1249045" y="1609344"/>
                    <a:pt x="804672" y="1609344"/>
                  </a:cubicBezTo>
                  <a:cubicBezTo>
                    <a:pt x="360299" y="1609344"/>
                    <a:pt x="0" y="1249045"/>
                    <a:pt x="0" y="804672"/>
                  </a:cubicBezTo>
                  <a:close/>
                </a:path>
              </a:pathLst>
            </a:custGeom>
            <a:solidFill>
              <a:srgbClr val="4A6FA5"/>
            </a:solid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1773936" y="3694176"/>
            <a:ext cx="585216" cy="585216"/>
            <a:chOff x="0" y="0"/>
            <a:chExt cx="780288" cy="780288"/>
          </a:xfrm>
        </p:grpSpPr>
        <p:sp>
          <p:nvSpPr>
            <p:cNvPr name="Freeform 15" id="15" descr="/home/claude/icons/FiCpu_FFFFFF.png"/>
            <p:cNvSpPr/>
            <p:nvPr/>
          </p:nvSpPr>
          <p:spPr>
            <a:xfrm flipH="false" flipV="false" rot="0">
              <a:off x="0" y="0"/>
              <a:ext cx="780288" cy="780288"/>
            </a:xfrm>
            <a:custGeom>
              <a:avLst/>
              <a:gdLst/>
              <a:ahLst/>
              <a:cxnLst/>
              <a:rect r="r" b="b" t="t" l="l"/>
              <a:pathLst>
                <a:path h="780288" w="780288">
                  <a:moveTo>
                    <a:pt x="0" y="0"/>
                  </a:moveTo>
                  <a:lnTo>
                    <a:pt x="780288" y="0"/>
                  </a:lnTo>
                  <a:lnTo>
                    <a:pt x="780288" y="780288"/>
                  </a:lnTo>
                  <a:lnTo>
                    <a:pt x="0" y="7802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1463040" y="4937760"/>
            <a:ext cx="4389120" cy="640080"/>
            <a:chOff x="0" y="0"/>
            <a:chExt cx="5852160" cy="85344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5852160" cy="853440"/>
            </a:xfrm>
            <a:custGeom>
              <a:avLst/>
              <a:gdLst/>
              <a:ahLst/>
              <a:cxnLst/>
              <a:rect r="r" b="b" t="t" l="l"/>
              <a:pathLst>
                <a:path h="853440" w="5852160">
                  <a:moveTo>
                    <a:pt x="0" y="0"/>
                  </a:moveTo>
                  <a:lnTo>
                    <a:pt x="5852160" y="0"/>
                  </a:lnTo>
                  <a:lnTo>
                    <a:pt x="585216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83611" r="0" b="-83611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76200"/>
              <a:ext cx="5852160" cy="9296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800"/>
                </a:lnSpc>
              </a:pPr>
              <a:r>
                <a:rPr lang="en-US" sz="40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Hardware 01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1463040" y="5577840"/>
            <a:ext cx="4389120" cy="548640"/>
            <a:chOff x="0" y="0"/>
            <a:chExt cx="5852160" cy="73152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5852160" cy="731520"/>
            </a:xfrm>
            <a:custGeom>
              <a:avLst/>
              <a:gdLst/>
              <a:ahLst/>
              <a:cxnLst/>
              <a:rect r="r" b="b" t="t" l="l"/>
              <a:pathLst>
                <a:path h="731520" w="5852160">
                  <a:moveTo>
                    <a:pt x="0" y="0"/>
                  </a:moveTo>
                  <a:lnTo>
                    <a:pt x="5852160" y="0"/>
                  </a:lnTo>
                  <a:lnTo>
                    <a:pt x="585216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05880" r="0" b="-105880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57150"/>
              <a:ext cx="5852160" cy="7886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rPr lang="en-US" sz="2600" b="true">
                  <a:solidFill>
                    <a:srgbClr val="38BDF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Lorem ipsum</a:t>
              </a:r>
            </a:p>
          </p:txBody>
        </p:sp>
      </p:grpSp>
      <p:sp>
        <p:nvSpPr>
          <p:cNvPr name="TextBox 22" id="22"/>
          <p:cNvSpPr txBox="true"/>
          <p:nvPr/>
        </p:nvSpPr>
        <p:spPr>
          <a:xfrm rot="0">
            <a:off x="1463040" y="6179820"/>
            <a:ext cx="4389120" cy="2415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7E8FA6"/>
                </a:solidFill>
                <a:latin typeface="Calibri (MS)"/>
                <a:ea typeface="Calibri (MS)"/>
                <a:cs typeface="Calibri (MS)"/>
                <a:sym typeface="Calibri (MS)"/>
              </a:rPr>
              <a:t>Lorem ipsum dolor sit amet, consectetur adipiscing elit. Sed do eiusmod tempor incididunt ut labore et dolore magna aliqua.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6662423" y="2821943"/>
            <a:ext cx="5328923" cy="6151883"/>
            <a:chOff x="0" y="0"/>
            <a:chExt cx="7105231" cy="8202511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7105396" cy="8202676"/>
            </a:xfrm>
            <a:custGeom>
              <a:avLst/>
              <a:gdLst/>
              <a:ahLst/>
              <a:cxnLst/>
              <a:rect r="r" b="b" t="t" l="l"/>
              <a:pathLst>
                <a:path h="8202676" w="7105396">
                  <a:moveTo>
                    <a:pt x="0" y="196088"/>
                  </a:moveTo>
                  <a:cubicBezTo>
                    <a:pt x="0" y="87757"/>
                    <a:pt x="87757" y="0"/>
                    <a:pt x="196088" y="0"/>
                  </a:cubicBezTo>
                  <a:lnTo>
                    <a:pt x="6909308" y="0"/>
                  </a:lnTo>
                  <a:cubicBezTo>
                    <a:pt x="7017512" y="0"/>
                    <a:pt x="7105396" y="87757"/>
                    <a:pt x="7105396" y="196088"/>
                  </a:cubicBezTo>
                  <a:lnTo>
                    <a:pt x="7105396" y="8006588"/>
                  </a:lnTo>
                  <a:cubicBezTo>
                    <a:pt x="7105396" y="8114792"/>
                    <a:pt x="7017638" y="8202676"/>
                    <a:pt x="6909308" y="8202676"/>
                  </a:cubicBezTo>
                  <a:lnTo>
                    <a:pt x="196088" y="8202676"/>
                  </a:lnTo>
                  <a:cubicBezTo>
                    <a:pt x="87757" y="8202549"/>
                    <a:pt x="0" y="8114792"/>
                    <a:pt x="0" y="8006461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3DEEA"/>
              </a:solidFill>
              <a:prstDash val="solid"/>
              <a:miter/>
            </a:ln>
          </p:spPr>
        </p:sp>
      </p:grpSp>
      <p:grpSp>
        <p:nvGrpSpPr>
          <p:cNvPr name="Group 25" id="25"/>
          <p:cNvGrpSpPr/>
          <p:nvPr/>
        </p:nvGrpSpPr>
        <p:grpSpPr>
          <a:xfrm rot="0">
            <a:off x="7132320" y="3383280"/>
            <a:ext cx="1207008" cy="1207008"/>
            <a:chOff x="0" y="0"/>
            <a:chExt cx="1609344" cy="1609344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609344" cy="1609344"/>
            </a:xfrm>
            <a:custGeom>
              <a:avLst/>
              <a:gdLst/>
              <a:ahLst/>
              <a:cxnLst/>
              <a:rect r="r" b="b" t="t" l="l"/>
              <a:pathLst>
                <a:path h="1609344" w="1609344">
                  <a:moveTo>
                    <a:pt x="0" y="804672"/>
                  </a:moveTo>
                  <a:cubicBezTo>
                    <a:pt x="0" y="360299"/>
                    <a:pt x="360299" y="0"/>
                    <a:pt x="804672" y="0"/>
                  </a:cubicBezTo>
                  <a:cubicBezTo>
                    <a:pt x="1249045" y="0"/>
                    <a:pt x="1609344" y="360299"/>
                    <a:pt x="1609344" y="804672"/>
                  </a:cubicBezTo>
                  <a:cubicBezTo>
                    <a:pt x="1609344" y="1249045"/>
                    <a:pt x="1249045" y="1609344"/>
                    <a:pt x="804672" y="1609344"/>
                  </a:cubicBezTo>
                  <a:cubicBezTo>
                    <a:pt x="360299" y="1609344"/>
                    <a:pt x="0" y="1249045"/>
                    <a:pt x="0" y="804672"/>
                  </a:cubicBezTo>
                  <a:close/>
                </a:path>
              </a:pathLst>
            </a:custGeom>
            <a:solidFill>
              <a:srgbClr val="4A6FA5"/>
            </a:solid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7443216" y="3694176"/>
            <a:ext cx="585216" cy="585216"/>
            <a:chOff x="0" y="0"/>
            <a:chExt cx="780288" cy="780288"/>
          </a:xfrm>
        </p:grpSpPr>
        <p:sp>
          <p:nvSpPr>
            <p:cNvPr name="Freeform 28" id="28" descr="/home/claude/icons/FiZap_FFFFFF.png"/>
            <p:cNvSpPr/>
            <p:nvPr/>
          </p:nvSpPr>
          <p:spPr>
            <a:xfrm flipH="false" flipV="false" rot="0">
              <a:off x="0" y="0"/>
              <a:ext cx="780288" cy="780288"/>
            </a:xfrm>
            <a:custGeom>
              <a:avLst/>
              <a:gdLst/>
              <a:ahLst/>
              <a:cxnLst/>
              <a:rect r="r" b="b" t="t" l="l"/>
              <a:pathLst>
                <a:path h="780288" w="780288">
                  <a:moveTo>
                    <a:pt x="0" y="0"/>
                  </a:moveTo>
                  <a:lnTo>
                    <a:pt x="780288" y="0"/>
                  </a:lnTo>
                  <a:lnTo>
                    <a:pt x="780288" y="780288"/>
                  </a:lnTo>
                  <a:lnTo>
                    <a:pt x="0" y="7802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7132320" y="4937760"/>
            <a:ext cx="4389120" cy="640080"/>
            <a:chOff x="0" y="0"/>
            <a:chExt cx="5852160" cy="85344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5852160" cy="853440"/>
            </a:xfrm>
            <a:custGeom>
              <a:avLst/>
              <a:gdLst/>
              <a:ahLst/>
              <a:cxnLst/>
              <a:rect r="r" b="b" t="t" l="l"/>
              <a:pathLst>
                <a:path h="853440" w="5852160">
                  <a:moveTo>
                    <a:pt x="0" y="0"/>
                  </a:moveTo>
                  <a:lnTo>
                    <a:pt x="5852160" y="0"/>
                  </a:lnTo>
                  <a:lnTo>
                    <a:pt x="585216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83611" r="0" b="-83611"/>
              </a:stretch>
            </a:blipFill>
          </p:spPr>
        </p:sp>
        <p:sp>
          <p:nvSpPr>
            <p:cNvPr name="TextBox 31" id="31"/>
            <p:cNvSpPr txBox="true"/>
            <p:nvPr/>
          </p:nvSpPr>
          <p:spPr>
            <a:xfrm>
              <a:off x="0" y="-76200"/>
              <a:ext cx="5852160" cy="9296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800"/>
                </a:lnSpc>
              </a:pPr>
              <a:r>
                <a:rPr lang="en-US" sz="40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Hardware 02</a:t>
              </a: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7132320" y="5577840"/>
            <a:ext cx="4389120" cy="548640"/>
            <a:chOff x="0" y="0"/>
            <a:chExt cx="5852160" cy="73152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5852160" cy="731520"/>
            </a:xfrm>
            <a:custGeom>
              <a:avLst/>
              <a:gdLst/>
              <a:ahLst/>
              <a:cxnLst/>
              <a:rect r="r" b="b" t="t" l="l"/>
              <a:pathLst>
                <a:path h="731520" w="5852160">
                  <a:moveTo>
                    <a:pt x="0" y="0"/>
                  </a:moveTo>
                  <a:lnTo>
                    <a:pt x="5852160" y="0"/>
                  </a:lnTo>
                  <a:lnTo>
                    <a:pt x="585216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05880" r="0" b="-105880"/>
              </a:stretch>
            </a:blip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57150"/>
              <a:ext cx="5852160" cy="7886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rPr lang="en-US" sz="2600" b="true">
                  <a:solidFill>
                    <a:srgbClr val="38BDF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Lorem ipsum</a:t>
              </a:r>
            </a:p>
          </p:txBody>
        </p:sp>
      </p:grpSp>
      <p:sp>
        <p:nvSpPr>
          <p:cNvPr name="TextBox 35" id="35"/>
          <p:cNvSpPr txBox="true"/>
          <p:nvPr/>
        </p:nvSpPr>
        <p:spPr>
          <a:xfrm rot="0">
            <a:off x="7132320" y="6179820"/>
            <a:ext cx="4389120" cy="2415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7E8FA6"/>
                </a:solidFill>
                <a:latin typeface="Calibri (MS)"/>
                <a:ea typeface="Calibri (MS)"/>
                <a:cs typeface="Calibri (MS)"/>
                <a:sym typeface="Calibri (MS)"/>
              </a:rPr>
              <a:t>Lorem ipsum dolor sit amet, consectetur adipiscing elit. Sed do eiusmod tempor incididunt ut labore et dolore magna aliqua.</a:t>
            </a:r>
          </a:p>
        </p:txBody>
      </p:sp>
      <p:grpSp>
        <p:nvGrpSpPr>
          <p:cNvPr name="Group 36" id="36"/>
          <p:cNvGrpSpPr/>
          <p:nvPr/>
        </p:nvGrpSpPr>
        <p:grpSpPr>
          <a:xfrm rot="0">
            <a:off x="12331703" y="2821943"/>
            <a:ext cx="5328923" cy="6151883"/>
            <a:chOff x="0" y="0"/>
            <a:chExt cx="7105231" cy="8202511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7105396" cy="8202676"/>
            </a:xfrm>
            <a:custGeom>
              <a:avLst/>
              <a:gdLst/>
              <a:ahLst/>
              <a:cxnLst/>
              <a:rect r="r" b="b" t="t" l="l"/>
              <a:pathLst>
                <a:path h="8202676" w="7105396">
                  <a:moveTo>
                    <a:pt x="0" y="196088"/>
                  </a:moveTo>
                  <a:cubicBezTo>
                    <a:pt x="0" y="87757"/>
                    <a:pt x="87757" y="0"/>
                    <a:pt x="196088" y="0"/>
                  </a:cubicBezTo>
                  <a:lnTo>
                    <a:pt x="6909308" y="0"/>
                  </a:lnTo>
                  <a:cubicBezTo>
                    <a:pt x="7017512" y="0"/>
                    <a:pt x="7105396" y="87757"/>
                    <a:pt x="7105396" y="196088"/>
                  </a:cubicBezTo>
                  <a:lnTo>
                    <a:pt x="7105396" y="8006588"/>
                  </a:lnTo>
                  <a:cubicBezTo>
                    <a:pt x="7105396" y="8114792"/>
                    <a:pt x="7017638" y="8202676"/>
                    <a:pt x="6909308" y="8202676"/>
                  </a:cubicBezTo>
                  <a:lnTo>
                    <a:pt x="196088" y="8202676"/>
                  </a:lnTo>
                  <a:cubicBezTo>
                    <a:pt x="87757" y="8202549"/>
                    <a:pt x="0" y="8114792"/>
                    <a:pt x="0" y="8006461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3DEEA"/>
              </a:solidFill>
              <a:prstDash val="solid"/>
              <a:miter/>
            </a:ln>
          </p:spPr>
        </p:sp>
      </p:grpSp>
      <p:grpSp>
        <p:nvGrpSpPr>
          <p:cNvPr name="Group 38" id="38"/>
          <p:cNvGrpSpPr/>
          <p:nvPr/>
        </p:nvGrpSpPr>
        <p:grpSpPr>
          <a:xfrm rot="0">
            <a:off x="12801600" y="3383280"/>
            <a:ext cx="1207008" cy="1207008"/>
            <a:chOff x="0" y="0"/>
            <a:chExt cx="1609344" cy="1609344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1609344" cy="1609344"/>
            </a:xfrm>
            <a:custGeom>
              <a:avLst/>
              <a:gdLst/>
              <a:ahLst/>
              <a:cxnLst/>
              <a:rect r="r" b="b" t="t" l="l"/>
              <a:pathLst>
                <a:path h="1609344" w="1609344">
                  <a:moveTo>
                    <a:pt x="0" y="804672"/>
                  </a:moveTo>
                  <a:cubicBezTo>
                    <a:pt x="0" y="360299"/>
                    <a:pt x="360299" y="0"/>
                    <a:pt x="804672" y="0"/>
                  </a:cubicBezTo>
                  <a:cubicBezTo>
                    <a:pt x="1249045" y="0"/>
                    <a:pt x="1609344" y="360299"/>
                    <a:pt x="1609344" y="804672"/>
                  </a:cubicBezTo>
                  <a:cubicBezTo>
                    <a:pt x="1609344" y="1249045"/>
                    <a:pt x="1249045" y="1609344"/>
                    <a:pt x="804672" y="1609344"/>
                  </a:cubicBezTo>
                  <a:cubicBezTo>
                    <a:pt x="360299" y="1609344"/>
                    <a:pt x="0" y="1249045"/>
                    <a:pt x="0" y="804672"/>
                  </a:cubicBezTo>
                  <a:close/>
                </a:path>
              </a:pathLst>
            </a:custGeom>
            <a:solidFill>
              <a:srgbClr val="4A6FA5"/>
            </a:solidFill>
          </p:spPr>
        </p:sp>
      </p:grpSp>
      <p:grpSp>
        <p:nvGrpSpPr>
          <p:cNvPr name="Group 40" id="40"/>
          <p:cNvGrpSpPr/>
          <p:nvPr/>
        </p:nvGrpSpPr>
        <p:grpSpPr>
          <a:xfrm rot="0">
            <a:off x="13112496" y="3694176"/>
            <a:ext cx="585216" cy="585216"/>
            <a:chOff x="0" y="0"/>
            <a:chExt cx="780288" cy="780288"/>
          </a:xfrm>
        </p:grpSpPr>
        <p:sp>
          <p:nvSpPr>
            <p:cNvPr name="Freeform 41" id="41" descr="/home/claude/icons/FiBox_FFFFFF.png"/>
            <p:cNvSpPr/>
            <p:nvPr/>
          </p:nvSpPr>
          <p:spPr>
            <a:xfrm flipH="false" flipV="false" rot="0">
              <a:off x="0" y="0"/>
              <a:ext cx="780288" cy="780288"/>
            </a:xfrm>
            <a:custGeom>
              <a:avLst/>
              <a:gdLst/>
              <a:ahLst/>
              <a:cxnLst/>
              <a:rect r="r" b="b" t="t" l="l"/>
              <a:pathLst>
                <a:path h="780288" w="780288">
                  <a:moveTo>
                    <a:pt x="0" y="0"/>
                  </a:moveTo>
                  <a:lnTo>
                    <a:pt x="780288" y="0"/>
                  </a:lnTo>
                  <a:lnTo>
                    <a:pt x="780288" y="780288"/>
                  </a:lnTo>
                  <a:lnTo>
                    <a:pt x="0" y="7802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42" id="42"/>
          <p:cNvGrpSpPr/>
          <p:nvPr/>
        </p:nvGrpSpPr>
        <p:grpSpPr>
          <a:xfrm rot="0">
            <a:off x="12801600" y="4937760"/>
            <a:ext cx="4389120" cy="640080"/>
            <a:chOff x="0" y="0"/>
            <a:chExt cx="5852160" cy="85344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5852160" cy="853440"/>
            </a:xfrm>
            <a:custGeom>
              <a:avLst/>
              <a:gdLst/>
              <a:ahLst/>
              <a:cxnLst/>
              <a:rect r="r" b="b" t="t" l="l"/>
              <a:pathLst>
                <a:path h="853440" w="5852160">
                  <a:moveTo>
                    <a:pt x="0" y="0"/>
                  </a:moveTo>
                  <a:lnTo>
                    <a:pt x="5852160" y="0"/>
                  </a:lnTo>
                  <a:lnTo>
                    <a:pt x="585216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83611" r="0" b="-83611"/>
              </a:stretch>
            </a:blipFill>
          </p:spPr>
        </p:sp>
        <p:sp>
          <p:nvSpPr>
            <p:cNvPr name="TextBox 44" id="44"/>
            <p:cNvSpPr txBox="true"/>
            <p:nvPr/>
          </p:nvSpPr>
          <p:spPr>
            <a:xfrm>
              <a:off x="0" y="-76200"/>
              <a:ext cx="5852160" cy="9296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800"/>
                </a:lnSpc>
              </a:pPr>
              <a:r>
                <a:rPr lang="en-US" sz="40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Hardware 03</a:t>
              </a:r>
            </a:p>
          </p:txBody>
        </p:sp>
      </p:grpSp>
      <p:grpSp>
        <p:nvGrpSpPr>
          <p:cNvPr name="Group 45" id="45"/>
          <p:cNvGrpSpPr/>
          <p:nvPr/>
        </p:nvGrpSpPr>
        <p:grpSpPr>
          <a:xfrm rot="0">
            <a:off x="12801600" y="5577840"/>
            <a:ext cx="4389120" cy="548640"/>
            <a:chOff x="0" y="0"/>
            <a:chExt cx="5852160" cy="73152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5852160" cy="731520"/>
            </a:xfrm>
            <a:custGeom>
              <a:avLst/>
              <a:gdLst/>
              <a:ahLst/>
              <a:cxnLst/>
              <a:rect r="r" b="b" t="t" l="l"/>
              <a:pathLst>
                <a:path h="731520" w="5852160">
                  <a:moveTo>
                    <a:pt x="0" y="0"/>
                  </a:moveTo>
                  <a:lnTo>
                    <a:pt x="5852160" y="0"/>
                  </a:lnTo>
                  <a:lnTo>
                    <a:pt x="585216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05880" r="0" b="-105880"/>
              </a:stretch>
            </a:blipFill>
          </p:spPr>
        </p:sp>
        <p:sp>
          <p:nvSpPr>
            <p:cNvPr name="TextBox 47" id="47"/>
            <p:cNvSpPr txBox="true"/>
            <p:nvPr/>
          </p:nvSpPr>
          <p:spPr>
            <a:xfrm>
              <a:off x="0" y="-57150"/>
              <a:ext cx="5852160" cy="7886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rPr lang="en-US" sz="2600" b="true">
                  <a:solidFill>
                    <a:srgbClr val="38BDF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Lorem ipsum</a:t>
              </a:r>
            </a:p>
          </p:txBody>
        </p:sp>
      </p:grpSp>
      <p:sp>
        <p:nvSpPr>
          <p:cNvPr name="TextBox 48" id="48"/>
          <p:cNvSpPr txBox="true"/>
          <p:nvPr/>
        </p:nvSpPr>
        <p:spPr>
          <a:xfrm rot="0">
            <a:off x="12801600" y="6179820"/>
            <a:ext cx="4389120" cy="2415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7E8FA6"/>
                </a:solidFill>
                <a:latin typeface="Calibri (MS)"/>
                <a:ea typeface="Calibri (MS)"/>
                <a:cs typeface="Calibri (MS)"/>
                <a:sym typeface="Calibri (MS)"/>
              </a:rPr>
              <a:t>Lorem ipsum dolor sit amet, consectetur adipiscing elit. Sed do eiusmod tempor incididunt ut labore et dolore magna aliqua.</a:t>
            </a:r>
          </a:p>
        </p:txBody>
      </p:sp>
      <p:grpSp>
        <p:nvGrpSpPr>
          <p:cNvPr name="Group 49" id="49"/>
          <p:cNvGrpSpPr/>
          <p:nvPr/>
        </p:nvGrpSpPr>
        <p:grpSpPr>
          <a:xfrm rot="0">
            <a:off x="1005840" y="9692640"/>
            <a:ext cx="10058400" cy="457200"/>
            <a:chOff x="0" y="0"/>
            <a:chExt cx="13411200" cy="609600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13411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3411200">
                  <a:moveTo>
                    <a:pt x="0" y="0"/>
                  </a:moveTo>
                  <a:lnTo>
                    <a:pt x="13411200" y="0"/>
                  </a:lnTo>
                  <a:lnTo>
                    <a:pt x="13411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78670" r="0" b="-378670"/>
              </a:stretch>
            </a:blipFill>
          </p:spPr>
        </p:sp>
        <p:sp>
          <p:nvSpPr>
            <p:cNvPr name="TextBox 51" id="51"/>
            <p:cNvSpPr txBox="true"/>
            <p:nvPr/>
          </p:nvSpPr>
          <p:spPr>
            <a:xfrm>
              <a:off x="0" y="-38100"/>
              <a:ext cx="13411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7E8F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Seminário de IoT — Segurança em IoT · Grupo 6</a:t>
              </a:r>
            </a:p>
          </p:txBody>
        </p:sp>
      </p:grpSp>
      <p:grpSp>
        <p:nvGrpSpPr>
          <p:cNvPr name="Group 52" id="52"/>
          <p:cNvGrpSpPr/>
          <p:nvPr/>
        </p:nvGrpSpPr>
        <p:grpSpPr>
          <a:xfrm rot="0">
            <a:off x="16367760" y="9692640"/>
            <a:ext cx="914400" cy="457200"/>
            <a:chOff x="0" y="0"/>
            <a:chExt cx="1219200" cy="60960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1219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54" id="54"/>
            <p:cNvSpPr txBox="true"/>
            <p:nvPr/>
          </p:nvSpPr>
          <p:spPr>
            <a:xfrm>
              <a:off x="0" y="-38100"/>
              <a:ext cx="1219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7E8F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19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05840" y="914400"/>
            <a:ext cx="621792" cy="559613"/>
            <a:chOff x="0" y="0"/>
            <a:chExt cx="829056" cy="74615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29056" cy="746125"/>
            </a:xfrm>
            <a:custGeom>
              <a:avLst/>
              <a:gdLst/>
              <a:ahLst/>
              <a:cxnLst/>
              <a:rect r="r" b="b" t="t" l="l"/>
              <a:pathLst>
                <a:path h="746125" w="829056">
                  <a:moveTo>
                    <a:pt x="0" y="373126"/>
                  </a:moveTo>
                  <a:lnTo>
                    <a:pt x="186563" y="0"/>
                  </a:lnTo>
                  <a:lnTo>
                    <a:pt x="642493" y="0"/>
                  </a:lnTo>
                  <a:lnTo>
                    <a:pt x="829056" y="373126"/>
                  </a:lnTo>
                  <a:lnTo>
                    <a:pt x="642493" y="746125"/>
                  </a:lnTo>
                  <a:lnTo>
                    <a:pt x="186563" y="746125"/>
                  </a:lnTo>
                  <a:close/>
                </a:path>
              </a:pathLst>
            </a:custGeom>
            <a:solidFill>
              <a:srgbClr val="38BDF8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865376" y="859536"/>
            <a:ext cx="13898880" cy="475488"/>
            <a:chOff x="0" y="0"/>
            <a:chExt cx="18531840" cy="63398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8531839" cy="633984"/>
            </a:xfrm>
            <a:custGeom>
              <a:avLst/>
              <a:gdLst/>
              <a:ahLst/>
              <a:cxnLst/>
              <a:rect r="r" b="b" t="t" l="l"/>
              <a:pathLst>
                <a:path h="633984" w="18531839">
                  <a:moveTo>
                    <a:pt x="0" y="0"/>
                  </a:moveTo>
                  <a:lnTo>
                    <a:pt x="18531839" y="0"/>
                  </a:lnTo>
                  <a:lnTo>
                    <a:pt x="18531839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19562" r="0" b="-519562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18531840" cy="68160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b="true" sz="2200" spc="399">
                  <a:solidFill>
                    <a:srgbClr val="4A6FA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TECNOLOGIAS ENVOLVIDAS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005840" y="1426464"/>
            <a:ext cx="15727680" cy="1097280"/>
            <a:chOff x="0" y="0"/>
            <a:chExt cx="20970240" cy="146304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0970239" cy="1463040"/>
            </a:xfrm>
            <a:custGeom>
              <a:avLst/>
              <a:gdLst/>
              <a:ahLst/>
              <a:cxnLst/>
              <a:rect r="r" b="b" t="t" l="l"/>
              <a:pathLst>
                <a:path h="1463040" w="20970239">
                  <a:moveTo>
                    <a:pt x="0" y="0"/>
                  </a:moveTo>
                  <a:lnTo>
                    <a:pt x="20970239" y="0"/>
                  </a:lnTo>
                  <a:lnTo>
                    <a:pt x="20970239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29285" r="0" b="-229285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42875"/>
              <a:ext cx="20970240" cy="16059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920"/>
                </a:lnSpc>
              </a:pPr>
              <a:r>
                <a:rPr lang="en-US" sz="66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Software e Frameworks</a:t>
              </a: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1005840" y="2758440"/>
            <a:ext cx="7955280" cy="2179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00"/>
              </a:lnSpc>
            </a:pPr>
            <a:r>
              <a:rPr lang="en-US" sz="4000">
                <a:solidFill>
                  <a:srgbClr val="3A4C63"/>
                </a:solidFill>
                <a:latin typeface="Calibri (MS)"/>
                <a:ea typeface="Calibri (MS)"/>
                <a:cs typeface="Calibri (MS)"/>
                <a:sym typeface="Calibri (MS)"/>
              </a:rPr>
              <a:t>Lorem ipsum dolor sit amet, consectetur adipiscing elit. Sed do eiusmod tempor incididunt ut labore et dolore magna aliqua. Ut enim ad minim veniam, quis nostrud exercitation.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05840" y="5135880"/>
            <a:ext cx="7955280" cy="3916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965200" indent="-482600" lvl="1">
              <a:lnSpc>
                <a:spcPts val="4800"/>
              </a:lnSpc>
              <a:buFont typeface="Arial"/>
              <a:buChar char="•"/>
            </a:pPr>
            <a:r>
              <a:rPr lang="en-US" sz="4000">
                <a:solidFill>
                  <a:srgbClr val="3A4C63"/>
                </a:solidFill>
                <a:latin typeface="Calibri (MS)"/>
                <a:ea typeface="Calibri (MS)"/>
                <a:cs typeface="Calibri (MS)"/>
                <a:sym typeface="Calibri (MS)"/>
              </a:rPr>
              <a:t>Lorem ipsum dolor sit amet, consectetur elit</a:t>
            </a:r>
          </a:p>
          <a:p>
            <a:pPr algn="l" marL="965200" indent="-482600" lvl="1">
              <a:lnSpc>
                <a:spcPts val="4800"/>
              </a:lnSpc>
              <a:buFont typeface="Arial"/>
              <a:buChar char="•"/>
            </a:pPr>
            <a:r>
              <a:rPr lang="en-US" sz="4000">
                <a:solidFill>
                  <a:srgbClr val="3A4C63"/>
                </a:solidFill>
                <a:latin typeface="Calibri (MS)"/>
                <a:ea typeface="Calibri (MS)"/>
                <a:cs typeface="Calibri (MS)"/>
                <a:sym typeface="Calibri (MS)"/>
              </a:rPr>
              <a:t>Sed do eiusmod tempor incididunt ut labore</a:t>
            </a:r>
          </a:p>
          <a:p>
            <a:pPr algn="l" marL="965200" indent="-482600" lvl="1">
              <a:lnSpc>
                <a:spcPts val="4800"/>
              </a:lnSpc>
              <a:buFont typeface="Arial"/>
              <a:buChar char="•"/>
            </a:pPr>
            <a:r>
              <a:rPr lang="en-US" sz="4000">
                <a:solidFill>
                  <a:srgbClr val="3A4C63"/>
                </a:solidFill>
                <a:latin typeface="Calibri (MS)"/>
                <a:ea typeface="Calibri (MS)"/>
                <a:cs typeface="Calibri (MS)"/>
                <a:sym typeface="Calibri (MS)"/>
              </a:rPr>
              <a:t>Ut enim ad minim veniam quis nostrud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9493882" y="2818762"/>
            <a:ext cx="7804147" cy="6249667"/>
            <a:chOff x="0" y="0"/>
            <a:chExt cx="10405529" cy="8332889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0405491" cy="8332851"/>
            </a:xfrm>
            <a:custGeom>
              <a:avLst/>
              <a:gdLst/>
              <a:ahLst/>
              <a:cxnLst/>
              <a:rect r="r" b="b" t="t" l="l"/>
              <a:pathLst>
                <a:path h="8332851" w="10405491">
                  <a:moveTo>
                    <a:pt x="0" y="196088"/>
                  </a:moveTo>
                  <a:cubicBezTo>
                    <a:pt x="0" y="87757"/>
                    <a:pt x="87757" y="0"/>
                    <a:pt x="196088" y="0"/>
                  </a:cubicBezTo>
                  <a:lnTo>
                    <a:pt x="10209403" y="0"/>
                  </a:lnTo>
                  <a:cubicBezTo>
                    <a:pt x="10317735" y="0"/>
                    <a:pt x="10405491" y="87757"/>
                    <a:pt x="10405491" y="196088"/>
                  </a:cubicBezTo>
                  <a:lnTo>
                    <a:pt x="10405491" y="8136763"/>
                  </a:lnTo>
                  <a:cubicBezTo>
                    <a:pt x="10405491" y="8245094"/>
                    <a:pt x="10317735" y="8332851"/>
                    <a:pt x="10209403" y="8332851"/>
                  </a:cubicBezTo>
                  <a:lnTo>
                    <a:pt x="196088" y="8332851"/>
                  </a:lnTo>
                  <a:cubicBezTo>
                    <a:pt x="87757" y="8332851"/>
                    <a:pt x="0" y="8245094"/>
                    <a:pt x="0" y="8136763"/>
                  </a:cubicBezTo>
                  <a:close/>
                </a:path>
              </a:pathLst>
            </a:custGeom>
            <a:solidFill>
              <a:srgbClr val="F7FAFD"/>
            </a:solidFill>
            <a:ln w="31750" cap="sq">
              <a:solidFill>
                <a:srgbClr val="A9C1DC"/>
              </a:solidFill>
              <a:prstDash val="dash"/>
              <a:miter/>
            </a:ln>
          </p:spPr>
        </p:sp>
      </p:grpSp>
      <p:grpSp>
        <p:nvGrpSpPr>
          <p:cNvPr name="Group 14" id="14"/>
          <p:cNvGrpSpPr/>
          <p:nvPr/>
        </p:nvGrpSpPr>
        <p:grpSpPr>
          <a:xfrm rot="0">
            <a:off x="12993624" y="5175504"/>
            <a:ext cx="804672" cy="804672"/>
            <a:chOff x="0" y="0"/>
            <a:chExt cx="1072896" cy="1072896"/>
          </a:xfrm>
        </p:grpSpPr>
        <p:sp>
          <p:nvSpPr>
            <p:cNvPr name="Freeform 15" id="15" descr="/home/claude/icons/FiMonitor_64748B.png"/>
            <p:cNvSpPr/>
            <p:nvPr/>
          </p:nvSpPr>
          <p:spPr>
            <a:xfrm flipH="false" flipV="false" rot="0">
              <a:off x="0" y="0"/>
              <a:ext cx="1072896" cy="1072896"/>
            </a:xfrm>
            <a:custGeom>
              <a:avLst/>
              <a:gdLst/>
              <a:ahLst/>
              <a:cxnLst/>
              <a:rect r="r" b="b" t="t" l="l"/>
              <a:pathLst>
                <a:path h="1072896" w="1072896">
                  <a:moveTo>
                    <a:pt x="0" y="0"/>
                  </a:moveTo>
                  <a:lnTo>
                    <a:pt x="1072896" y="0"/>
                  </a:lnTo>
                  <a:lnTo>
                    <a:pt x="1072896" y="1072896"/>
                  </a:lnTo>
                  <a:lnTo>
                    <a:pt x="0" y="10728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9875520" y="6035040"/>
            <a:ext cx="7040880" cy="548640"/>
            <a:chOff x="0" y="0"/>
            <a:chExt cx="9387840" cy="73152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9387840" cy="731520"/>
            </a:xfrm>
            <a:custGeom>
              <a:avLst/>
              <a:gdLst/>
              <a:ahLst/>
              <a:cxnLst/>
              <a:rect r="r" b="b" t="t" l="l"/>
              <a:pathLst>
                <a:path h="731520" w="9387840">
                  <a:moveTo>
                    <a:pt x="0" y="0"/>
                  </a:moveTo>
                  <a:lnTo>
                    <a:pt x="9387840" y="0"/>
                  </a:lnTo>
                  <a:lnTo>
                    <a:pt x="938784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00057" r="0" b="-200057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57150"/>
              <a:ext cx="9387840" cy="7886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120"/>
                </a:lnSpc>
              </a:pPr>
              <a:r>
                <a:rPr lang="en-US" sz="2600" b="true">
                  <a:solidFill>
                    <a:srgbClr val="7E8F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Inserir captura ou logotipos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9875520" y="6565392"/>
            <a:ext cx="7040880" cy="438912"/>
            <a:chOff x="0" y="0"/>
            <a:chExt cx="9387840" cy="585216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9387840" cy="585216"/>
            </a:xfrm>
            <a:custGeom>
              <a:avLst/>
              <a:gdLst/>
              <a:ahLst/>
              <a:cxnLst/>
              <a:rect r="r" b="b" t="t" l="l"/>
              <a:pathLst>
                <a:path h="585216" w="9387840">
                  <a:moveTo>
                    <a:pt x="0" y="0"/>
                  </a:moveTo>
                  <a:lnTo>
                    <a:pt x="9387840" y="0"/>
                  </a:lnTo>
                  <a:lnTo>
                    <a:pt x="9387840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62572" r="0" b="-262572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38100"/>
              <a:ext cx="9387840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400"/>
                </a:lnSpc>
              </a:pPr>
              <a:r>
                <a:rPr lang="en-US" sz="2000" i="true">
                  <a:solidFill>
                    <a:srgbClr val="7E8FA6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Substitua por diagrama, fluxo, tabela ou captura de tela</a:t>
              </a: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005840" y="9692640"/>
            <a:ext cx="10058400" cy="457200"/>
            <a:chOff x="0" y="0"/>
            <a:chExt cx="13411200" cy="6096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3411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3411200">
                  <a:moveTo>
                    <a:pt x="0" y="0"/>
                  </a:moveTo>
                  <a:lnTo>
                    <a:pt x="13411200" y="0"/>
                  </a:lnTo>
                  <a:lnTo>
                    <a:pt x="13411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78670" r="0" b="-378670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13411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7E8F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Seminário de IoT — Segurança em IoT · Grupo 6</a:t>
              </a: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6367760" y="9692640"/>
            <a:ext cx="914400" cy="457200"/>
            <a:chOff x="0" y="0"/>
            <a:chExt cx="1219200" cy="6096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219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1219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7E8F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20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05840" y="914400"/>
            <a:ext cx="621792" cy="559613"/>
            <a:chOff x="0" y="0"/>
            <a:chExt cx="829056" cy="74615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29056" cy="746125"/>
            </a:xfrm>
            <a:custGeom>
              <a:avLst/>
              <a:gdLst/>
              <a:ahLst/>
              <a:cxnLst/>
              <a:rect r="r" b="b" t="t" l="l"/>
              <a:pathLst>
                <a:path h="746125" w="829056">
                  <a:moveTo>
                    <a:pt x="0" y="373126"/>
                  </a:moveTo>
                  <a:lnTo>
                    <a:pt x="186563" y="0"/>
                  </a:lnTo>
                  <a:lnTo>
                    <a:pt x="642493" y="0"/>
                  </a:lnTo>
                  <a:lnTo>
                    <a:pt x="829056" y="373126"/>
                  </a:lnTo>
                  <a:lnTo>
                    <a:pt x="642493" y="746125"/>
                  </a:lnTo>
                  <a:lnTo>
                    <a:pt x="186563" y="746125"/>
                  </a:lnTo>
                  <a:close/>
                </a:path>
              </a:pathLst>
            </a:custGeom>
            <a:solidFill>
              <a:srgbClr val="38BDF8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865376" y="859536"/>
            <a:ext cx="13898880" cy="475488"/>
            <a:chOff x="0" y="0"/>
            <a:chExt cx="18531840" cy="63398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8531839" cy="633984"/>
            </a:xfrm>
            <a:custGeom>
              <a:avLst/>
              <a:gdLst/>
              <a:ahLst/>
              <a:cxnLst/>
              <a:rect r="r" b="b" t="t" l="l"/>
              <a:pathLst>
                <a:path h="633984" w="18531839">
                  <a:moveTo>
                    <a:pt x="0" y="0"/>
                  </a:moveTo>
                  <a:lnTo>
                    <a:pt x="18531839" y="0"/>
                  </a:lnTo>
                  <a:lnTo>
                    <a:pt x="18531839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19562" r="0" b="-519562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18531840" cy="68160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b="true" sz="2200" spc="399">
                  <a:solidFill>
                    <a:srgbClr val="4A6FA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TECNOLOGIAS ENVOLVIDAS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005840" y="1426464"/>
            <a:ext cx="15727680" cy="1097280"/>
            <a:chOff x="0" y="0"/>
            <a:chExt cx="20970240" cy="146304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0970239" cy="1463040"/>
            </a:xfrm>
            <a:custGeom>
              <a:avLst/>
              <a:gdLst/>
              <a:ahLst/>
              <a:cxnLst/>
              <a:rect r="r" b="b" t="t" l="l"/>
              <a:pathLst>
                <a:path h="1463040" w="20970239">
                  <a:moveTo>
                    <a:pt x="0" y="0"/>
                  </a:moveTo>
                  <a:lnTo>
                    <a:pt x="20970239" y="0"/>
                  </a:lnTo>
                  <a:lnTo>
                    <a:pt x="20970239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29285" r="0" b="-229285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42875"/>
              <a:ext cx="20970240" cy="16059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920"/>
                </a:lnSpc>
              </a:pPr>
              <a:r>
                <a:rPr lang="en-US" sz="66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Padrões e Normas</a:t>
              </a:r>
            </a:p>
          </p:txBody>
        </p:sp>
      </p:grpSp>
      <p:graphicFrame>
        <p:nvGraphicFramePr>
          <p:cNvPr name="Table 10" id="10"/>
          <p:cNvGraphicFramePr>
            <a:graphicFrameLocks noGrp="true"/>
          </p:cNvGraphicFramePr>
          <p:nvPr/>
        </p:nvGraphicFramePr>
        <p:xfrm>
          <a:off x="1005840" y="2926080"/>
          <a:ext cx="16256000" cy="5384800"/>
        </p:xfrm>
        <a:graphic>
          <a:graphicData uri="http://schemas.openxmlformats.org/drawingml/2006/table">
            <a:tbl>
              <a:tblPr/>
              <a:tblGrid>
                <a:gridCol w="4064000"/>
                <a:gridCol w="4064000"/>
                <a:gridCol w="4064000"/>
                <a:gridCol w="4064000"/>
              </a:tblGrid>
              <a:tr h="90744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359"/>
                        </a:lnSpc>
                        <a:defRPr/>
                      </a:pPr>
                      <a:r>
                        <a:rPr lang="en-US" sz="2799" b="true">
                          <a:solidFill>
                            <a:srgbClr val="FFFFF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Norma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4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359"/>
                        </a:lnSpc>
                        <a:defRPr/>
                      </a:pPr>
                      <a:r>
                        <a:rPr lang="en-US" sz="2799" b="true">
                          <a:solidFill>
                            <a:srgbClr val="FFFFF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Escopo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4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359"/>
                        </a:lnSpc>
                        <a:defRPr/>
                      </a:pPr>
                      <a:r>
                        <a:rPr lang="en-US" sz="2799" b="true">
                          <a:solidFill>
                            <a:srgbClr val="FFFFF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Órgão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4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359"/>
                        </a:lnSpc>
                        <a:defRPr/>
                      </a:pPr>
                      <a:r>
                        <a:rPr lang="en-US" sz="2799" b="true">
                          <a:solidFill>
                            <a:srgbClr val="FFFFF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Status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4C"/>
                    </a:solidFill>
                  </a:tcPr>
                </a:tc>
              </a:tr>
              <a:tr h="111934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99"/>
                        </a:lnSpc>
                        <a:defRPr/>
                      </a:pPr>
                      <a:r>
                        <a:rPr lang="en-US" sz="2499" b="true">
                          <a:solidFill>
                            <a:srgbClr val="3A4C63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Item 01 — Lorem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99"/>
                        </a:lnSpc>
                        <a:defRPr/>
                      </a:pPr>
                      <a:r>
                        <a:rPr lang="en-US" sz="2499">
                          <a:solidFill>
                            <a:srgbClr val="3A4C63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Lorem ipsum dolor sit amet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99"/>
                        </a:lnSpc>
                        <a:defRPr/>
                      </a:pPr>
                      <a:r>
                        <a:rPr lang="en-US" sz="2499">
                          <a:solidFill>
                            <a:srgbClr val="3A4C63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Lorem ipsum dolor sit amet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99"/>
                        </a:lnSpc>
                        <a:defRPr/>
                      </a:pPr>
                      <a:r>
                        <a:rPr lang="en-US" sz="2499">
                          <a:solidFill>
                            <a:srgbClr val="3A4C63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Lorem ipsum dolor sit amet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11934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99"/>
                        </a:lnSpc>
                        <a:defRPr/>
                      </a:pPr>
                      <a:r>
                        <a:rPr lang="en-US" sz="2499" b="true">
                          <a:solidFill>
                            <a:srgbClr val="3A4C63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Item 02 — Lorem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99"/>
                        </a:lnSpc>
                        <a:defRPr/>
                      </a:pPr>
                      <a:r>
                        <a:rPr lang="en-US" sz="2499">
                          <a:solidFill>
                            <a:srgbClr val="3A4C63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Lorem ipsum dolor sit amet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99"/>
                        </a:lnSpc>
                        <a:defRPr/>
                      </a:pPr>
                      <a:r>
                        <a:rPr lang="en-US" sz="2499">
                          <a:solidFill>
                            <a:srgbClr val="3A4C63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Lorem ipsum dolor sit amet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99"/>
                        </a:lnSpc>
                        <a:defRPr/>
                      </a:pPr>
                      <a:r>
                        <a:rPr lang="en-US" sz="2499">
                          <a:solidFill>
                            <a:srgbClr val="3A4C63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Lorem ipsum dolor sit amet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</a:tr>
              <a:tr h="111934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99"/>
                        </a:lnSpc>
                        <a:defRPr/>
                      </a:pPr>
                      <a:r>
                        <a:rPr lang="en-US" sz="2499" b="true">
                          <a:solidFill>
                            <a:srgbClr val="3A4C63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Item 03 — Lorem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99"/>
                        </a:lnSpc>
                        <a:defRPr/>
                      </a:pPr>
                      <a:r>
                        <a:rPr lang="en-US" sz="2499">
                          <a:solidFill>
                            <a:srgbClr val="3A4C63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Lorem ipsum dolor sit amet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99"/>
                        </a:lnSpc>
                        <a:defRPr/>
                      </a:pPr>
                      <a:r>
                        <a:rPr lang="en-US" sz="2499">
                          <a:solidFill>
                            <a:srgbClr val="3A4C63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Lorem ipsum dolor sit amet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99"/>
                        </a:lnSpc>
                        <a:defRPr/>
                      </a:pPr>
                      <a:r>
                        <a:rPr lang="en-US" sz="2499">
                          <a:solidFill>
                            <a:srgbClr val="3A4C63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Lorem ipsum dolor sit amet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11934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99"/>
                        </a:lnSpc>
                        <a:defRPr/>
                      </a:pPr>
                      <a:r>
                        <a:rPr lang="en-US" sz="2499" b="true">
                          <a:solidFill>
                            <a:srgbClr val="3A4C63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Item 04 — Lorem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99"/>
                        </a:lnSpc>
                        <a:defRPr/>
                      </a:pPr>
                      <a:r>
                        <a:rPr lang="en-US" sz="2499">
                          <a:solidFill>
                            <a:srgbClr val="3A4C63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Lorem ipsum dolor sit amet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99"/>
                        </a:lnSpc>
                        <a:defRPr/>
                      </a:pPr>
                      <a:r>
                        <a:rPr lang="en-US" sz="2499">
                          <a:solidFill>
                            <a:srgbClr val="3A4C63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Lorem ipsum dolor sit amet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99"/>
                        </a:lnSpc>
                        <a:defRPr/>
                      </a:pPr>
                      <a:r>
                        <a:rPr lang="en-US" sz="2499">
                          <a:solidFill>
                            <a:srgbClr val="3A4C63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Lorem ipsum dolor sit amet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</a:tr>
            </a:tbl>
          </a:graphicData>
        </a:graphic>
      </p:graphicFrame>
      <p:grpSp>
        <p:nvGrpSpPr>
          <p:cNvPr name="Group 11" id="11"/>
          <p:cNvGrpSpPr/>
          <p:nvPr/>
        </p:nvGrpSpPr>
        <p:grpSpPr>
          <a:xfrm rot="0">
            <a:off x="1005840" y="8686800"/>
            <a:ext cx="16276320" cy="548640"/>
            <a:chOff x="0" y="0"/>
            <a:chExt cx="21701760" cy="73152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1701761" cy="731520"/>
            </a:xfrm>
            <a:custGeom>
              <a:avLst/>
              <a:gdLst/>
              <a:ahLst/>
              <a:cxnLst/>
              <a:rect r="r" b="b" t="t" l="l"/>
              <a:pathLst>
                <a:path h="731520" w="21701761">
                  <a:moveTo>
                    <a:pt x="0" y="0"/>
                  </a:moveTo>
                  <a:lnTo>
                    <a:pt x="21701761" y="0"/>
                  </a:lnTo>
                  <a:lnTo>
                    <a:pt x="21701761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28056" r="0" b="-528056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47625"/>
              <a:ext cx="21701760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 i="true">
                  <a:solidFill>
                    <a:srgbClr val="7E8FA6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Lorem ipsum dolor sit amet — legenda ou fonte da tabela.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005840" y="9692640"/>
            <a:ext cx="10058400" cy="457200"/>
            <a:chOff x="0" y="0"/>
            <a:chExt cx="13411200" cy="609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3411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3411200">
                  <a:moveTo>
                    <a:pt x="0" y="0"/>
                  </a:moveTo>
                  <a:lnTo>
                    <a:pt x="13411200" y="0"/>
                  </a:lnTo>
                  <a:lnTo>
                    <a:pt x="13411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78670" r="0" b="-378670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13411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7E8F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Seminário de IoT — Segurança em IoT · Grupo 6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6367760" y="9692640"/>
            <a:ext cx="914400" cy="457200"/>
            <a:chOff x="0" y="0"/>
            <a:chExt cx="1219200" cy="6096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219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1219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7E8F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21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F2C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7498080" cy="10287000"/>
            <a:chOff x="0" y="0"/>
            <a:chExt cx="999744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99744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9997440">
                  <a:moveTo>
                    <a:pt x="0" y="0"/>
                  </a:moveTo>
                  <a:lnTo>
                    <a:pt x="9997440" y="0"/>
                  </a:lnTo>
                  <a:lnTo>
                    <a:pt x="999744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0345B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097280" y="7132320"/>
            <a:ext cx="1097280" cy="987552"/>
            <a:chOff x="0" y="0"/>
            <a:chExt cx="1463040" cy="131673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463040" cy="1316736"/>
            </a:xfrm>
            <a:custGeom>
              <a:avLst/>
              <a:gdLst/>
              <a:ahLst/>
              <a:cxnLst/>
              <a:rect r="r" b="b" t="t" l="l"/>
              <a:pathLst>
                <a:path h="1316736" w="1463040">
                  <a:moveTo>
                    <a:pt x="0" y="658368"/>
                  </a:moveTo>
                  <a:lnTo>
                    <a:pt x="329184" y="0"/>
                  </a:lnTo>
                  <a:lnTo>
                    <a:pt x="1133856" y="0"/>
                  </a:lnTo>
                  <a:lnTo>
                    <a:pt x="1463040" y="658368"/>
                  </a:lnTo>
                  <a:lnTo>
                    <a:pt x="1133856" y="1316736"/>
                  </a:lnTo>
                  <a:lnTo>
                    <a:pt x="329184" y="1316736"/>
                  </a:lnTo>
                  <a:close/>
                </a:path>
              </a:pathLst>
            </a:custGeom>
            <a:solidFill>
              <a:srgbClr val="38BDF8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2468880" y="7955280"/>
            <a:ext cx="731520" cy="658368"/>
            <a:chOff x="0" y="0"/>
            <a:chExt cx="975360" cy="87782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975360" cy="877824"/>
            </a:xfrm>
            <a:custGeom>
              <a:avLst/>
              <a:gdLst/>
              <a:ahLst/>
              <a:cxnLst/>
              <a:rect r="r" b="b" t="t" l="l"/>
              <a:pathLst>
                <a:path h="877824" w="975360">
                  <a:moveTo>
                    <a:pt x="0" y="438912"/>
                  </a:moveTo>
                  <a:lnTo>
                    <a:pt x="219456" y="0"/>
                  </a:lnTo>
                  <a:lnTo>
                    <a:pt x="755904" y="0"/>
                  </a:lnTo>
                  <a:lnTo>
                    <a:pt x="975360" y="438912"/>
                  </a:lnTo>
                  <a:lnTo>
                    <a:pt x="755904" y="877824"/>
                  </a:lnTo>
                  <a:lnTo>
                    <a:pt x="219456" y="877824"/>
                  </a:lnTo>
                  <a:close/>
                </a:path>
              </a:pathLst>
            </a:custGeom>
            <a:solidFill>
              <a:srgbClr val="23507F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1005840" y="2468880"/>
            <a:ext cx="5852160" cy="2926080"/>
            <a:chOff x="0" y="0"/>
            <a:chExt cx="7802880" cy="390144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7802880" cy="3901440"/>
            </a:xfrm>
            <a:custGeom>
              <a:avLst/>
              <a:gdLst/>
              <a:ahLst/>
              <a:cxnLst/>
              <a:rect r="r" b="b" t="t" l="l"/>
              <a:pathLst>
                <a:path h="3901440" w="7802880">
                  <a:moveTo>
                    <a:pt x="0" y="0"/>
                  </a:moveTo>
                  <a:lnTo>
                    <a:pt x="7802880" y="0"/>
                  </a:lnTo>
                  <a:lnTo>
                    <a:pt x="7802880" y="3901440"/>
                  </a:lnTo>
                  <a:lnTo>
                    <a:pt x="0" y="39014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71475"/>
              <a:ext cx="7802880" cy="42729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080"/>
                </a:lnSpc>
              </a:pPr>
              <a:r>
                <a:rPr lang="en-US" sz="184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05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097280" y="1920240"/>
            <a:ext cx="4572000" cy="548640"/>
            <a:chOff x="0" y="0"/>
            <a:chExt cx="6096000" cy="73152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6096000" cy="731520"/>
            </a:xfrm>
            <a:custGeom>
              <a:avLst/>
              <a:gdLst/>
              <a:ahLst/>
              <a:cxnLst/>
              <a:rect r="r" b="b" t="t" l="l"/>
              <a:pathLst>
                <a:path h="731520" w="6096000">
                  <a:moveTo>
                    <a:pt x="0" y="0"/>
                  </a:moveTo>
                  <a:lnTo>
                    <a:pt x="6096000" y="0"/>
                  </a:lnTo>
                  <a:lnTo>
                    <a:pt x="60960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12375" r="0" b="-112375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6096000" cy="7696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b="true" sz="2400" spc="600">
                  <a:solidFill>
                    <a:srgbClr val="38BDF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SEÇÃO</a:t>
              </a: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8412480" y="3606165"/>
            <a:ext cx="8961120" cy="21545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640"/>
              </a:lnSpc>
            </a:pPr>
            <a:r>
              <a:rPr lang="en-US" sz="7200" b="true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Arquitetura da Solução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412480" y="5760720"/>
            <a:ext cx="8412480" cy="1463040"/>
            <a:chOff x="0" y="0"/>
            <a:chExt cx="11216640" cy="195072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1216640" cy="1950720"/>
            </a:xfrm>
            <a:custGeom>
              <a:avLst/>
              <a:gdLst/>
              <a:ahLst/>
              <a:cxnLst/>
              <a:rect r="r" b="b" t="t" l="l"/>
              <a:pathLst>
                <a:path h="1950720" w="11216640">
                  <a:moveTo>
                    <a:pt x="0" y="0"/>
                  </a:moveTo>
                  <a:lnTo>
                    <a:pt x="11216640" y="0"/>
                  </a:lnTo>
                  <a:lnTo>
                    <a:pt x="11216640" y="1950720"/>
                  </a:lnTo>
                  <a:lnTo>
                    <a:pt x="0" y="19507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62038" r="0" b="-62038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57150"/>
              <a:ext cx="11216640" cy="20078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rPr lang="en-US" sz="2600">
                  <a:solidFill>
                    <a:srgbClr val="AFC4DC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Lorem ipsum dolor sit amet, consectetur adipiscing elit. Sed do eiusmod tempor incididunt ut labore et dolore magna aliqua.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8412480" y="2651760"/>
            <a:ext cx="804672" cy="804672"/>
            <a:chOff x="0" y="0"/>
            <a:chExt cx="1072896" cy="1072896"/>
          </a:xfrm>
        </p:grpSpPr>
        <p:sp>
          <p:nvSpPr>
            <p:cNvPr name="Freeform 19" id="19" descr="/home/claude/icons/FiServer_38BDF8.png"/>
            <p:cNvSpPr/>
            <p:nvPr/>
          </p:nvSpPr>
          <p:spPr>
            <a:xfrm flipH="false" flipV="false" rot="0">
              <a:off x="0" y="0"/>
              <a:ext cx="1072896" cy="1072896"/>
            </a:xfrm>
            <a:custGeom>
              <a:avLst/>
              <a:gdLst/>
              <a:ahLst/>
              <a:cxnLst/>
              <a:rect r="r" b="b" t="t" l="l"/>
              <a:pathLst>
                <a:path h="1072896" w="1072896">
                  <a:moveTo>
                    <a:pt x="0" y="0"/>
                  </a:moveTo>
                  <a:lnTo>
                    <a:pt x="1072896" y="0"/>
                  </a:lnTo>
                  <a:lnTo>
                    <a:pt x="1072896" y="1072896"/>
                  </a:lnTo>
                  <a:lnTo>
                    <a:pt x="0" y="10728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1097280" y="9692640"/>
            <a:ext cx="10058400" cy="457200"/>
            <a:chOff x="0" y="0"/>
            <a:chExt cx="13411200" cy="6096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3411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3411200">
                  <a:moveTo>
                    <a:pt x="0" y="0"/>
                  </a:moveTo>
                  <a:lnTo>
                    <a:pt x="13411200" y="0"/>
                  </a:lnTo>
                  <a:lnTo>
                    <a:pt x="13411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78670" r="0" b="-378670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38100"/>
              <a:ext cx="13411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6E85A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Seminário de IoT — Segurança em IoT · Grupo 6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16367760" y="9692640"/>
            <a:ext cx="914400" cy="457200"/>
            <a:chOff x="0" y="0"/>
            <a:chExt cx="1219200" cy="6096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219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1219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6E85A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22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05840" y="914400"/>
            <a:ext cx="621792" cy="559613"/>
            <a:chOff x="0" y="0"/>
            <a:chExt cx="829056" cy="74615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29056" cy="746125"/>
            </a:xfrm>
            <a:custGeom>
              <a:avLst/>
              <a:gdLst/>
              <a:ahLst/>
              <a:cxnLst/>
              <a:rect r="r" b="b" t="t" l="l"/>
              <a:pathLst>
                <a:path h="746125" w="829056">
                  <a:moveTo>
                    <a:pt x="0" y="373126"/>
                  </a:moveTo>
                  <a:lnTo>
                    <a:pt x="186563" y="0"/>
                  </a:lnTo>
                  <a:lnTo>
                    <a:pt x="642493" y="0"/>
                  </a:lnTo>
                  <a:lnTo>
                    <a:pt x="829056" y="373126"/>
                  </a:lnTo>
                  <a:lnTo>
                    <a:pt x="642493" y="746125"/>
                  </a:lnTo>
                  <a:lnTo>
                    <a:pt x="186563" y="746125"/>
                  </a:lnTo>
                  <a:close/>
                </a:path>
              </a:pathLst>
            </a:custGeom>
            <a:solidFill>
              <a:srgbClr val="38BDF8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865376" y="859536"/>
            <a:ext cx="13898880" cy="475488"/>
            <a:chOff x="0" y="0"/>
            <a:chExt cx="18531840" cy="63398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8531839" cy="633984"/>
            </a:xfrm>
            <a:custGeom>
              <a:avLst/>
              <a:gdLst/>
              <a:ahLst/>
              <a:cxnLst/>
              <a:rect r="r" b="b" t="t" l="l"/>
              <a:pathLst>
                <a:path h="633984" w="18531839">
                  <a:moveTo>
                    <a:pt x="0" y="0"/>
                  </a:moveTo>
                  <a:lnTo>
                    <a:pt x="18531839" y="0"/>
                  </a:lnTo>
                  <a:lnTo>
                    <a:pt x="18531839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19562" r="0" b="-519562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18531840" cy="68160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b="true" sz="2200" spc="399">
                  <a:solidFill>
                    <a:srgbClr val="4A6FA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ARQUITETURA DA SOLUÇÃO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005840" y="1426464"/>
            <a:ext cx="15727680" cy="1097280"/>
            <a:chOff x="0" y="0"/>
            <a:chExt cx="20970240" cy="146304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0970239" cy="1463040"/>
            </a:xfrm>
            <a:custGeom>
              <a:avLst/>
              <a:gdLst/>
              <a:ahLst/>
              <a:cxnLst/>
              <a:rect r="r" b="b" t="t" l="l"/>
              <a:pathLst>
                <a:path h="1463040" w="20970239">
                  <a:moveTo>
                    <a:pt x="0" y="0"/>
                  </a:moveTo>
                  <a:lnTo>
                    <a:pt x="20970239" y="0"/>
                  </a:lnTo>
                  <a:lnTo>
                    <a:pt x="20970239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29285" r="0" b="-229285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42875"/>
              <a:ext cx="20970240" cy="16059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920"/>
                </a:lnSpc>
              </a:pPr>
              <a:r>
                <a:rPr lang="en-US" sz="66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Visão Geral da Arquitetura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989962" y="2818762"/>
            <a:ext cx="16308067" cy="5792467"/>
            <a:chOff x="0" y="0"/>
            <a:chExt cx="21744089" cy="7723289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1744177" cy="7723378"/>
            </a:xfrm>
            <a:custGeom>
              <a:avLst/>
              <a:gdLst/>
              <a:ahLst/>
              <a:cxnLst/>
              <a:rect r="r" b="b" t="t" l="l"/>
              <a:pathLst>
                <a:path h="7723378" w="21744177">
                  <a:moveTo>
                    <a:pt x="0" y="196215"/>
                  </a:moveTo>
                  <a:cubicBezTo>
                    <a:pt x="0" y="87884"/>
                    <a:pt x="87884" y="0"/>
                    <a:pt x="196215" y="0"/>
                  </a:cubicBezTo>
                  <a:lnTo>
                    <a:pt x="21547962" y="0"/>
                  </a:lnTo>
                  <a:cubicBezTo>
                    <a:pt x="21656294" y="0"/>
                    <a:pt x="21744177" y="87884"/>
                    <a:pt x="21744177" y="196215"/>
                  </a:cubicBezTo>
                  <a:lnTo>
                    <a:pt x="21744177" y="7527163"/>
                  </a:lnTo>
                  <a:cubicBezTo>
                    <a:pt x="21744177" y="7635494"/>
                    <a:pt x="21656294" y="7723378"/>
                    <a:pt x="21547962" y="7723378"/>
                  </a:cubicBezTo>
                  <a:lnTo>
                    <a:pt x="196215" y="7723378"/>
                  </a:lnTo>
                  <a:cubicBezTo>
                    <a:pt x="87884" y="7723251"/>
                    <a:pt x="0" y="7635494"/>
                    <a:pt x="0" y="7527163"/>
                  </a:cubicBezTo>
                  <a:close/>
                </a:path>
              </a:pathLst>
            </a:custGeom>
            <a:solidFill>
              <a:srgbClr val="F7FAFD"/>
            </a:solidFill>
            <a:ln w="31750" cap="sq">
              <a:solidFill>
                <a:srgbClr val="A9C1DC"/>
              </a:solidFill>
              <a:prstDash val="dash"/>
              <a:miter/>
            </a:ln>
          </p:spPr>
        </p:sp>
      </p:grpSp>
      <p:grpSp>
        <p:nvGrpSpPr>
          <p:cNvPr name="Group 12" id="12"/>
          <p:cNvGrpSpPr/>
          <p:nvPr/>
        </p:nvGrpSpPr>
        <p:grpSpPr>
          <a:xfrm rot="0">
            <a:off x="8741664" y="4946904"/>
            <a:ext cx="804672" cy="804672"/>
            <a:chOff x="0" y="0"/>
            <a:chExt cx="1072896" cy="1072896"/>
          </a:xfrm>
        </p:grpSpPr>
        <p:sp>
          <p:nvSpPr>
            <p:cNvPr name="Freeform 13" id="13" descr="/home/claude/icons/FiServer_64748B.png"/>
            <p:cNvSpPr/>
            <p:nvPr/>
          </p:nvSpPr>
          <p:spPr>
            <a:xfrm flipH="false" flipV="false" rot="0">
              <a:off x="0" y="0"/>
              <a:ext cx="1072896" cy="1072896"/>
            </a:xfrm>
            <a:custGeom>
              <a:avLst/>
              <a:gdLst/>
              <a:ahLst/>
              <a:cxnLst/>
              <a:rect r="r" b="b" t="t" l="l"/>
              <a:pathLst>
                <a:path h="1072896" w="1072896">
                  <a:moveTo>
                    <a:pt x="0" y="0"/>
                  </a:moveTo>
                  <a:lnTo>
                    <a:pt x="1072896" y="0"/>
                  </a:lnTo>
                  <a:lnTo>
                    <a:pt x="1072896" y="1072896"/>
                  </a:lnTo>
                  <a:lnTo>
                    <a:pt x="0" y="10728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1371600" y="5806440"/>
            <a:ext cx="15544800" cy="548640"/>
            <a:chOff x="0" y="0"/>
            <a:chExt cx="20726400" cy="73152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0726400" cy="731520"/>
            </a:xfrm>
            <a:custGeom>
              <a:avLst/>
              <a:gdLst/>
              <a:ahLst/>
              <a:cxnLst/>
              <a:rect r="r" b="b" t="t" l="l"/>
              <a:pathLst>
                <a:path h="731520" w="20726400">
                  <a:moveTo>
                    <a:pt x="0" y="0"/>
                  </a:moveTo>
                  <a:lnTo>
                    <a:pt x="20726400" y="0"/>
                  </a:lnTo>
                  <a:lnTo>
                    <a:pt x="20726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02076" r="0" b="-502076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57150"/>
              <a:ext cx="20726400" cy="7886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120"/>
                </a:lnSpc>
              </a:pPr>
              <a:r>
                <a:rPr lang="en-US" sz="2600" b="true">
                  <a:solidFill>
                    <a:srgbClr val="7E8F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Inserir diagrama de arquitetura completo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371600" y="6336792"/>
            <a:ext cx="15544800" cy="438912"/>
            <a:chOff x="0" y="0"/>
            <a:chExt cx="20726400" cy="585216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0726400" cy="585216"/>
            </a:xfrm>
            <a:custGeom>
              <a:avLst/>
              <a:gdLst/>
              <a:ahLst/>
              <a:cxnLst/>
              <a:rect r="r" b="b" t="t" l="l"/>
              <a:pathLst>
                <a:path h="585216" w="20726400">
                  <a:moveTo>
                    <a:pt x="0" y="0"/>
                  </a:moveTo>
                  <a:lnTo>
                    <a:pt x="20726400" y="0"/>
                  </a:lnTo>
                  <a:lnTo>
                    <a:pt x="20726400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640095" r="0" b="-640095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20726400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400"/>
                </a:lnSpc>
              </a:pPr>
              <a:r>
                <a:rPr lang="en-US" sz="2000" i="true">
                  <a:solidFill>
                    <a:srgbClr val="7E8FA6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Substitua por diagrama, fluxo, tabela ou captura de tela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005840" y="8869680"/>
            <a:ext cx="16276320" cy="548640"/>
            <a:chOff x="0" y="0"/>
            <a:chExt cx="21701760" cy="73152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21701761" cy="731520"/>
            </a:xfrm>
            <a:custGeom>
              <a:avLst/>
              <a:gdLst/>
              <a:ahLst/>
              <a:cxnLst/>
              <a:rect r="r" b="b" t="t" l="l"/>
              <a:pathLst>
                <a:path h="731520" w="21701761">
                  <a:moveTo>
                    <a:pt x="0" y="0"/>
                  </a:moveTo>
                  <a:lnTo>
                    <a:pt x="21701761" y="0"/>
                  </a:lnTo>
                  <a:lnTo>
                    <a:pt x="21701761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28056" r="0" b="-528056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38100"/>
              <a:ext cx="21701760" cy="7696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i="true">
                  <a:solidFill>
                    <a:srgbClr val="7E8FA6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Lorem ipsum dolor sit amet, consectetur adipiscing elit — legenda do diagrama.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1005840" y="9692640"/>
            <a:ext cx="10058400" cy="457200"/>
            <a:chOff x="0" y="0"/>
            <a:chExt cx="13411200" cy="6096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3411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3411200">
                  <a:moveTo>
                    <a:pt x="0" y="0"/>
                  </a:moveTo>
                  <a:lnTo>
                    <a:pt x="13411200" y="0"/>
                  </a:lnTo>
                  <a:lnTo>
                    <a:pt x="13411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78670" r="0" b="-378670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13411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7E8F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Seminário de IoT — Segurança em IoT · Grupo 6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16367760" y="9692640"/>
            <a:ext cx="914400" cy="457200"/>
            <a:chOff x="0" y="0"/>
            <a:chExt cx="1219200" cy="6096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219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38100"/>
              <a:ext cx="1219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7E8F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23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05840" y="914400"/>
            <a:ext cx="621792" cy="559613"/>
            <a:chOff x="0" y="0"/>
            <a:chExt cx="829056" cy="74615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29056" cy="746125"/>
            </a:xfrm>
            <a:custGeom>
              <a:avLst/>
              <a:gdLst/>
              <a:ahLst/>
              <a:cxnLst/>
              <a:rect r="r" b="b" t="t" l="l"/>
              <a:pathLst>
                <a:path h="746125" w="829056">
                  <a:moveTo>
                    <a:pt x="0" y="373126"/>
                  </a:moveTo>
                  <a:lnTo>
                    <a:pt x="186563" y="0"/>
                  </a:lnTo>
                  <a:lnTo>
                    <a:pt x="642493" y="0"/>
                  </a:lnTo>
                  <a:lnTo>
                    <a:pt x="829056" y="373126"/>
                  </a:lnTo>
                  <a:lnTo>
                    <a:pt x="642493" y="746125"/>
                  </a:lnTo>
                  <a:lnTo>
                    <a:pt x="186563" y="746125"/>
                  </a:lnTo>
                  <a:close/>
                </a:path>
              </a:pathLst>
            </a:custGeom>
            <a:solidFill>
              <a:srgbClr val="38BDF8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865376" y="859536"/>
            <a:ext cx="13898880" cy="475488"/>
            <a:chOff x="0" y="0"/>
            <a:chExt cx="18531840" cy="63398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8531839" cy="633984"/>
            </a:xfrm>
            <a:custGeom>
              <a:avLst/>
              <a:gdLst/>
              <a:ahLst/>
              <a:cxnLst/>
              <a:rect r="r" b="b" t="t" l="l"/>
              <a:pathLst>
                <a:path h="633984" w="18531839">
                  <a:moveTo>
                    <a:pt x="0" y="0"/>
                  </a:moveTo>
                  <a:lnTo>
                    <a:pt x="18531839" y="0"/>
                  </a:lnTo>
                  <a:lnTo>
                    <a:pt x="18531839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19562" r="0" b="-519562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18531840" cy="68160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b="true" sz="2200" spc="399">
                  <a:solidFill>
                    <a:srgbClr val="4A6FA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ARQUITETURA DA SOLUÇÃO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005840" y="1426464"/>
            <a:ext cx="15727680" cy="1097280"/>
            <a:chOff x="0" y="0"/>
            <a:chExt cx="20970240" cy="146304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0970239" cy="1463040"/>
            </a:xfrm>
            <a:custGeom>
              <a:avLst/>
              <a:gdLst/>
              <a:ahLst/>
              <a:cxnLst/>
              <a:rect r="r" b="b" t="t" l="l"/>
              <a:pathLst>
                <a:path h="1463040" w="20970239">
                  <a:moveTo>
                    <a:pt x="0" y="0"/>
                  </a:moveTo>
                  <a:lnTo>
                    <a:pt x="20970239" y="0"/>
                  </a:lnTo>
                  <a:lnTo>
                    <a:pt x="20970239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29285" r="0" b="-229285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42875"/>
              <a:ext cx="20970240" cy="16059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920"/>
                </a:lnSpc>
              </a:pPr>
              <a:r>
                <a:rPr lang="en-US" sz="66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Componentes do Sistema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993143" y="2821943"/>
            <a:ext cx="7980683" cy="3097787"/>
            <a:chOff x="0" y="0"/>
            <a:chExt cx="10640911" cy="413038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0640949" cy="4130421"/>
            </a:xfrm>
            <a:custGeom>
              <a:avLst/>
              <a:gdLst/>
              <a:ahLst/>
              <a:cxnLst/>
              <a:rect r="r" b="b" t="t" l="l"/>
              <a:pathLst>
                <a:path h="4130421" w="10640949">
                  <a:moveTo>
                    <a:pt x="0" y="196723"/>
                  </a:moveTo>
                  <a:cubicBezTo>
                    <a:pt x="0" y="88011"/>
                    <a:pt x="88011" y="0"/>
                    <a:pt x="196723" y="0"/>
                  </a:cubicBezTo>
                  <a:lnTo>
                    <a:pt x="10444226" y="0"/>
                  </a:lnTo>
                  <a:cubicBezTo>
                    <a:pt x="10552811" y="0"/>
                    <a:pt x="10640949" y="88011"/>
                    <a:pt x="10640949" y="196723"/>
                  </a:cubicBezTo>
                  <a:lnTo>
                    <a:pt x="10640949" y="3933698"/>
                  </a:lnTo>
                  <a:cubicBezTo>
                    <a:pt x="10640949" y="4042283"/>
                    <a:pt x="10552938" y="4130421"/>
                    <a:pt x="10444226" y="4130421"/>
                  </a:cubicBezTo>
                  <a:lnTo>
                    <a:pt x="196723" y="4130421"/>
                  </a:lnTo>
                  <a:cubicBezTo>
                    <a:pt x="88011" y="4130421"/>
                    <a:pt x="0" y="4042283"/>
                    <a:pt x="0" y="3933698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3DEEA"/>
              </a:solidFill>
              <a:prstDash val="solid"/>
              <a:miter/>
            </a:ln>
          </p:spPr>
        </p:sp>
      </p:grpSp>
      <p:grpSp>
        <p:nvGrpSpPr>
          <p:cNvPr name="Group 12" id="12"/>
          <p:cNvGrpSpPr/>
          <p:nvPr/>
        </p:nvGrpSpPr>
        <p:grpSpPr>
          <a:xfrm rot="0">
            <a:off x="1463040" y="3291840"/>
            <a:ext cx="1133856" cy="1133856"/>
            <a:chOff x="0" y="0"/>
            <a:chExt cx="1511808" cy="1511808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511808" cy="1511808"/>
            </a:xfrm>
            <a:custGeom>
              <a:avLst/>
              <a:gdLst/>
              <a:ahLst/>
              <a:cxnLst/>
              <a:rect r="r" b="b" t="t" l="l"/>
              <a:pathLst>
                <a:path h="1511808" w="1511808">
                  <a:moveTo>
                    <a:pt x="0" y="755904"/>
                  </a:moveTo>
                  <a:cubicBezTo>
                    <a:pt x="0" y="338455"/>
                    <a:pt x="338455" y="0"/>
                    <a:pt x="755904" y="0"/>
                  </a:cubicBezTo>
                  <a:cubicBezTo>
                    <a:pt x="1173353" y="0"/>
                    <a:pt x="1511808" y="338455"/>
                    <a:pt x="1511808" y="755904"/>
                  </a:cubicBezTo>
                  <a:cubicBezTo>
                    <a:pt x="1511808" y="1173353"/>
                    <a:pt x="1173353" y="1511808"/>
                    <a:pt x="755904" y="1511808"/>
                  </a:cubicBezTo>
                  <a:cubicBezTo>
                    <a:pt x="338455" y="1511808"/>
                    <a:pt x="0" y="1173353"/>
                    <a:pt x="0" y="755904"/>
                  </a:cubicBezTo>
                  <a:close/>
                </a:path>
              </a:pathLst>
            </a:custGeom>
            <a:solidFill>
              <a:srgbClr val="4A6FA5"/>
            </a:solid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1755648" y="3584448"/>
            <a:ext cx="548640" cy="548640"/>
            <a:chOff x="0" y="0"/>
            <a:chExt cx="731520" cy="731520"/>
          </a:xfrm>
        </p:grpSpPr>
        <p:sp>
          <p:nvSpPr>
            <p:cNvPr name="Freeform 15" id="15" descr="/home/claude/icons/FiCpu_FFFFFF.png"/>
            <p:cNvSpPr/>
            <p:nvPr/>
          </p:nvSpPr>
          <p:spPr>
            <a:xfrm flipH="false" flipV="false" rot="0">
              <a:off x="0" y="0"/>
              <a:ext cx="731520" cy="731520"/>
            </a:xfrm>
            <a:custGeom>
              <a:avLst/>
              <a:gdLst/>
              <a:ahLst/>
              <a:cxnLst/>
              <a:rect r="r" b="b" t="t" l="l"/>
              <a:pathLst>
                <a:path h="73152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731520"/>
                  </a:lnTo>
                  <a:lnTo>
                    <a:pt x="0" y="7315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2926080" y="3291840"/>
            <a:ext cx="5577840" cy="640080"/>
            <a:chOff x="0" y="0"/>
            <a:chExt cx="7437120" cy="85344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7437120" cy="853440"/>
            </a:xfrm>
            <a:custGeom>
              <a:avLst/>
              <a:gdLst/>
              <a:ahLst/>
              <a:cxnLst/>
              <a:rect r="r" b="b" t="t" l="l"/>
              <a:pathLst>
                <a:path h="853440" w="7437120">
                  <a:moveTo>
                    <a:pt x="0" y="0"/>
                  </a:moveTo>
                  <a:lnTo>
                    <a:pt x="7437120" y="0"/>
                  </a:lnTo>
                  <a:lnTo>
                    <a:pt x="743712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19798" r="0" b="-119798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76200"/>
              <a:ext cx="7437120" cy="9296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800"/>
                </a:lnSpc>
              </a:pPr>
              <a:r>
                <a:rPr lang="en-US" sz="40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Objetivo 01 — Lorem ipsum</a:t>
              </a: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2926080" y="3957447"/>
            <a:ext cx="5577840" cy="16935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7E8FA6"/>
                </a:solidFill>
                <a:latin typeface="Calibri (MS)"/>
                <a:ea typeface="Calibri (MS)"/>
                <a:cs typeface="Calibri (MS)"/>
                <a:sym typeface="Calibri (MS)"/>
              </a:rPr>
              <a:t>Lorem ipsum dolor sit amet, consectetur adipiscing elit. Sed do eiusmod tempor incididunt ut labore et dolore magna aliqua.</a:t>
            </a:r>
          </a:p>
        </p:txBody>
      </p:sp>
      <p:grpSp>
        <p:nvGrpSpPr>
          <p:cNvPr name="Group 20" id="20"/>
          <p:cNvGrpSpPr/>
          <p:nvPr/>
        </p:nvGrpSpPr>
        <p:grpSpPr>
          <a:xfrm rot="0">
            <a:off x="9314183" y="2821943"/>
            <a:ext cx="7980683" cy="3097787"/>
            <a:chOff x="0" y="0"/>
            <a:chExt cx="10640911" cy="4130383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0640949" cy="4130421"/>
            </a:xfrm>
            <a:custGeom>
              <a:avLst/>
              <a:gdLst/>
              <a:ahLst/>
              <a:cxnLst/>
              <a:rect r="r" b="b" t="t" l="l"/>
              <a:pathLst>
                <a:path h="4130421" w="10640949">
                  <a:moveTo>
                    <a:pt x="0" y="196723"/>
                  </a:moveTo>
                  <a:cubicBezTo>
                    <a:pt x="0" y="88011"/>
                    <a:pt x="88011" y="0"/>
                    <a:pt x="196723" y="0"/>
                  </a:cubicBezTo>
                  <a:lnTo>
                    <a:pt x="10444226" y="0"/>
                  </a:lnTo>
                  <a:cubicBezTo>
                    <a:pt x="10552811" y="0"/>
                    <a:pt x="10640949" y="88011"/>
                    <a:pt x="10640949" y="196723"/>
                  </a:cubicBezTo>
                  <a:lnTo>
                    <a:pt x="10640949" y="3933698"/>
                  </a:lnTo>
                  <a:cubicBezTo>
                    <a:pt x="10640949" y="4042283"/>
                    <a:pt x="10552938" y="4130421"/>
                    <a:pt x="10444226" y="4130421"/>
                  </a:cubicBezTo>
                  <a:lnTo>
                    <a:pt x="196723" y="4130421"/>
                  </a:lnTo>
                  <a:cubicBezTo>
                    <a:pt x="88011" y="4130421"/>
                    <a:pt x="0" y="4042283"/>
                    <a:pt x="0" y="3933698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3DEEA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9784080" y="3291840"/>
            <a:ext cx="1133856" cy="1133856"/>
            <a:chOff x="0" y="0"/>
            <a:chExt cx="1511808" cy="1511808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511808" cy="1511808"/>
            </a:xfrm>
            <a:custGeom>
              <a:avLst/>
              <a:gdLst/>
              <a:ahLst/>
              <a:cxnLst/>
              <a:rect r="r" b="b" t="t" l="l"/>
              <a:pathLst>
                <a:path h="1511808" w="1511808">
                  <a:moveTo>
                    <a:pt x="0" y="755904"/>
                  </a:moveTo>
                  <a:cubicBezTo>
                    <a:pt x="0" y="338455"/>
                    <a:pt x="338455" y="0"/>
                    <a:pt x="755904" y="0"/>
                  </a:cubicBezTo>
                  <a:cubicBezTo>
                    <a:pt x="1173353" y="0"/>
                    <a:pt x="1511808" y="338455"/>
                    <a:pt x="1511808" y="755904"/>
                  </a:cubicBezTo>
                  <a:cubicBezTo>
                    <a:pt x="1511808" y="1173353"/>
                    <a:pt x="1173353" y="1511808"/>
                    <a:pt x="755904" y="1511808"/>
                  </a:cubicBezTo>
                  <a:cubicBezTo>
                    <a:pt x="338455" y="1511808"/>
                    <a:pt x="0" y="1173353"/>
                    <a:pt x="0" y="755904"/>
                  </a:cubicBezTo>
                  <a:close/>
                </a:path>
              </a:pathLst>
            </a:custGeom>
            <a:solidFill>
              <a:srgbClr val="4A6FA5"/>
            </a:solid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10076688" y="3584448"/>
            <a:ext cx="548640" cy="548640"/>
            <a:chOff x="0" y="0"/>
            <a:chExt cx="731520" cy="731520"/>
          </a:xfrm>
        </p:grpSpPr>
        <p:sp>
          <p:nvSpPr>
            <p:cNvPr name="Freeform 25" id="25" descr="/home/claude/icons/FiWifi_FFFFFF.png"/>
            <p:cNvSpPr/>
            <p:nvPr/>
          </p:nvSpPr>
          <p:spPr>
            <a:xfrm flipH="false" flipV="false" rot="0">
              <a:off x="0" y="0"/>
              <a:ext cx="731520" cy="731520"/>
            </a:xfrm>
            <a:custGeom>
              <a:avLst/>
              <a:gdLst/>
              <a:ahLst/>
              <a:cxnLst/>
              <a:rect r="r" b="b" t="t" l="l"/>
              <a:pathLst>
                <a:path h="73152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731520"/>
                  </a:lnTo>
                  <a:lnTo>
                    <a:pt x="0" y="7315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11247120" y="3291840"/>
            <a:ext cx="5577840" cy="640080"/>
            <a:chOff x="0" y="0"/>
            <a:chExt cx="7437120" cy="85344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7437120" cy="853440"/>
            </a:xfrm>
            <a:custGeom>
              <a:avLst/>
              <a:gdLst/>
              <a:ahLst/>
              <a:cxnLst/>
              <a:rect r="r" b="b" t="t" l="l"/>
              <a:pathLst>
                <a:path h="853440" w="7437120">
                  <a:moveTo>
                    <a:pt x="0" y="0"/>
                  </a:moveTo>
                  <a:lnTo>
                    <a:pt x="7437120" y="0"/>
                  </a:lnTo>
                  <a:lnTo>
                    <a:pt x="743712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19798" r="0" b="-119798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76200"/>
              <a:ext cx="7437120" cy="9296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800"/>
                </a:lnSpc>
              </a:pPr>
              <a:r>
                <a:rPr lang="en-US" sz="40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Objetivo 02 — Lorem ipsum</a:t>
              </a:r>
            </a:p>
          </p:txBody>
        </p:sp>
      </p:grpSp>
      <p:sp>
        <p:nvSpPr>
          <p:cNvPr name="TextBox 29" id="29"/>
          <p:cNvSpPr txBox="true"/>
          <p:nvPr/>
        </p:nvSpPr>
        <p:spPr>
          <a:xfrm rot="0">
            <a:off x="11247120" y="3957447"/>
            <a:ext cx="5577840" cy="16935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7E8FA6"/>
                </a:solidFill>
                <a:latin typeface="Calibri (MS)"/>
                <a:ea typeface="Calibri (MS)"/>
                <a:cs typeface="Calibri (MS)"/>
                <a:sym typeface="Calibri (MS)"/>
              </a:rPr>
              <a:t>Lorem ipsum dolor sit amet, consectetur adipiscing elit. Sed do eiusmod tempor incididunt ut labore et dolore magna aliqua.</a:t>
            </a:r>
          </a:p>
        </p:txBody>
      </p:sp>
      <p:grpSp>
        <p:nvGrpSpPr>
          <p:cNvPr name="Group 30" id="30"/>
          <p:cNvGrpSpPr/>
          <p:nvPr/>
        </p:nvGrpSpPr>
        <p:grpSpPr>
          <a:xfrm rot="0">
            <a:off x="993143" y="6260087"/>
            <a:ext cx="7980683" cy="3097787"/>
            <a:chOff x="0" y="0"/>
            <a:chExt cx="10640911" cy="4130383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0640949" cy="4130421"/>
            </a:xfrm>
            <a:custGeom>
              <a:avLst/>
              <a:gdLst/>
              <a:ahLst/>
              <a:cxnLst/>
              <a:rect r="r" b="b" t="t" l="l"/>
              <a:pathLst>
                <a:path h="4130421" w="10640949">
                  <a:moveTo>
                    <a:pt x="0" y="196723"/>
                  </a:moveTo>
                  <a:cubicBezTo>
                    <a:pt x="0" y="88011"/>
                    <a:pt x="88011" y="0"/>
                    <a:pt x="196723" y="0"/>
                  </a:cubicBezTo>
                  <a:lnTo>
                    <a:pt x="10444226" y="0"/>
                  </a:lnTo>
                  <a:cubicBezTo>
                    <a:pt x="10552811" y="0"/>
                    <a:pt x="10640949" y="88011"/>
                    <a:pt x="10640949" y="196723"/>
                  </a:cubicBezTo>
                  <a:lnTo>
                    <a:pt x="10640949" y="3933698"/>
                  </a:lnTo>
                  <a:cubicBezTo>
                    <a:pt x="10640949" y="4042283"/>
                    <a:pt x="10552938" y="4130421"/>
                    <a:pt x="10444226" y="4130421"/>
                  </a:cubicBezTo>
                  <a:lnTo>
                    <a:pt x="196723" y="4130421"/>
                  </a:lnTo>
                  <a:cubicBezTo>
                    <a:pt x="88011" y="4130421"/>
                    <a:pt x="0" y="4042283"/>
                    <a:pt x="0" y="3933698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3DEEA"/>
              </a:solidFill>
              <a:prstDash val="solid"/>
              <a:miter/>
            </a:ln>
          </p:spPr>
        </p:sp>
      </p:grpSp>
      <p:grpSp>
        <p:nvGrpSpPr>
          <p:cNvPr name="Group 32" id="32"/>
          <p:cNvGrpSpPr/>
          <p:nvPr/>
        </p:nvGrpSpPr>
        <p:grpSpPr>
          <a:xfrm rot="0">
            <a:off x="1463040" y="6729984"/>
            <a:ext cx="1133856" cy="1133856"/>
            <a:chOff x="0" y="0"/>
            <a:chExt cx="1511808" cy="1511808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511808" cy="1511808"/>
            </a:xfrm>
            <a:custGeom>
              <a:avLst/>
              <a:gdLst/>
              <a:ahLst/>
              <a:cxnLst/>
              <a:rect r="r" b="b" t="t" l="l"/>
              <a:pathLst>
                <a:path h="1511808" w="1511808">
                  <a:moveTo>
                    <a:pt x="0" y="755904"/>
                  </a:moveTo>
                  <a:cubicBezTo>
                    <a:pt x="0" y="338455"/>
                    <a:pt x="338455" y="0"/>
                    <a:pt x="755904" y="0"/>
                  </a:cubicBezTo>
                  <a:cubicBezTo>
                    <a:pt x="1173353" y="0"/>
                    <a:pt x="1511808" y="338455"/>
                    <a:pt x="1511808" y="755904"/>
                  </a:cubicBezTo>
                  <a:cubicBezTo>
                    <a:pt x="1511808" y="1173353"/>
                    <a:pt x="1173353" y="1511808"/>
                    <a:pt x="755904" y="1511808"/>
                  </a:cubicBezTo>
                  <a:cubicBezTo>
                    <a:pt x="338455" y="1511808"/>
                    <a:pt x="0" y="1173353"/>
                    <a:pt x="0" y="755904"/>
                  </a:cubicBezTo>
                  <a:close/>
                </a:path>
              </a:pathLst>
            </a:custGeom>
            <a:solidFill>
              <a:srgbClr val="4A6FA5"/>
            </a:solidFill>
          </p:spPr>
        </p:sp>
      </p:grpSp>
      <p:grpSp>
        <p:nvGrpSpPr>
          <p:cNvPr name="Group 34" id="34"/>
          <p:cNvGrpSpPr/>
          <p:nvPr/>
        </p:nvGrpSpPr>
        <p:grpSpPr>
          <a:xfrm rot="0">
            <a:off x="1755648" y="7022592"/>
            <a:ext cx="548640" cy="548640"/>
            <a:chOff x="0" y="0"/>
            <a:chExt cx="731520" cy="731520"/>
          </a:xfrm>
        </p:grpSpPr>
        <p:sp>
          <p:nvSpPr>
            <p:cNvPr name="Freeform 35" id="35" descr="/home/claude/icons/FiServer_FFFFFF.png"/>
            <p:cNvSpPr/>
            <p:nvPr/>
          </p:nvSpPr>
          <p:spPr>
            <a:xfrm flipH="false" flipV="false" rot="0">
              <a:off x="0" y="0"/>
              <a:ext cx="731520" cy="731520"/>
            </a:xfrm>
            <a:custGeom>
              <a:avLst/>
              <a:gdLst/>
              <a:ahLst/>
              <a:cxnLst/>
              <a:rect r="r" b="b" t="t" l="l"/>
              <a:pathLst>
                <a:path h="73152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731520"/>
                  </a:lnTo>
                  <a:lnTo>
                    <a:pt x="0" y="7315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36" id="36"/>
          <p:cNvGrpSpPr/>
          <p:nvPr/>
        </p:nvGrpSpPr>
        <p:grpSpPr>
          <a:xfrm rot="0">
            <a:off x="2926080" y="6729984"/>
            <a:ext cx="5577840" cy="640080"/>
            <a:chOff x="0" y="0"/>
            <a:chExt cx="7437120" cy="85344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7437120" cy="853440"/>
            </a:xfrm>
            <a:custGeom>
              <a:avLst/>
              <a:gdLst/>
              <a:ahLst/>
              <a:cxnLst/>
              <a:rect r="r" b="b" t="t" l="l"/>
              <a:pathLst>
                <a:path h="853440" w="7437120">
                  <a:moveTo>
                    <a:pt x="0" y="0"/>
                  </a:moveTo>
                  <a:lnTo>
                    <a:pt x="7437120" y="0"/>
                  </a:lnTo>
                  <a:lnTo>
                    <a:pt x="743712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19798" r="0" b="-119798"/>
              </a:stretch>
            </a:blip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76200"/>
              <a:ext cx="7437120" cy="9296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800"/>
                </a:lnSpc>
              </a:pPr>
              <a:r>
                <a:rPr lang="en-US" sz="40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Objetivo 03 — Lorem ipsum</a:t>
              </a:r>
            </a:p>
          </p:txBody>
        </p:sp>
      </p:grpSp>
      <p:sp>
        <p:nvSpPr>
          <p:cNvPr name="TextBox 39" id="39"/>
          <p:cNvSpPr txBox="true"/>
          <p:nvPr/>
        </p:nvSpPr>
        <p:spPr>
          <a:xfrm rot="0">
            <a:off x="2926080" y="7395591"/>
            <a:ext cx="5577840" cy="16935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7E8FA6"/>
                </a:solidFill>
                <a:latin typeface="Calibri (MS)"/>
                <a:ea typeface="Calibri (MS)"/>
                <a:cs typeface="Calibri (MS)"/>
                <a:sym typeface="Calibri (MS)"/>
              </a:rPr>
              <a:t>Lorem ipsum dolor sit amet, consectetur adipiscing elit. Sed do eiusmod tempor incididunt ut labore et dolore magna aliqua.</a:t>
            </a:r>
          </a:p>
        </p:txBody>
      </p:sp>
      <p:grpSp>
        <p:nvGrpSpPr>
          <p:cNvPr name="Group 40" id="40"/>
          <p:cNvGrpSpPr/>
          <p:nvPr/>
        </p:nvGrpSpPr>
        <p:grpSpPr>
          <a:xfrm rot="0">
            <a:off x="9314183" y="6260087"/>
            <a:ext cx="7980683" cy="3097787"/>
            <a:chOff x="0" y="0"/>
            <a:chExt cx="10640911" cy="4130383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10640949" cy="4130421"/>
            </a:xfrm>
            <a:custGeom>
              <a:avLst/>
              <a:gdLst/>
              <a:ahLst/>
              <a:cxnLst/>
              <a:rect r="r" b="b" t="t" l="l"/>
              <a:pathLst>
                <a:path h="4130421" w="10640949">
                  <a:moveTo>
                    <a:pt x="0" y="196723"/>
                  </a:moveTo>
                  <a:cubicBezTo>
                    <a:pt x="0" y="88011"/>
                    <a:pt x="88011" y="0"/>
                    <a:pt x="196723" y="0"/>
                  </a:cubicBezTo>
                  <a:lnTo>
                    <a:pt x="10444226" y="0"/>
                  </a:lnTo>
                  <a:cubicBezTo>
                    <a:pt x="10552811" y="0"/>
                    <a:pt x="10640949" y="88011"/>
                    <a:pt x="10640949" y="196723"/>
                  </a:cubicBezTo>
                  <a:lnTo>
                    <a:pt x="10640949" y="3933698"/>
                  </a:lnTo>
                  <a:cubicBezTo>
                    <a:pt x="10640949" y="4042283"/>
                    <a:pt x="10552938" y="4130421"/>
                    <a:pt x="10444226" y="4130421"/>
                  </a:cubicBezTo>
                  <a:lnTo>
                    <a:pt x="196723" y="4130421"/>
                  </a:lnTo>
                  <a:cubicBezTo>
                    <a:pt x="88011" y="4130421"/>
                    <a:pt x="0" y="4042283"/>
                    <a:pt x="0" y="3933698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3DEEA"/>
              </a:solidFill>
              <a:prstDash val="solid"/>
              <a:miter/>
            </a:ln>
          </p:spPr>
        </p:sp>
      </p:grpSp>
      <p:grpSp>
        <p:nvGrpSpPr>
          <p:cNvPr name="Group 42" id="42"/>
          <p:cNvGrpSpPr/>
          <p:nvPr/>
        </p:nvGrpSpPr>
        <p:grpSpPr>
          <a:xfrm rot="0">
            <a:off x="9784080" y="6729984"/>
            <a:ext cx="1133856" cy="1133856"/>
            <a:chOff x="0" y="0"/>
            <a:chExt cx="1511808" cy="1511808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1511808" cy="1511808"/>
            </a:xfrm>
            <a:custGeom>
              <a:avLst/>
              <a:gdLst/>
              <a:ahLst/>
              <a:cxnLst/>
              <a:rect r="r" b="b" t="t" l="l"/>
              <a:pathLst>
                <a:path h="1511808" w="1511808">
                  <a:moveTo>
                    <a:pt x="0" y="755904"/>
                  </a:moveTo>
                  <a:cubicBezTo>
                    <a:pt x="0" y="338455"/>
                    <a:pt x="338455" y="0"/>
                    <a:pt x="755904" y="0"/>
                  </a:cubicBezTo>
                  <a:cubicBezTo>
                    <a:pt x="1173353" y="0"/>
                    <a:pt x="1511808" y="338455"/>
                    <a:pt x="1511808" y="755904"/>
                  </a:cubicBezTo>
                  <a:cubicBezTo>
                    <a:pt x="1511808" y="1173353"/>
                    <a:pt x="1173353" y="1511808"/>
                    <a:pt x="755904" y="1511808"/>
                  </a:cubicBezTo>
                  <a:cubicBezTo>
                    <a:pt x="338455" y="1511808"/>
                    <a:pt x="0" y="1173353"/>
                    <a:pt x="0" y="755904"/>
                  </a:cubicBezTo>
                  <a:close/>
                </a:path>
              </a:pathLst>
            </a:custGeom>
            <a:solidFill>
              <a:srgbClr val="4A6FA5"/>
            </a:solidFill>
          </p:spPr>
        </p:sp>
      </p:grpSp>
      <p:grpSp>
        <p:nvGrpSpPr>
          <p:cNvPr name="Group 44" id="44"/>
          <p:cNvGrpSpPr/>
          <p:nvPr/>
        </p:nvGrpSpPr>
        <p:grpSpPr>
          <a:xfrm rot="0">
            <a:off x="10076688" y="7022592"/>
            <a:ext cx="548640" cy="548640"/>
            <a:chOff x="0" y="0"/>
            <a:chExt cx="731520" cy="731520"/>
          </a:xfrm>
        </p:grpSpPr>
        <p:sp>
          <p:nvSpPr>
            <p:cNvPr name="Freeform 45" id="45" descr="/home/claude/icons/FiCloud_FFFFFF.png"/>
            <p:cNvSpPr/>
            <p:nvPr/>
          </p:nvSpPr>
          <p:spPr>
            <a:xfrm flipH="false" flipV="false" rot="0">
              <a:off x="0" y="0"/>
              <a:ext cx="731520" cy="731520"/>
            </a:xfrm>
            <a:custGeom>
              <a:avLst/>
              <a:gdLst/>
              <a:ahLst/>
              <a:cxnLst/>
              <a:rect r="r" b="b" t="t" l="l"/>
              <a:pathLst>
                <a:path h="73152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731520"/>
                  </a:lnTo>
                  <a:lnTo>
                    <a:pt x="0" y="7315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46" id="46"/>
          <p:cNvGrpSpPr/>
          <p:nvPr/>
        </p:nvGrpSpPr>
        <p:grpSpPr>
          <a:xfrm rot="0">
            <a:off x="11247120" y="6729984"/>
            <a:ext cx="5577840" cy="640080"/>
            <a:chOff x="0" y="0"/>
            <a:chExt cx="7437120" cy="853440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7437120" cy="853440"/>
            </a:xfrm>
            <a:custGeom>
              <a:avLst/>
              <a:gdLst/>
              <a:ahLst/>
              <a:cxnLst/>
              <a:rect r="r" b="b" t="t" l="l"/>
              <a:pathLst>
                <a:path h="853440" w="7437120">
                  <a:moveTo>
                    <a:pt x="0" y="0"/>
                  </a:moveTo>
                  <a:lnTo>
                    <a:pt x="7437120" y="0"/>
                  </a:lnTo>
                  <a:lnTo>
                    <a:pt x="743712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19798" r="0" b="-119798"/>
              </a:stretch>
            </a:blipFill>
          </p:spPr>
        </p:sp>
        <p:sp>
          <p:nvSpPr>
            <p:cNvPr name="TextBox 48" id="48"/>
            <p:cNvSpPr txBox="true"/>
            <p:nvPr/>
          </p:nvSpPr>
          <p:spPr>
            <a:xfrm>
              <a:off x="0" y="-76200"/>
              <a:ext cx="7437120" cy="9296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800"/>
                </a:lnSpc>
              </a:pPr>
              <a:r>
                <a:rPr lang="en-US" sz="40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Objetivo 04 — Lorem ipsum</a:t>
              </a:r>
            </a:p>
          </p:txBody>
        </p:sp>
      </p:grpSp>
      <p:sp>
        <p:nvSpPr>
          <p:cNvPr name="TextBox 49" id="49"/>
          <p:cNvSpPr txBox="true"/>
          <p:nvPr/>
        </p:nvSpPr>
        <p:spPr>
          <a:xfrm rot="0">
            <a:off x="11247120" y="7395591"/>
            <a:ext cx="5577840" cy="16935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7E8FA6"/>
                </a:solidFill>
                <a:latin typeface="Calibri (MS)"/>
                <a:ea typeface="Calibri (MS)"/>
                <a:cs typeface="Calibri (MS)"/>
                <a:sym typeface="Calibri (MS)"/>
              </a:rPr>
              <a:t>Lorem ipsum dolor sit amet, consectetur adipiscing elit. Sed do eiusmod tempor incididunt ut labore et dolore magna aliqua.</a:t>
            </a:r>
          </a:p>
        </p:txBody>
      </p:sp>
      <p:grpSp>
        <p:nvGrpSpPr>
          <p:cNvPr name="Group 50" id="50"/>
          <p:cNvGrpSpPr/>
          <p:nvPr/>
        </p:nvGrpSpPr>
        <p:grpSpPr>
          <a:xfrm rot="0">
            <a:off x="1005840" y="9692640"/>
            <a:ext cx="10058400" cy="457200"/>
            <a:chOff x="0" y="0"/>
            <a:chExt cx="13411200" cy="60960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13411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3411200">
                  <a:moveTo>
                    <a:pt x="0" y="0"/>
                  </a:moveTo>
                  <a:lnTo>
                    <a:pt x="13411200" y="0"/>
                  </a:lnTo>
                  <a:lnTo>
                    <a:pt x="13411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78670" r="0" b="-378670"/>
              </a:stretch>
            </a:blipFill>
          </p:spPr>
        </p:sp>
        <p:sp>
          <p:nvSpPr>
            <p:cNvPr name="TextBox 52" id="52"/>
            <p:cNvSpPr txBox="true"/>
            <p:nvPr/>
          </p:nvSpPr>
          <p:spPr>
            <a:xfrm>
              <a:off x="0" y="-38100"/>
              <a:ext cx="13411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7E8F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Seminário de IoT — Segurança em IoT · Grupo 6</a:t>
              </a:r>
            </a:p>
          </p:txBody>
        </p:sp>
      </p:grpSp>
      <p:grpSp>
        <p:nvGrpSpPr>
          <p:cNvPr name="Group 53" id="53"/>
          <p:cNvGrpSpPr/>
          <p:nvPr/>
        </p:nvGrpSpPr>
        <p:grpSpPr>
          <a:xfrm rot="0">
            <a:off x="16367760" y="9692640"/>
            <a:ext cx="914400" cy="457200"/>
            <a:chOff x="0" y="0"/>
            <a:chExt cx="1219200" cy="609600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1219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55" id="55"/>
            <p:cNvSpPr txBox="true"/>
            <p:nvPr/>
          </p:nvSpPr>
          <p:spPr>
            <a:xfrm>
              <a:off x="0" y="-38100"/>
              <a:ext cx="1219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7E8F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24</a:t>
              </a:r>
            </a:p>
          </p:txBody>
        </p:sp>
      </p:grpSp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05840" y="914400"/>
            <a:ext cx="621792" cy="559613"/>
            <a:chOff x="0" y="0"/>
            <a:chExt cx="829056" cy="74615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29056" cy="746125"/>
            </a:xfrm>
            <a:custGeom>
              <a:avLst/>
              <a:gdLst/>
              <a:ahLst/>
              <a:cxnLst/>
              <a:rect r="r" b="b" t="t" l="l"/>
              <a:pathLst>
                <a:path h="746125" w="829056">
                  <a:moveTo>
                    <a:pt x="0" y="373126"/>
                  </a:moveTo>
                  <a:lnTo>
                    <a:pt x="186563" y="0"/>
                  </a:lnTo>
                  <a:lnTo>
                    <a:pt x="642493" y="0"/>
                  </a:lnTo>
                  <a:lnTo>
                    <a:pt x="829056" y="373126"/>
                  </a:lnTo>
                  <a:lnTo>
                    <a:pt x="642493" y="746125"/>
                  </a:lnTo>
                  <a:lnTo>
                    <a:pt x="186563" y="746125"/>
                  </a:lnTo>
                  <a:close/>
                </a:path>
              </a:pathLst>
            </a:custGeom>
            <a:solidFill>
              <a:srgbClr val="38BDF8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865376" y="859536"/>
            <a:ext cx="13898880" cy="475488"/>
            <a:chOff x="0" y="0"/>
            <a:chExt cx="18531840" cy="63398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8531839" cy="633984"/>
            </a:xfrm>
            <a:custGeom>
              <a:avLst/>
              <a:gdLst/>
              <a:ahLst/>
              <a:cxnLst/>
              <a:rect r="r" b="b" t="t" l="l"/>
              <a:pathLst>
                <a:path h="633984" w="18531839">
                  <a:moveTo>
                    <a:pt x="0" y="0"/>
                  </a:moveTo>
                  <a:lnTo>
                    <a:pt x="18531839" y="0"/>
                  </a:lnTo>
                  <a:lnTo>
                    <a:pt x="18531839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19562" r="0" b="-519562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18531840" cy="68160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b="true" sz="2200" spc="399">
                  <a:solidFill>
                    <a:srgbClr val="4A6FA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ARQUITETURA DA SOLUÇÃO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005840" y="1426464"/>
            <a:ext cx="15727680" cy="1097280"/>
            <a:chOff x="0" y="0"/>
            <a:chExt cx="20970240" cy="146304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0970239" cy="1463040"/>
            </a:xfrm>
            <a:custGeom>
              <a:avLst/>
              <a:gdLst/>
              <a:ahLst/>
              <a:cxnLst/>
              <a:rect r="r" b="b" t="t" l="l"/>
              <a:pathLst>
                <a:path h="1463040" w="20970239">
                  <a:moveTo>
                    <a:pt x="0" y="0"/>
                  </a:moveTo>
                  <a:lnTo>
                    <a:pt x="20970239" y="0"/>
                  </a:lnTo>
                  <a:lnTo>
                    <a:pt x="20970239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29285" r="0" b="-229285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42875"/>
              <a:ext cx="20970240" cy="16059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920"/>
                </a:lnSpc>
              </a:pPr>
              <a:r>
                <a:rPr lang="en-US" sz="66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Fluxo de Comunicação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005840" y="2743200"/>
            <a:ext cx="16276320" cy="1005840"/>
            <a:chOff x="0" y="0"/>
            <a:chExt cx="21701760" cy="134112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1701761" cy="1341120"/>
            </a:xfrm>
            <a:custGeom>
              <a:avLst/>
              <a:gdLst/>
              <a:ahLst/>
              <a:cxnLst/>
              <a:rect r="r" b="b" t="t" l="l"/>
              <a:pathLst>
                <a:path h="1341120" w="21701761">
                  <a:moveTo>
                    <a:pt x="0" y="0"/>
                  </a:moveTo>
                  <a:lnTo>
                    <a:pt x="21701761" y="0"/>
                  </a:lnTo>
                  <a:lnTo>
                    <a:pt x="21701761" y="1341120"/>
                  </a:lnTo>
                  <a:lnTo>
                    <a:pt x="0" y="13411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65303" r="0" b="-265303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76200"/>
              <a:ext cx="21701760" cy="14173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800"/>
                </a:lnSpc>
              </a:pPr>
              <a:r>
                <a:rPr lang="en-US" sz="4000">
                  <a:solidFill>
                    <a:srgbClr val="3A4C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Lorem ipsum dolor sit amet, consectetur adipiscing elit. Sed do eiusmod tempor incididunt ut labore et dolore magna aliqua.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993143" y="4559303"/>
            <a:ext cx="3591563" cy="2128523"/>
            <a:chOff x="0" y="0"/>
            <a:chExt cx="4788751" cy="2838031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4788789" cy="2838069"/>
            </a:xfrm>
            <a:custGeom>
              <a:avLst/>
              <a:gdLst/>
              <a:ahLst/>
              <a:cxnLst/>
              <a:rect r="r" b="b" t="t" l="l"/>
              <a:pathLst>
                <a:path h="2838069" w="4788789">
                  <a:moveTo>
                    <a:pt x="0" y="197485"/>
                  </a:moveTo>
                  <a:cubicBezTo>
                    <a:pt x="0" y="88392"/>
                    <a:pt x="88392" y="0"/>
                    <a:pt x="197485" y="0"/>
                  </a:cubicBezTo>
                  <a:lnTo>
                    <a:pt x="4591304" y="0"/>
                  </a:lnTo>
                  <a:cubicBezTo>
                    <a:pt x="4700397" y="0"/>
                    <a:pt x="4788789" y="88392"/>
                    <a:pt x="4788789" y="197485"/>
                  </a:cubicBezTo>
                  <a:lnTo>
                    <a:pt x="4788789" y="2640584"/>
                  </a:lnTo>
                  <a:cubicBezTo>
                    <a:pt x="4788789" y="2749677"/>
                    <a:pt x="4700397" y="2838069"/>
                    <a:pt x="4591304" y="2838069"/>
                  </a:cubicBezTo>
                  <a:lnTo>
                    <a:pt x="197485" y="2838069"/>
                  </a:lnTo>
                  <a:cubicBezTo>
                    <a:pt x="88392" y="2838069"/>
                    <a:pt x="0" y="2749677"/>
                    <a:pt x="0" y="2640584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3DEEA"/>
              </a:solidFill>
              <a:prstDash val="solid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1280160" y="4901184"/>
            <a:ext cx="3017520" cy="457200"/>
            <a:chOff x="0" y="0"/>
            <a:chExt cx="4023360" cy="6096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4023360" cy="609600"/>
            </a:xfrm>
            <a:custGeom>
              <a:avLst/>
              <a:gdLst/>
              <a:ahLst/>
              <a:cxnLst/>
              <a:rect r="r" b="b" t="t" l="l"/>
              <a:pathLst>
                <a:path h="609600" w="4023360">
                  <a:moveTo>
                    <a:pt x="0" y="0"/>
                  </a:moveTo>
                  <a:lnTo>
                    <a:pt x="4023360" y="0"/>
                  </a:lnTo>
                  <a:lnTo>
                    <a:pt x="402336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78601" r="0" b="-78601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402336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b="true" sz="2000" spc="300">
                  <a:solidFill>
                    <a:srgbClr val="38BDF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ETAPA 01</a:t>
              </a: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1280160" y="5329047"/>
            <a:ext cx="3017520" cy="11449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b="true">
                <a:solidFill>
                  <a:srgbClr val="0F2C4C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Dispositivo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4700016" y="5394960"/>
            <a:ext cx="475488" cy="475488"/>
            <a:chOff x="0" y="0"/>
            <a:chExt cx="633984" cy="633984"/>
          </a:xfrm>
        </p:grpSpPr>
        <p:sp>
          <p:nvSpPr>
            <p:cNvPr name="Freeform 20" id="20" descr="/home/claude/icons/FiArrowRight_64748B.png"/>
            <p:cNvSpPr/>
            <p:nvPr/>
          </p:nvSpPr>
          <p:spPr>
            <a:xfrm flipH="false" flipV="false" rot="0">
              <a:off x="0" y="0"/>
              <a:ext cx="633984" cy="633984"/>
            </a:xfrm>
            <a:custGeom>
              <a:avLst/>
              <a:gdLst/>
              <a:ahLst/>
              <a:cxnLst/>
              <a:rect r="r" b="b" t="t" l="l"/>
              <a:pathLst>
                <a:path h="633984" w="633984">
                  <a:moveTo>
                    <a:pt x="0" y="0"/>
                  </a:moveTo>
                  <a:lnTo>
                    <a:pt x="633984" y="0"/>
                  </a:lnTo>
                  <a:lnTo>
                    <a:pt x="633984" y="633984"/>
                  </a:lnTo>
                  <a:lnTo>
                    <a:pt x="0" y="6339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21" id="21"/>
          <p:cNvSpPr txBox="true"/>
          <p:nvPr/>
        </p:nvSpPr>
        <p:spPr>
          <a:xfrm rot="0">
            <a:off x="1005840" y="6901815"/>
            <a:ext cx="3566160" cy="11449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40"/>
              </a:lnSpc>
            </a:pPr>
            <a:r>
              <a:rPr lang="en-US" sz="2200">
                <a:solidFill>
                  <a:srgbClr val="7E8FA6"/>
                </a:solidFill>
                <a:latin typeface="Calibri (MS)"/>
                <a:ea typeface="Calibri (MS)"/>
                <a:cs typeface="Calibri (MS)"/>
                <a:sym typeface="Calibri (MS)"/>
              </a:rPr>
              <a:t>Lorem ipsum dolor sit amet elit.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5254247" y="4559303"/>
            <a:ext cx="3591563" cy="2128523"/>
            <a:chOff x="0" y="0"/>
            <a:chExt cx="4788751" cy="2838031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4788789" cy="2838069"/>
            </a:xfrm>
            <a:custGeom>
              <a:avLst/>
              <a:gdLst/>
              <a:ahLst/>
              <a:cxnLst/>
              <a:rect r="r" b="b" t="t" l="l"/>
              <a:pathLst>
                <a:path h="2838069" w="4788789">
                  <a:moveTo>
                    <a:pt x="0" y="197485"/>
                  </a:moveTo>
                  <a:cubicBezTo>
                    <a:pt x="0" y="88392"/>
                    <a:pt x="88392" y="0"/>
                    <a:pt x="197485" y="0"/>
                  </a:cubicBezTo>
                  <a:lnTo>
                    <a:pt x="4591304" y="0"/>
                  </a:lnTo>
                  <a:cubicBezTo>
                    <a:pt x="4700397" y="0"/>
                    <a:pt x="4788789" y="88392"/>
                    <a:pt x="4788789" y="197485"/>
                  </a:cubicBezTo>
                  <a:lnTo>
                    <a:pt x="4788789" y="2640584"/>
                  </a:lnTo>
                  <a:cubicBezTo>
                    <a:pt x="4788789" y="2749677"/>
                    <a:pt x="4700397" y="2838069"/>
                    <a:pt x="4591304" y="2838069"/>
                  </a:cubicBezTo>
                  <a:lnTo>
                    <a:pt x="197485" y="2838069"/>
                  </a:lnTo>
                  <a:cubicBezTo>
                    <a:pt x="88392" y="2838069"/>
                    <a:pt x="0" y="2749677"/>
                    <a:pt x="0" y="2640584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3DEEA"/>
              </a:solidFill>
              <a:prstDash val="solid"/>
              <a:miter/>
            </a:ln>
          </p:spPr>
        </p:sp>
      </p:grpSp>
      <p:grpSp>
        <p:nvGrpSpPr>
          <p:cNvPr name="Group 24" id="24"/>
          <p:cNvGrpSpPr/>
          <p:nvPr/>
        </p:nvGrpSpPr>
        <p:grpSpPr>
          <a:xfrm rot="0">
            <a:off x="5541264" y="4901184"/>
            <a:ext cx="3017520" cy="457200"/>
            <a:chOff x="0" y="0"/>
            <a:chExt cx="4023360" cy="6096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4023360" cy="609600"/>
            </a:xfrm>
            <a:custGeom>
              <a:avLst/>
              <a:gdLst/>
              <a:ahLst/>
              <a:cxnLst/>
              <a:rect r="r" b="b" t="t" l="l"/>
              <a:pathLst>
                <a:path h="609600" w="4023360">
                  <a:moveTo>
                    <a:pt x="0" y="0"/>
                  </a:moveTo>
                  <a:lnTo>
                    <a:pt x="4023360" y="0"/>
                  </a:lnTo>
                  <a:lnTo>
                    <a:pt x="402336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78601" r="0" b="-78601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38100"/>
              <a:ext cx="402336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b="true" sz="2000" spc="300">
                  <a:solidFill>
                    <a:srgbClr val="38BDF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ETAPA 02</a:t>
              </a:r>
            </a:p>
          </p:txBody>
        </p:sp>
      </p:grpSp>
      <p:sp>
        <p:nvSpPr>
          <p:cNvPr name="TextBox 27" id="27"/>
          <p:cNvSpPr txBox="true"/>
          <p:nvPr/>
        </p:nvSpPr>
        <p:spPr>
          <a:xfrm rot="0">
            <a:off x="5541264" y="5329047"/>
            <a:ext cx="3017520" cy="11449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b="true">
                <a:solidFill>
                  <a:srgbClr val="0F2C4C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Gateway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8961120" y="5394960"/>
            <a:ext cx="475488" cy="475488"/>
            <a:chOff x="0" y="0"/>
            <a:chExt cx="633984" cy="633984"/>
          </a:xfrm>
        </p:grpSpPr>
        <p:sp>
          <p:nvSpPr>
            <p:cNvPr name="Freeform 29" id="29" descr="/home/claude/icons/FiArrowRight_64748B.png"/>
            <p:cNvSpPr/>
            <p:nvPr/>
          </p:nvSpPr>
          <p:spPr>
            <a:xfrm flipH="false" flipV="false" rot="0">
              <a:off x="0" y="0"/>
              <a:ext cx="633984" cy="633984"/>
            </a:xfrm>
            <a:custGeom>
              <a:avLst/>
              <a:gdLst/>
              <a:ahLst/>
              <a:cxnLst/>
              <a:rect r="r" b="b" t="t" l="l"/>
              <a:pathLst>
                <a:path h="633984" w="633984">
                  <a:moveTo>
                    <a:pt x="0" y="0"/>
                  </a:moveTo>
                  <a:lnTo>
                    <a:pt x="633984" y="0"/>
                  </a:lnTo>
                  <a:lnTo>
                    <a:pt x="633984" y="633984"/>
                  </a:lnTo>
                  <a:lnTo>
                    <a:pt x="0" y="6339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30" id="30"/>
          <p:cNvSpPr txBox="true"/>
          <p:nvPr/>
        </p:nvSpPr>
        <p:spPr>
          <a:xfrm rot="0">
            <a:off x="5266944" y="6901815"/>
            <a:ext cx="3566160" cy="11449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40"/>
              </a:lnSpc>
            </a:pPr>
            <a:r>
              <a:rPr lang="en-US" sz="2200">
                <a:solidFill>
                  <a:srgbClr val="7E8FA6"/>
                </a:solidFill>
                <a:latin typeface="Calibri (MS)"/>
                <a:ea typeface="Calibri (MS)"/>
                <a:cs typeface="Calibri (MS)"/>
                <a:sym typeface="Calibri (MS)"/>
              </a:rPr>
              <a:t>Lorem ipsum dolor sit amet elit.</a:t>
            </a:r>
          </a:p>
        </p:txBody>
      </p:sp>
      <p:grpSp>
        <p:nvGrpSpPr>
          <p:cNvPr name="Group 31" id="31"/>
          <p:cNvGrpSpPr/>
          <p:nvPr/>
        </p:nvGrpSpPr>
        <p:grpSpPr>
          <a:xfrm rot="0">
            <a:off x="9515351" y="4559303"/>
            <a:ext cx="3591563" cy="2128523"/>
            <a:chOff x="0" y="0"/>
            <a:chExt cx="4788751" cy="2838031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4788789" cy="2838069"/>
            </a:xfrm>
            <a:custGeom>
              <a:avLst/>
              <a:gdLst/>
              <a:ahLst/>
              <a:cxnLst/>
              <a:rect r="r" b="b" t="t" l="l"/>
              <a:pathLst>
                <a:path h="2838069" w="4788789">
                  <a:moveTo>
                    <a:pt x="0" y="197485"/>
                  </a:moveTo>
                  <a:cubicBezTo>
                    <a:pt x="0" y="88392"/>
                    <a:pt x="88392" y="0"/>
                    <a:pt x="197485" y="0"/>
                  </a:cubicBezTo>
                  <a:lnTo>
                    <a:pt x="4591304" y="0"/>
                  </a:lnTo>
                  <a:cubicBezTo>
                    <a:pt x="4700397" y="0"/>
                    <a:pt x="4788789" y="88392"/>
                    <a:pt x="4788789" y="197485"/>
                  </a:cubicBezTo>
                  <a:lnTo>
                    <a:pt x="4788789" y="2640584"/>
                  </a:lnTo>
                  <a:cubicBezTo>
                    <a:pt x="4788789" y="2749677"/>
                    <a:pt x="4700397" y="2838069"/>
                    <a:pt x="4591304" y="2838069"/>
                  </a:cubicBezTo>
                  <a:lnTo>
                    <a:pt x="197485" y="2838069"/>
                  </a:lnTo>
                  <a:cubicBezTo>
                    <a:pt x="88392" y="2838069"/>
                    <a:pt x="0" y="2749677"/>
                    <a:pt x="0" y="2640584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3DEEA"/>
              </a:solidFill>
              <a:prstDash val="solid"/>
              <a:miter/>
            </a:ln>
          </p:spPr>
        </p:sp>
      </p:grpSp>
      <p:grpSp>
        <p:nvGrpSpPr>
          <p:cNvPr name="Group 33" id="33"/>
          <p:cNvGrpSpPr/>
          <p:nvPr/>
        </p:nvGrpSpPr>
        <p:grpSpPr>
          <a:xfrm rot="0">
            <a:off x="9802368" y="4901184"/>
            <a:ext cx="3017520" cy="457200"/>
            <a:chOff x="0" y="0"/>
            <a:chExt cx="4023360" cy="6096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4023360" cy="609600"/>
            </a:xfrm>
            <a:custGeom>
              <a:avLst/>
              <a:gdLst/>
              <a:ahLst/>
              <a:cxnLst/>
              <a:rect r="r" b="b" t="t" l="l"/>
              <a:pathLst>
                <a:path h="609600" w="4023360">
                  <a:moveTo>
                    <a:pt x="0" y="0"/>
                  </a:moveTo>
                  <a:lnTo>
                    <a:pt x="4023360" y="0"/>
                  </a:lnTo>
                  <a:lnTo>
                    <a:pt x="402336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78601" r="0" b="-78601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38100"/>
              <a:ext cx="402336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b="true" sz="2000" spc="300">
                  <a:solidFill>
                    <a:srgbClr val="38BDF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ETAPA 03</a:t>
              </a:r>
            </a:p>
          </p:txBody>
        </p:sp>
      </p:grpSp>
      <p:sp>
        <p:nvSpPr>
          <p:cNvPr name="TextBox 36" id="36"/>
          <p:cNvSpPr txBox="true"/>
          <p:nvPr/>
        </p:nvSpPr>
        <p:spPr>
          <a:xfrm rot="0">
            <a:off x="9802368" y="5329047"/>
            <a:ext cx="3017520" cy="11449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b="true">
                <a:solidFill>
                  <a:srgbClr val="0F2C4C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Processamento</a:t>
            </a:r>
          </a:p>
        </p:txBody>
      </p:sp>
      <p:grpSp>
        <p:nvGrpSpPr>
          <p:cNvPr name="Group 37" id="37"/>
          <p:cNvGrpSpPr/>
          <p:nvPr/>
        </p:nvGrpSpPr>
        <p:grpSpPr>
          <a:xfrm rot="0">
            <a:off x="13222224" y="5394960"/>
            <a:ext cx="475488" cy="475488"/>
            <a:chOff x="0" y="0"/>
            <a:chExt cx="633984" cy="633984"/>
          </a:xfrm>
        </p:grpSpPr>
        <p:sp>
          <p:nvSpPr>
            <p:cNvPr name="Freeform 38" id="38" descr="/home/claude/icons/FiArrowRight_64748B.png"/>
            <p:cNvSpPr/>
            <p:nvPr/>
          </p:nvSpPr>
          <p:spPr>
            <a:xfrm flipH="false" flipV="false" rot="0">
              <a:off x="0" y="0"/>
              <a:ext cx="633984" cy="633984"/>
            </a:xfrm>
            <a:custGeom>
              <a:avLst/>
              <a:gdLst/>
              <a:ahLst/>
              <a:cxnLst/>
              <a:rect r="r" b="b" t="t" l="l"/>
              <a:pathLst>
                <a:path h="633984" w="633984">
                  <a:moveTo>
                    <a:pt x="0" y="0"/>
                  </a:moveTo>
                  <a:lnTo>
                    <a:pt x="633984" y="0"/>
                  </a:lnTo>
                  <a:lnTo>
                    <a:pt x="633984" y="633984"/>
                  </a:lnTo>
                  <a:lnTo>
                    <a:pt x="0" y="6339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39" id="39"/>
          <p:cNvSpPr txBox="true"/>
          <p:nvPr/>
        </p:nvSpPr>
        <p:spPr>
          <a:xfrm rot="0">
            <a:off x="9528048" y="6901815"/>
            <a:ext cx="3566160" cy="11449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40"/>
              </a:lnSpc>
            </a:pPr>
            <a:r>
              <a:rPr lang="en-US" sz="2200">
                <a:solidFill>
                  <a:srgbClr val="7E8FA6"/>
                </a:solidFill>
                <a:latin typeface="Calibri (MS)"/>
                <a:ea typeface="Calibri (MS)"/>
                <a:cs typeface="Calibri (MS)"/>
                <a:sym typeface="Calibri (MS)"/>
              </a:rPr>
              <a:t>Lorem ipsum dolor sit amet elit.</a:t>
            </a:r>
          </a:p>
        </p:txBody>
      </p:sp>
      <p:grpSp>
        <p:nvGrpSpPr>
          <p:cNvPr name="Group 40" id="40"/>
          <p:cNvGrpSpPr/>
          <p:nvPr/>
        </p:nvGrpSpPr>
        <p:grpSpPr>
          <a:xfrm rot="0">
            <a:off x="13776455" y="4559303"/>
            <a:ext cx="3591563" cy="2128523"/>
            <a:chOff x="0" y="0"/>
            <a:chExt cx="4788751" cy="2838031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4788789" cy="2838069"/>
            </a:xfrm>
            <a:custGeom>
              <a:avLst/>
              <a:gdLst/>
              <a:ahLst/>
              <a:cxnLst/>
              <a:rect r="r" b="b" t="t" l="l"/>
              <a:pathLst>
                <a:path h="2838069" w="4788789">
                  <a:moveTo>
                    <a:pt x="0" y="197485"/>
                  </a:moveTo>
                  <a:cubicBezTo>
                    <a:pt x="0" y="88392"/>
                    <a:pt x="88392" y="0"/>
                    <a:pt x="197485" y="0"/>
                  </a:cubicBezTo>
                  <a:lnTo>
                    <a:pt x="4591304" y="0"/>
                  </a:lnTo>
                  <a:cubicBezTo>
                    <a:pt x="4700397" y="0"/>
                    <a:pt x="4788789" y="88392"/>
                    <a:pt x="4788789" y="197485"/>
                  </a:cubicBezTo>
                  <a:lnTo>
                    <a:pt x="4788789" y="2640584"/>
                  </a:lnTo>
                  <a:cubicBezTo>
                    <a:pt x="4788789" y="2749677"/>
                    <a:pt x="4700397" y="2838069"/>
                    <a:pt x="4591304" y="2838069"/>
                  </a:cubicBezTo>
                  <a:lnTo>
                    <a:pt x="197485" y="2838069"/>
                  </a:lnTo>
                  <a:cubicBezTo>
                    <a:pt x="88392" y="2838069"/>
                    <a:pt x="0" y="2749677"/>
                    <a:pt x="0" y="2640584"/>
                  </a:cubicBezTo>
                  <a:close/>
                </a:path>
              </a:pathLst>
            </a:custGeom>
            <a:solidFill>
              <a:srgbClr val="4A6FA5"/>
            </a:solidFill>
            <a:ln w="25400" cap="sq">
              <a:solidFill>
                <a:srgbClr val="D3DEEA"/>
              </a:solidFill>
              <a:prstDash val="solid"/>
              <a:miter/>
            </a:ln>
          </p:spPr>
        </p:sp>
      </p:grpSp>
      <p:grpSp>
        <p:nvGrpSpPr>
          <p:cNvPr name="Group 42" id="42"/>
          <p:cNvGrpSpPr/>
          <p:nvPr/>
        </p:nvGrpSpPr>
        <p:grpSpPr>
          <a:xfrm rot="0">
            <a:off x="14063472" y="4901184"/>
            <a:ext cx="3017520" cy="457200"/>
            <a:chOff x="0" y="0"/>
            <a:chExt cx="4023360" cy="60960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4023360" cy="609600"/>
            </a:xfrm>
            <a:custGeom>
              <a:avLst/>
              <a:gdLst/>
              <a:ahLst/>
              <a:cxnLst/>
              <a:rect r="r" b="b" t="t" l="l"/>
              <a:pathLst>
                <a:path h="609600" w="4023360">
                  <a:moveTo>
                    <a:pt x="0" y="0"/>
                  </a:moveTo>
                  <a:lnTo>
                    <a:pt x="4023360" y="0"/>
                  </a:lnTo>
                  <a:lnTo>
                    <a:pt x="402336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78601" r="0" b="-78601"/>
              </a:stretch>
            </a:blipFill>
          </p:spPr>
        </p:sp>
        <p:sp>
          <p:nvSpPr>
            <p:cNvPr name="TextBox 44" id="44"/>
            <p:cNvSpPr txBox="true"/>
            <p:nvPr/>
          </p:nvSpPr>
          <p:spPr>
            <a:xfrm>
              <a:off x="0" y="-38100"/>
              <a:ext cx="402336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b="true" sz="2000" spc="300">
                  <a:solidFill>
                    <a:srgbClr val="DCE8F7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ETAPA 04</a:t>
              </a:r>
            </a:p>
          </p:txBody>
        </p:sp>
      </p:grpSp>
      <p:sp>
        <p:nvSpPr>
          <p:cNvPr name="TextBox 45" id="45"/>
          <p:cNvSpPr txBox="true"/>
          <p:nvPr/>
        </p:nvSpPr>
        <p:spPr>
          <a:xfrm rot="0">
            <a:off x="14063472" y="5329047"/>
            <a:ext cx="3017520" cy="11449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b="true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Nuvem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13789152" y="6901815"/>
            <a:ext cx="3566160" cy="11449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40"/>
              </a:lnSpc>
            </a:pPr>
            <a:r>
              <a:rPr lang="en-US" sz="2200">
                <a:solidFill>
                  <a:srgbClr val="7E8FA6"/>
                </a:solidFill>
                <a:latin typeface="Calibri (MS)"/>
                <a:ea typeface="Calibri (MS)"/>
                <a:cs typeface="Calibri (MS)"/>
                <a:sym typeface="Calibri (MS)"/>
              </a:rPr>
              <a:t>Lorem ipsum dolor sit amet elit.</a:t>
            </a:r>
          </a:p>
        </p:txBody>
      </p:sp>
      <p:grpSp>
        <p:nvGrpSpPr>
          <p:cNvPr name="Group 47" id="47"/>
          <p:cNvGrpSpPr/>
          <p:nvPr/>
        </p:nvGrpSpPr>
        <p:grpSpPr>
          <a:xfrm rot="0">
            <a:off x="1005840" y="9692640"/>
            <a:ext cx="10058400" cy="457200"/>
            <a:chOff x="0" y="0"/>
            <a:chExt cx="13411200" cy="60960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13411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3411200">
                  <a:moveTo>
                    <a:pt x="0" y="0"/>
                  </a:moveTo>
                  <a:lnTo>
                    <a:pt x="13411200" y="0"/>
                  </a:lnTo>
                  <a:lnTo>
                    <a:pt x="13411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78670" r="0" b="-378670"/>
              </a:stretch>
            </a:blipFill>
          </p:spPr>
        </p:sp>
        <p:sp>
          <p:nvSpPr>
            <p:cNvPr name="TextBox 49" id="49"/>
            <p:cNvSpPr txBox="true"/>
            <p:nvPr/>
          </p:nvSpPr>
          <p:spPr>
            <a:xfrm>
              <a:off x="0" y="-38100"/>
              <a:ext cx="13411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7E8F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Seminário de IoT — Segurança em IoT · Grupo 6</a:t>
              </a: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16367760" y="9692640"/>
            <a:ext cx="914400" cy="457200"/>
            <a:chOff x="0" y="0"/>
            <a:chExt cx="1219200" cy="60960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1219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52" id="52"/>
            <p:cNvSpPr txBox="true"/>
            <p:nvPr/>
          </p:nvSpPr>
          <p:spPr>
            <a:xfrm>
              <a:off x="0" y="-38100"/>
              <a:ext cx="1219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7E8F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25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05840" y="914400"/>
            <a:ext cx="621792" cy="559613"/>
            <a:chOff x="0" y="0"/>
            <a:chExt cx="829056" cy="74615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29056" cy="746125"/>
            </a:xfrm>
            <a:custGeom>
              <a:avLst/>
              <a:gdLst/>
              <a:ahLst/>
              <a:cxnLst/>
              <a:rect r="r" b="b" t="t" l="l"/>
              <a:pathLst>
                <a:path h="746125" w="829056">
                  <a:moveTo>
                    <a:pt x="0" y="373126"/>
                  </a:moveTo>
                  <a:lnTo>
                    <a:pt x="186563" y="0"/>
                  </a:lnTo>
                  <a:lnTo>
                    <a:pt x="642493" y="0"/>
                  </a:lnTo>
                  <a:lnTo>
                    <a:pt x="829056" y="373126"/>
                  </a:lnTo>
                  <a:lnTo>
                    <a:pt x="642493" y="746125"/>
                  </a:lnTo>
                  <a:lnTo>
                    <a:pt x="186563" y="746125"/>
                  </a:lnTo>
                  <a:close/>
                </a:path>
              </a:pathLst>
            </a:custGeom>
            <a:solidFill>
              <a:srgbClr val="38BDF8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865376" y="859536"/>
            <a:ext cx="13898880" cy="475488"/>
            <a:chOff x="0" y="0"/>
            <a:chExt cx="18531840" cy="63398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8531839" cy="633984"/>
            </a:xfrm>
            <a:custGeom>
              <a:avLst/>
              <a:gdLst/>
              <a:ahLst/>
              <a:cxnLst/>
              <a:rect r="r" b="b" t="t" l="l"/>
              <a:pathLst>
                <a:path h="633984" w="18531839">
                  <a:moveTo>
                    <a:pt x="0" y="0"/>
                  </a:moveTo>
                  <a:lnTo>
                    <a:pt x="18531839" y="0"/>
                  </a:lnTo>
                  <a:lnTo>
                    <a:pt x="18531839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19562" r="0" b="-519562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18531840" cy="68160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b="true" sz="2200" spc="399">
                  <a:solidFill>
                    <a:srgbClr val="4A6FA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ARQUITETURA DA SOLUÇÃO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005840" y="1426464"/>
            <a:ext cx="15727680" cy="1097280"/>
            <a:chOff x="0" y="0"/>
            <a:chExt cx="20970240" cy="146304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0970239" cy="1463040"/>
            </a:xfrm>
            <a:custGeom>
              <a:avLst/>
              <a:gdLst/>
              <a:ahLst/>
              <a:cxnLst/>
              <a:rect r="r" b="b" t="t" l="l"/>
              <a:pathLst>
                <a:path h="1463040" w="20970239">
                  <a:moveTo>
                    <a:pt x="0" y="0"/>
                  </a:moveTo>
                  <a:lnTo>
                    <a:pt x="20970239" y="0"/>
                  </a:lnTo>
                  <a:lnTo>
                    <a:pt x="20970239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29285" r="0" b="-229285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42875"/>
              <a:ext cx="20970240" cy="16059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920"/>
                </a:lnSpc>
              </a:pPr>
              <a:r>
                <a:rPr lang="en-US" sz="66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Segurança na Arquitetura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005840" y="2926080"/>
            <a:ext cx="1060704" cy="1060704"/>
            <a:chOff x="0" y="0"/>
            <a:chExt cx="1414272" cy="14142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414272" cy="1414272"/>
            </a:xfrm>
            <a:custGeom>
              <a:avLst/>
              <a:gdLst/>
              <a:ahLst/>
              <a:cxnLst/>
              <a:rect r="r" b="b" t="t" l="l"/>
              <a:pathLst>
                <a:path h="1414272" w="1414272">
                  <a:moveTo>
                    <a:pt x="0" y="707136"/>
                  </a:moveTo>
                  <a:cubicBezTo>
                    <a:pt x="0" y="316611"/>
                    <a:pt x="316611" y="0"/>
                    <a:pt x="707136" y="0"/>
                  </a:cubicBezTo>
                  <a:cubicBezTo>
                    <a:pt x="1097661" y="0"/>
                    <a:pt x="1414272" y="316611"/>
                    <a:pt x="1414272" y="707136"/>
                  </a:cubicBezTo>
                  <a:cubicBezTo>
                    <a:pt x="1414272" y="1097661"/>
                    <a:pt x="1097661" y="1414272"/>
                    <a:pt x="707136" y="1414272"/>
                  </a:cubicBezTo>
                  <a:cubicBezTo>
                    <a:pt x="316611" y="1414272"/>
                    <a:pt x="0" y="1097661"/>
                    <a:pt x="0" y="707136"/>
                  </a:cubicBezTo>
                  <a:close/>
                </a:path>
              </a:pathLst>
            </a:custGeom>
            <a:solidFill>
              <a:srgbClr val="4A6FA5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280160" y="3200400"/>
            <a:ext cx="512064" cy="512064"/>
            <a:chOff x="0" y="0"/>
            <a:chExt cx="682752" cy="682752"/>
          </a:xfrm>
        </p:grpSpPr>
        <p:sp>
          <p:nvSpPr>
            <p:cNvPr name="Freeform 13" id="13" descr="/home/claude/icons/FiLock_FFFFFF.png"/>
            <p:cNvSpPr/>
            <p:nvPr/>
          </p:nvSpPr>
          <p:spPr>
            <a:xfrm flipH="false" flipV="false" rot="0">
              <a:off x="0" y="0"/>
              <a:ext cx="682752" cy="682752"/>
            </a:xfrm>
            <a:custGeom>
              <a:avLst/>
              <a:gdLst/>
              <a:ahLst/>
              <a:cxnLst/>
              <a:rect r="r" b="b" t="t" l="l"/>
              <a:pathLst>
                <a:path h="682752" w="682752">
                  <a:moveTo>
                    <a:pt x="0" y="0"/>
                  </a:moveTo>
                  <a:lnTo>
                    <a:pt x="682752" y="0"/>
                  </a:lnTo>
                  <a:lnTo>
                    <a:pt x="682752" y="682752"/>
                  </a:lnTo>
                  <a:lnTo>
                    <a:pt x="0" y="6827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2468880" y="2834640"/>
            <a:ext cx="8229600" cy="621792"/>
            <a:chOff x="0" y="0"/>
            <a:chExt cx="10972800" cy="829056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0972800" cy="829056"/>
            </a:xfrm>
            <a:custGeom>
              <a:avLst/>
              <a:gdLst/>
              <a:ahLst/>
              <a:cxnLst/>
              <a:rect r="r" b="b" t="t" l="l"/>
              <a:pathLst>
                <a:path h="829056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07890" r="0" b="-207890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76200"/>
              <a:ext cx="10972800" cy="90525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800"/>
                </a:lnSpc>
              </a:pPr>
              <a:r>
                <a:rPr lang="en-US" sz="40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Conceito 01 — Lorem ipsum dolor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2468880" y="3456432"/>
            <a:ext cx="9144000" cy="731520"/>
            <a:chOff x="0" y="0"/>
            <a:chExt cx="12192000" cy="97536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2192000" cy="975360"/>
            </a:xfrm>
            <a:custGeom>
              <a:avLst/>
              <a:gdLst/>
              <a:ahLst/>
              <a:cxnLst/>
              <a:rect r="r" b="b" t="t" l="l"/>
              <a:pathLst>
                <a:path h="975360" w="12192000">
                  <a:moveTo>
                    <a:pt x="0" y="0"/>
                  </a:moveTo>
                  <a:lnTo>
                    <a:pt x="12192000" y="0"/>
                  </a:lnTo>
                  <a:lnTo>
                    <a:pt x="1219200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93562" r="0" b="-193562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12192000" cy="10134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7E8F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Lorem ipsum dolor sit amet, consectetur adipiscing elit, sed do eiusmod tempor.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005840" y="4517136"/>
            <a:ext cx="1060704" cy="1060704"/>
            <a:chOff x="0" y="0"/>
            <a:chExt cx="1414272" cy="1414272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414272" cy="1414272"/>
            </a:xfrm>
            <a:custGeom>
              <a:avLst/>
              <a:gdLst/>
              <a:ahLst/>
              <a:cxnLst/>
              <a:rect r="r" b="b" t="t" l="l"/>
              <a:pathLst>
                <a:path h="1414272" w="1414272">
                  <a:moveTo>
                    <a:pt x="0" y="707136"/>
                  </a:moveTo>
                  <a:cubicBezTo>
                    <a:pt x="0" y="316611"/>
                    <a:pt x="316611" y="0"/>
                    <a:pt x="707136" y="0"/>
                  </a:cubicBezTo>
                  <a:cubicBezTo>
                    <a:pt x="1097661" y="0"/>
                    <a:pt x="1414272" y="316611"/>
                    <a:pt x="1414272" y="707136"/>
                  </a:cubicBezTo>
                  <a:cubicBezTo>
                    <a:pt x="1414272" y="1097661"/>
                    <a:pt x="1097661" y="1414272"/>
                    <a:pt x="707136" y="1414272"/>
                  </a:cubicBezTo>
                  <a:cubicBezTo>
                    <a:pt x="316611" y="1414272"/>
                    <a:pt x="0" y="1097661"/>
                    <a:pt x="0" y="707136"/>
                  </a:cubicBezTo>
                  <a:close/>
                </a:path>
              </a:pathLst>
            </a:custGeom>
            <a:solidFill>
              <a:srgbClr val="4A6FA5"/>
            </a:solidFill>
          </p:spPr>
        </p:sp>
      </p:grpSp>
      <p:grpSp>
        <p:nvGrpSpPr>
          <p:cNvPr name="Group 22" id="22"/>
          <p:cNvGrpSpPr/>
          <p:nvPr/>
        </p:nvGrpSpPr>
        <p:grpSpPr>
          <a:xfrm rot="0">
            <a:off x="1280160" y="4791456"/>
            <a:ext cx="512064" cy="512064"/>
            <a:chOff x="0" y="0"/>
            <a:chExt cx="682752" cy="682752"/>
          </a:xfrm>
        </p:grpSpPr>
        <p:sp>
          <p:nvSpPr>
            <p:cNvPr name="Freeform 23" id="23" descr="/home/claude/icons/FiKey_FFFFFF.png"/>
            <p:cNvSpPr/>
            <p:nvPr/>
          </p:nvSpPr>
          <p:spPr>
            <a:xfrm flipH="false" flipV="false" rot="0">
              <a:off x="0" y="0"/>
              <a:ext cx="682752" cy="682752"/>
            </a:xfrm>
            <a:custGeom>
              <a:avLst/>
              <a:gdLst/>
              <a:ahLst/>
              <a:cxnLst/>
              <a:rect r="r" b="b" t="t" l="l"/>
              <a:pathLst>
                <a:path h="682752" w="682752">
                  <a:moveTo>
                    <a:pt x="0" y="0"/>
                  </a:moveTo>
                  <a:lnTo>
                    <a:pt x="682752" y="0"/>
                  </a:lnTo>
                  <a:lnTo>
                    <a:pt x="682752" y="682752"/>
                  </a:lnTo>
                  <a:lnTo>
                    <a:pt x="0" y="6827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2468880" y="4425696"/>
            <a:ext cx="8229600" cy="621792"/>
            <a:chOff x="0" y="0"/>
            <a:chExt cx="10972800" cy="829056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0972800" cy="829056"/>
            </a:xfrm>
            <a:custGeom>
              <a:avLst/>
              <a:gdLst/>
              <a:ahLst/>
              <a:cxnLst/>
              <a:rect r="r" b="b" t="t" l="l"/>
              <a:pathLst>
                <a:path h="829056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07890" r="0" b="-207890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76200"/>
              <a:ext cx="10972800" cy="90525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800"/>
                </a:lnSpc>
              </a:pPr>
              <a:r>
                <a:rPr lang="en-US" sz="40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Conceito 02 — Lorem ipsum dolor</a:t>
              </a: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2468880" y="5047488"/>
            <a:ext cx="9144000" cy="731520"/>
            <a:chOff x="0" y="0"/>
            <a:chExt cx="12192000" cy="97536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2192000" cy="975360"/>
            </a:xfrm>
            <a:custGeom>
              <a:avLst/>
              <a:gdLst/>
              <a:ahLst/>
              <a:cxnLst/>
              <a:rect r="r" b="b" t="t" l="l"/>
              <a:pathLst>
                <a:path h="975360" w="12192000">
                  <a:moveTo>
                    <a:pt x="0" y="0"/>
                  </a:moveTo>
                  <a:lnTo>
                    <a:pt x="12192000" y="0"/>
                  </a:lnTo>
                  <a:lnTo>
                    <a:pt x="1219200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93562" r="0" b="-193562"/>
              </a:stretch>
            </a:blip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38100"/>
              <a:ext cx="12192000" cy="10134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7E8F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Lorem ipsum dolor sit amet, consectetur adipiscing elit, sed do eiusmod tempor.</a:t>
              </a: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1005840" y="6108192"/>
            <a:ext cx="1060704" cy="1060704"/>
            <a:chOff x="0" y="0"/>
            <a:chExt cx="1414272" cy="1414272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414272" cy="1414272"/>
            </a:xfrm>
            <a:custGeom>
              <a:avLst/>
              <a:gdLst/>
              <a:ahLst/>
              <a:cxnLst/>
              <a:rect r="r" b="b" t="t" l="l"/>
              <a:pathLst>
                <a:path h="1414272" w="1414272">
                  <a:moveTo>
                    <a:pt x="0" y="707136"/>
                  </a:moveTo>
                  <a:cubicBezTo>
                    <a:pt x="0" y="316611"/>
                    <a:pt x="316611" y="0"/>
                    <a:pt x="707136" y="0"/>
                  </a:cubicBezTo>
                  <a:cubicBezTo>
                    <a:pt x="1097661" y="0"/>
                    <a:pt x="1414272" y="316611"/>
                    <a:pt x="1414272" y="707136"/>
                  </a:cubicBezTo>
                  <a:cubicBezTo>
                    <a:pt x="1414272" y="1097661"/>
                    <a:pt x="1097661" y="1414272"/>
                    <a:pt x="707136" y="1414272"/>
                  </a:cubicBezTo>
                  <a:cubicBezTo>
                    <a:pt x="316611" y="1414272"/>
                    <a:pt x="0" y="1097661"/>
                    <a:pt x="0" y="707136"/>
                  </a:cubicBezTo>
                  <a:close/>
                </a:path>
              </a:pathLst>
            </a:custGeom>
            <a:solidFill>
              <a:srgbClr val="4A6FA5"/>
            </a:solidFill>
          </p:spPr>
        </p:sp>
      </p:grpSp>
      <p:grpSp>
        <p:nvGrpSpPr>
          <p:cNvPr name="Group 32" id="32"/>
          <p:cNvGrpSpPr/>
          <p:nvPr/>
        </p:nvGrpSpPr>
        <p:grpSpPr>
          <a:xfrm rot="0">
            <a:off x="1280160" y="6382512"/>
            <a:ext cx="512064" cy="512064"/>
            <a:chOff x="0" y="0"/>
            <a:chExt cx="682752" cy="682752"/>
          </a:xfrm>
        </p:grpSpPr>
        <p:sp>
          <p:nvSpPr>
            <p:cNvPr name="Freeform 33" id="33" descr="/home/claude/icons/FiEye_FFFFFF.png"/>
            <p:cNvSpPr/>
            <p:nvPr/>
          </p:nvSpPr>
          <p:spPr>
            <a:xfrm flipH="false" flipV="false" rot="0">
              <a:off x="0" y="0"/>
              <a:ext cx="682752" cy="682752"/>
            </a:xfrm>
            <a:custGeom>
              <a:avLst/>
              <a:gdLst/>
              <a:ahLst/>
              <a:cxnLst/>
              <a:rect r="r" b="b" t="t" l="l"/>
              <a:pathLst>
                <a:path h="682752" w="682752">
                  <a:moveTo>
                    <a:pt x="0" y="0"/>
                  </a:moveTo>
                  <a:lnTo>
                    <a:pt x="682752" y="0"/>
                  </a:lnTo>
                  <a:lnTo>
                    <a:pt x="682752" y="682752"/>
                  </a:lnTo>
                  <a:lnTo>
                    <a:pt x="0" y="6827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34" id="34"/>
          <p:cNvGrpSpPr/>
          <p:nvPr/>
        </p:nvGrpSpPr>
        <p:grpSpPr>
          <a:xfrm rot="0">
            <a:off x="2468880" y="6016752"/>
            <a:ext cx="8229600" cy="621792"/>
            <a:chOff x="0" y="0"/>
            <a:chExt cx="10972800" cy="829056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10972800" cy="829056"/>
            </a:xfrm>
            <a:custGeom>
              <a:avLst/>
              <a:gdLst/>
              <a:ahLst/>
              <a:cxnLst/>
              <a:rect r="r" b="b" t="t" l="l"/>
              <a:pathLst>
                <a:path h="829056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07890" r="0" b="-207890"/>
              </a:stretch>
            </a:blipFill>
          </p:spPr>
        </p:sp>
        <p:sp>
          <p:nvSpPr>
            <p:cNvPr name="TextBox 36" id="36"/>
            <p:cNvSpPr txBox="true"/>
            <p:nvPr/>
          </p:nvSpPr>
          <p:spPr>
            <a:xfrm>
              <a:off x="0" y="-76200"/>
              <a:ext cx="10972800" cy="90525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800"/>
                </a:lnSpc>
              </a:pPr>
              <a:r>
                <a:rPr lang="en-US" sz="40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Conceito 03 — Lorem ipsum dolor</a:t>
              </a:r>
            </a:p>
          </p:txBody>
        </p:sp>
      </p:grpSp>
      <p:grpSp>
        <p:nvGrpSpPr>
          <p:cNvPr name="Group 37" id="37"/>
          <p:cNvGrpSpPr/>
          <p:nvPr/>
        </p:nvGrpSpPr>
        <p:grpSpPr>
          <a:xfrm rot="0">
            <a:off x="2468880" y="6638544"/>
            <a:ext cx="9144000" cy="731520"/>
            <a:chOff x="0" y="0"/>
            <a:chExt cx="12192000" cy="97536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12192000" cy="975360"/>
            </a:xfrm>
            <a:custGeom>
              <a:avLst/>
              <a:gdLst/>
              <a:ahLst/>
              <a:cxnLst/>
              <a:rect r="r" b="b" t="t" l="l"/>
              <a:pathLst>
                <a:path h="975360" w="12192000">
                  <a:moveTo>
                    <a:pt x="0" y="0"/>
                  </a:moveTo>
                  <a:lnTo>
                    <a:pt x="12192000" y="0"/>
                  </a:lnTo>
                  <a:lnTo>
                    <a:pt x="1219200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93562" r="0" b="-193562"/>
              </a:stretch>
            </a:blipFill>
          </p:spPr>
        </p:sp>
        <p:sp>
          <p:nvSpPr>
            <p:cNvPr name="TextBox 39" id="39"/>
            <p:cNvSpPr txBox="true"/>
            <p:nvPr/>
          </p:nvSpPr>
          <p:spPr>
            <a:xfrm>
              <a:off x="0" y="-38100"/>
              <a:ext cx="12192000" cy="10134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7E8F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Lorem ipsum dolor sit amet, consectetur adipiscing elit, sed do eiusmod tempor.</a:t>
              </a:r>
            </a:p>
          </p:txBody>
        </p:sp>
      </p:grpSp>
      <p:grpSp>
        <p:nvGrpSpPr>
          <p:cNvPr name="Group 40" id="40"/>
          <p:cNvGrpSpPr/>
          <p:nvPr/>
        </p:nvGrpSpPr>
        <p:grpSpPr>
          <a:xfrm rot="0">
            <a:off x="1005840" y="7699248"/>
            <a:ext cx="1060704" cy="1060704"/>
            <a:chOff x="0" y="0"/>
            <a:chExt cx="1414272" cy="1414272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1414272" cy="1414272"/>
            </a:xfrm>
            <a:custGeom>
              <a:avLst/>
              <a:gdLst/>
              <a:ahLst/>
              <a:cxnLst/>
              <a:rect r="r" b="b" t="t" l="l"/>
              <a:pathLst>
                <a:path h="1414272" w="1414272">
                  <a:moveTo>
                    <a:pt x="0" y="707136"/>
                  </a:moveTo>
                  <a:cubicBezTo>
                    <a:pt x="0" y="316611"/>
                    <a:pt x="316611" y="0"/>
                    <a:pt x="707136" y="0"/>
                  </a:cubicBezTo>
                  <a:cubicBezTo>
                    <a:pt x="1097661" y="0"/>
                    <a:pt x="1414272" y="316611"/>
                    <a:pt x="1414272" y="707136"/>
                  </a:cubicBezTo>
                  <a:cubicBezTo>
                    <a:pt x="1414272" y="1097661"/>
                    <a:pt x="1097661" y="1414272"/>
                    <a:pt x="707136" y="1414272"/>
                  </a:cubicBezTo>
                  <a:cubicBezTo>
                    <a:pt x="316611" y="1414272"/>
                    <a:pt x="0" y="1097661"/>
                    <a:pt x="0" y="707136"/>
                  </a:cubicBezTo>
                  <a:close/>
                </a:path>
              </a:pathLst>
            </a:custGeom>
            <a:solidFill>
              <a:srgbClr val="4A6FA5"/>
            </a:solidFill>
          </p:spPr>
        </p:sp>
      </p:grpSp>
      <p:grpSp>
        <p:nvGrpSpPr>
          <p:cNvPr name="Group 42" id="42"/>
          <p:cNvGrpSpPr/>
          <p:nvPr/>
        </p:nvGrpSpPr>
        <p:grpSpPr>
          <a:xfrm rot="0">
            <a:off x="1280160" y="7973568"/>
            <a:ext cx="512064" cy="512064"/>
            <a:chOff x="0" y="0"/>
            <a:chExt cx="682752" cy="682752"/>
          </a:xfrm>
        </p:grpSpPr>
        <p:sp>
          <p:nvSpPr>
            <p:cNvPr name="Freeform 43" id="43" descr="/home/claude/icons/FiAlertTriangle_FFFFFF.png"/>
            <p:cNvSpPr/>
            <p:nvPr/>
          </p:nvSpPr>
          <p:spPr>
            <a:xfrm flipH="false" flipV="false" rot="0">
              <a:off x="0" y="0"/>
              <a:ext cx="682752" cy="682752"/>
            </a:xfrm>
            <a:custGeom>
              <a:avLst/>
              <a:gdLst/>
              <a:ahLst/>
              <a:cxnLst/>
              <a:rect r="r" b="b" t="t" l="l"/>
              <a:pathLst>
                <a:path h="682752" w="682752">
                  <a:moveTo>
                    <a:pt x="0" y="0"/>
                  </a:moveTo>
                  <a:lnTo>
                    <a:pt x="682752" y="0"/>
                  </a:lnTo>
                  <a:lnTo>
                    <a:pt x="682752" y="682752"/>
                  </a:lnTo>
                  <a:lnTo>
                    <a:pt x="0" y="6827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44" id="44"/>
          <p:cNvGrpSpPr/>
          <p:nvPr/>
        </p:nvGrpSpPr>
        <p:grpSpPr>
          <a:xfrm rot="0">
            <a:off x="2468880" y="7607808"/>
            <a:ext cx="8229600" cy="621792"/>
            <a:chOff x="0" y="0"/>
            <a:chExt cx="10972800" cy="829056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10972800" cy="829056"/>
            </a:xfrm>
            <a:custGeom>
              <a:avLst/>
              <a:gdLst/>
              <a:ahLst/>
              <a:cxnLst/>
              <a:rect r="r" b="b" t="t" l="l"/>
              <a:pathLst>
                <a:path h="829056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07890" r="0" b="-207890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76200"/>
              <a:ext cx="10972800" cy="90525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800"/>
                </a:lnSpc>
              </a:pPr>
              <a:r>
                <a:rPr lang="en-US" sz="40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Conceito 04 — Lorem ipsum dolor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2468880" y="8229600"/>
            <a:ext cx="9144000" cy="731520"/>
            <a:chOff x="0" y="0"/>
            <a:chExt cx="12192000" cy="97536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12192000" cy="975360"/>
            </a:xfrm>
            <a:custGeom>
              <a:avLst/>
              <a:gdLst/>
              <a:ahLst/>
              <a:cxnLst/>
              <a:rect r="r" b="b" t="t" l="l"/>
              <a:pathLst>
                <a:path h="975360" w="12192000">
                  <a:moveTo>
                    <a:pt x="0" y="0"/>
                  </a:moveTo>
                  <a:lnTo>
                    <a:pt x="12192000" y="0"/>
                  </a:lnTo>
                  <a:lnTo>
                    <a:pt x="1219200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93562" r="0" b="-193562"/>
              </a:stretch>
            </a:blipFill>
          </p:spPr>
        </p:sp>
        <p:sp>
          <p:nvSpPr>
            <p:cNvPr name="TextBox 49" id="49"/>
            <p:cNvSpPr txBox="true"/>
            <p:nvPr/>
          </p:nvSpPr>
          <p:spPr>
            <a:xfrm>
              <a:off x="0" y="-38100"/>
              <a:ext cx="12192000" cy="10134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7E8F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Lorem ipsum dolor sit amet, consectetur adipiscing elit, sed do eiusmod tempor.</a:t>
              </a: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12237082" y="2818762"/>
            <a:ext cx="5060947" cy="6249667"/>
            <a:chOff x="0" y="0"/>
            <a:chExt cx="6747929" cy="8332889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6748018" cy="8332978"/>
            </a:xfrm>
            <a:custGeom>
              <a:avLst/>
              <a:gdLst/>
              <a:ahLst/>
              <a:cxnLst/>
              <a:rect r="r" b="b" t="t" l="l"/>
              <a:pathLst>
                <a:path h="8332978" w="6748018">
                  <a:moveTo>
                    <a:pt x="0" y="196342"/>
                  </a:moveTo>
                  <a:cubicBezTo>
                    <a:pt x="0" y="87884"/>
                    <a:pt x="87884" y="0"/>
                    <a:pt x="196342" y="0"/>
                  </a:cubicBezTo>
                  <a:lnTo>
                    <a:pt x="6551676" y="0"/>
                  </a:lnTo>
                  <a:cubicBezTo>
                    <a:pt x="6660134" y="0"/>
                    <a:pt x="6748018" y="87884"/>
                    <a:pt x="6748018" y="196342"/>
                  </a:cubicBezTo>
                  <a:lnTo>
                    <a:pt x="6748018" y="8136636"/>
                  </a:lnTo>
                  <a:cubicBezTo>
                    <a:pt x="6748018" y="8245094"/>
                    <a:pt x="6660134" y="8332978"/>
                    <a:pt x="6551676" y="8332978"/>
                  </a:cubicBezTo>
                  <a:lnTo>
                    <a:pt x="196342" y="8332978"/>
                  </a:lnTo>
                  <a:cubicBezTo>
                    <a:pt x="87884" y="8332851"/>
                    <a:pt x="0" y="8244967"/>
                    <a:pt x="0" y="8136636"/>
                  </a:cubicBezTo>
                  <a:close/>
                </a:path>
              </a:pathLst>
            </a:custGeom>
            <a:solidFill>
              <a:srgbClr val="F7FAFD"/>
            </a:solidFill>
            <a:ln w="31750" cap="sq">
              <a:solidFill>
                <a:srgbClr val="A9C1DC"/>
              </a:solidFill>
              <a:prstDash val="dash"/>
              <a:miter/>
            </a:ln>
          </p:spPr>
        </p:sp>
      </p:grpSp>
      <p:grpSp>
        <p:nvGrpSpPr>
          <p:cNvPr name="Group 52" id="52"/>
          <p:cNvGrpSpPr/>
          <p:nvPr/>
        </p:nvGrpSpPr>
        <p:grpSpPr>
          <a:xfrm rot="0">
            <a:off x="14365224" y="5175504"/>
            <a:ext cx="804672" cy="804672"/>
            <a:chOff x="0" y="0"/>
            <a:chExt cx="1072896" cy="1072896"/>
          </a:xfrm>
        </p:grpSpPr>
        <p:sp>
          <p:nvSpPr>
            <p:cNvPr name="Freeform 53" id="53" descr="/home/claude/icons/FiImage_64748B.png"/>
            <p:cNvSpPr/>
            <p:nvPr/>
          </p:nvSpPr>
          <p:spPr>
            <a:xfrm flipH="false" flipV="false" rot="0">
              <a:off x="0" y="0"/>
              <a:ext cx="1072896" cy="1072896"/>
            </a:xfrm>
            <a:custGeom>
              <a:avLst/>
              <a:gdLst/>
              <a:ahLst/>
              <a:cxnLst/>
              <a:rect r="r" b="b" t="t" l="l"/>
              <a:pathLst>
                <a:path h="1072896" w="1072896">
                  <a:moveTo>
                    <a:pt x="0" y="0"/>
                  </a:moveTo>
                  <a:lnTo>
                    <a:pt x="1072896" y="0"/>
                  </a:lnTo>
                  <a:lnTo>
                    <a:pt x="1072896" y="1072896"/>
                  </a:lnTo>
                  <a:lnTo>
                    <a:pt x="0" y="10728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grpSp>
        <p:nvGrpSpPr>
          <p:cNvPr name="Group 54" id="54"/>
          <p:cNvGrpSpPr/>
          <p:nvPr/>
        </p:nvGrpSpPr>
        <p:grpSpPr>
          <a:xfrm rot="0">
            <a:off x="12618720" y="6035040"/>
            <a:ext cx="4297680" cy="548640"/>
            <a:chOff x="0" y="0"/>
            <a:chExt cx="5730240" cy="731520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5730240" cy="731520"/>
            </a:xfrm>
            <a:custGeom>
              <a:avLst/>
              <a:gdLst/>
              <a:ahLst/>
              <a:cxnLst/>
              <a:rect r="r" b="b" t="t" l="l"/>
              <a:pathLst>
                <a:path h="731520" w="5730240">
                  <a:moveTo>
                    <a:pt x="0" y="0"/>
                  </a:moveTo>
                  <a:lnTo>
                    <a:pt x="5730240" y="0"/>
                  </a:lnTo>
                  <a:lnTo>
                    <a:pt x="573024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02632" r="0" b="-102632"/>
              </a:stretch>
            </a:blipFill>
          </p:spPr>
        </p:sp>
        <p:sp>
          <p:nvSpPr>
            <p:cNvPr name="TextBox 56" id="56"/>
            <p:cNvSpPr txBox="true"/>
            <p:nvPr/>
          </p:nvSpPr>
          <p:spPr>
            <a:xfrm>
              <a:off x="0" y="-57150"/>
              <a:ext cx="5730240" cy="7886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120"/>
                </a:lnSpc>
              </a:pPr>
              <a:r>
                <a:rPr lang="en-US" sz="2600" b="true">
                  <a:solidFill>
                    <a:srgbClr val="7E8F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Inserir ilustração</a:t>
              </a:r>
            </a:p>
          </p:txBody>
        </p:sp>
      </p:grpSp>
      <p:grpSp>
        <p:nvGrpSpPr>
          <p:cNvPr name="Group 57" id="57"/>
          <p:cNvGrpSpPr/>
          <p:nvPr/>
        </p:nvGrpSpPr>
        <p:grpSpPr>
          <a:xfrm rot="0">
            <a:off x="12618720" y="6565392"/>
            <a:ext cx="4297680" cy="438912"/>
            <a:chOff x="0" y="0"/>
            <a:chExt cx="5730240" cy="585216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5730240" cy="585216"/>
            </a:xfrm>
            <a:custGeom>
              <a:avLst/>
              <a:gdLst/>
              <a:ahLst/>
              <a:cxnLst/>
              <a:rect r="r" b="b" t="t" l="l"/>
              <a:pathLst>
                <a:path h="585216" w="5730240">
                  <a:moveTo>
                    <a:pt x="0" y="0"/>
                  </a:moveTo>
                  <a:lnTo>
                    <a:pt x="5730240" y="0"/>
                  </a:lnTo>
                  <a:lnTo>
                    <a:pt x="5730240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40790" r="0" b="-140790"/>
              </a:stretch>
            </a:blipFill>
          </p:spPr>
        </p:sp>
        <p:sp>
          <p:nvSpPr>
            <p:cNvPr name="TextBox 59" id="59"/>
            <p:cNvSpPr txBox="true"/>
            <p:nvPr/>
          </p:nvSpPr>
          <p:spPr>
            <a:xfrm>
              <a:off x="0" y="-38100"/>
              <a:ext cx="5730240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400"/>
                </a:lnSpc>
              </a:pPr>
              <a:r>
                <a:rPr lang="en-US" sz="2000" i="true">
                  <a:solidFill>
                    <a:srgbClr val="7E8FA6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Substitua por diagrama, fluxo, tabela ou captura de tela</a:t>
              </a:r>
            </a:p>
          </p:txBody>
        </p:sp>
      </p:grpSp>
      <p:grpSp>
        <p:nvGrpSpPr>
          <p:cNvPr name="Group 60" id="60"/>
          <p:cNvGrpSpPr/>
          <p:nvPr/>
        </p:nvGrpSpPr>
        <p:grpSpPr>
          <a:xfrm rot="0">
            <a:off x="1005840" y="9692640"/>
            <a:ext cx="10058400" cy="457200"/>
            <a:chOff x="0" y="0"/>
            <a:chExt cx="13411200" cy="609600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13411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3411200">
                  <a:moveTo>
                    <a:pt x="0" y="0"/>
                  </a:moveTo>
                  <a:lnTo>
                    <a:pt x="13411200" y="0"/>
                  </a:lnTo>
                  <a:lnTo>
                    <a:pt x="13411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78670" r="0" b="-378670"/>
              </a:stretch>
            </a:blipFill>
          </p:spPr>
        </p:sp>
        <p:sp>
          <p:nvSpPr>
            <p:cNvPr name="TextBox 62" id="62"/>
            <p:cNvSpPr txBox="true"/>
            <p:nvPr/>
          </p:nvSpPr>
          <p:spPr>
            <a:xfrm>
              <a:off x="0" y="-38100"/>
              <a:ext cx="13411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7E8F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Seminário de IoT — Segurança em IoT · Grupo 6</a:t>
              </a:r>
            </a:p>
          </p:txBody>
        </p:sp>
      </p:grpSp>
      <p:grpSp>
        <p:nvGrpSpPr>
          <p:cNvPr name="Group 63" id="63"/>
          <p:cNvGrpSpPr/>
          <p:nvPr/>
        </p:nvGrpSpPr>
        <p:grpSpPr>
          <a:xfrm rot="0">
            <a:off x="16367760" y="9692640"/>
            <a:ext cx="914400" cy="457200"/>
            <a:chOff x="0" y="0"/>
            <a:chExt cx="1219200" cy="609600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1219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65" id="65"/>
            <p:cNvSpPr txBox="true"/>
            <p:nvPr/>
          </p:nvSpPr>
          <p:spPr>
            <a:xfrm>
              <a:off x="0" y="-38100"/>
              <a:ext cx="1219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7E8F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26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F2C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7498080" cy="10287000"/>
            <a:chOff x="0" y="0"/>
            <a:chExt cx="999744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99744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9997440">
                  <a:moveTo>
                    <a:pt x="0" y="0"/>
                  </a:moveTo>
                  <a:lnTo>
                    <a:pt x="9997440" y="0"/>
                  </a:lnTo>
                  <a:lnTo>
                    <a:pt x="999744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0345B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097280" y="7132320"/>
            <a:ext cx="1097280" cy="987552"/>
            <a:chOff x="0" y="0"/>
            <a:chExt cx="1463040" cy="131673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463040" cy="1316736"/>
            </a:xfrm>
            <a:custGeom>
              <a:avLst/>
              <a:gdLst/>
              <a:ahLst/>
              <a:cxnLst/>
              <a:rect r="r" b="b" t="t" l="l"/>
              <a:pathLst>
                <a:path h="1316736" w="1463040">
                  <a:moveTo>
                    <a:pt x="0" y="658368"/>
                  </a:moveTo>
                  <a:lnTo>
                    <a:pt x="329184" y="0"/>
                  </a:lnTo>
                  <a:lnTo>
                    <a:pt x="1133856" y="0"/>
                  </a:lnTo>
                  <a:lnTo>
                    <a:pt x="1463040" y="658368"/>
                  </a:lnTo>
                  <a:lnTo>
                    <a:pt x="1133856" y="1316736"/>
                  </a:lnTo>
                  <a:lnTo>
                    <a:pt x="329184" y="1316736"/>
                  </a:lnTo>
                  <a:close/>
                </a:path>
              </a:pathLst>
            </a:custGeom>
            <a:solidFill>
              <a:srgbClr val="38BDF8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2468880" y="7955280"/>
            <a:ext cx="731520" cy="658368"/>
            <a:chOff x="0" y="0"/>
            <a:chExt cx="975360" cy="87782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975360" cy="877824"/>
            </a:xfrm>
            <a:custGeom>
              <a:avLst/>
              <a:gdLst/>
              <a:ahLst/>
              <a:cxnLst/>
              <a:rect r="r" b="b" t="t" l="l"/>
              <a:pathLst>
                <a:path h="877824" w="975360">
                  <a:moveTo>
                    <a:pt x="0" y="438912"/>
                  </a:moveTo>
                  <a:lnTo>
                    <a:pt x="219456" y="0"/>
                  </a:lnTo>
                  <a:lnTo>
                    <a:pt x="755904" y="0"/>
                  </a:lnTo>
                  <a:lnTo>
                    <a:pt x="975360" y="438912"/>
                  </a:lnTo>
                  <a:lnTo>
                    <a:pt x="755904" y="877824"/>
                  </a:lnTo>
                  <a:lnTo>
                    <a:pt x="219456" y="877824"/>
                  </a:lnTo>
                  <a:close/>
                </a:path>
              </a:pathLst>
            </a:custGeom>
            <a:solidFill>
              <a:srgbClr val="23507F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1005840" y="2468880"/>
            <a:ext cx="5852160" cy="2926080"/>
            <a:chOff x="0" y="0"/>
            <a:chExt cx="7802880" cy="390144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7802880" cy="3901440"/>
            </a:xfrm>
            <a:custGeom>
              <a:avLst/>
              <a:gdLst/>
              <a:ahLst/>
              <a:cxnLst/>
              <a:rect r="r" b="b" t="t" l="l"/>
              <a:pathLst>
                <a:path h="3901440" w="7802880">
                  <a:moveTo>
                    <a:pt x="0" y="0"/>
                  </a:moveTo>
                  <a:lnTo>
                    <a:pt x="7802880" y="0"/>
                  </a:lnTo>
                  <a:lnTo>
                    <a:pt x="7802880" y="3901440"/>
                  </a:lnTo>
                  <a:lnTo>
                    <a:pt x="0" y="39014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71475"/>
              <a:ext cx="7802880" cy="42729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080"/>
                </a:lnSpc>
              </a:pPr>
              <a:r>
                <a:rPr lang="en-US" sz="184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06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097280" y="1920240"/>
            <a:ext cx="4572000" cy="548640"/>
            <a:chOff x="0" y="0"/>
            <a:chExt cx="6096000" cy="73152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6096000" cy="731520"/>
            </a:xfrm>
            <a:custGeom>
              <a:avLst/>
              <a:gdLst/>
              <a:ahLst/>
              <a:cxnLst/>
              <a:rect r="r" b="b" t="t" l="l"/>
              <a:pathLst>
                <a:path h="731520" w="6096000">
                  <a:moveTo>
                    <a:pt x="0" y="0"/>
                  </a:moveTo>
                  <a:lnTo>
                    <a:pt x="6096000" y="0"/>
                  </a:lnTo>
                  <a:lnTo>
                    <a:pt x="60960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12375" r="0" b="-112375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6096000" cy="7696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b="true" sz="2400" spc="600">
                  <a:solidFill>
                    <a:srgbClr val="38BDF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SEÇÃO</a:t>
              </a: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8412480" y="3606165"/>
            <a:ext cx="8961120" cy="21545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640"/>
              </a:lnSpc>
            </a:pPr>
            <a:r>
              <a:rPr lang="en-US" sz="7200" b="true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Vantagens e Limitações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412480" y="5760720"/>
            <a:ext cx="8412480" cy="1463040"/>
            <a:chOff x="0" y="0"/>
            <a:chExt cx="11216640" cy="195072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1216640" cy="1950720"/>
            </a:xfrm>
            <a:custGeom>
              <a:avLst/>
              <a:gdLst/>
              <a:ahLst/>
              <a:cxnLst/>
              <a:rect r="r" b="b" t="t" l="l"/>
              <a:pathLst>
                <a:path h="1950720" w="11216640">
                  <a:moveTo>
                    <a:pt x="0" y="0"/>
                  </a:moveTo>
                  <a:lnTo>
                    <a:pt x="11216640" y="0"/>
                  </a:lnTo>
                  <a:lnTo>
                    <a:pt x="11216640" y="1950720"/>
                  </a:lnTo>
                  <a:lnTo>
                    <a:pt x="0" y="19507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62038" r="0" b="-62038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57150"/>
              <a:ext cx="11216640" cy="20078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rPr lang="en-US" sz="2600">
                  <a:solidFill>
                    <a:srgbClr val="AFC4DC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Lorem ipsum dolor sit amet, consectetur adipiscing elit. Sed do eiusmod tempor incididunt ut labore et dolore magna aliqua.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8412480" y="2651760"/>
            <a:ext cx="804672" cy="804672"/>
            <a:chOff x="0" y="0"/>
            <a:chExt cx="1072896" cy="1072896"/>
          </a:xfrm>
        </p:grpSpPr>
        <p:sp>
          <p:nvSpPr>
            <p:cNvPr name="Freeform 19" id="19" descr="/home/claude/icons/FiThumbsUp_38BDF8.png"/>
            <p:cNvSpPr/>
            <p:nvPr/>
          </p:nvSpPr>
          <p:spPr>
            <a:xfrm flipH="false" flipV="false" rot="0">
              <a:off x="0" y="0"/>
              <a:ext cx="1072896" cy="1072896"/>
            </a:xfrm>
            <a:custGeom>
              <a:avLst/>
              <a:gdLst/>
              <a:ahLst/>
              <a:cxnLst/>
              <a:rect r="r" b="b" t="t" l="l"/>
              <a:pathLst>
                <a:path h="1072896" w="1072896">
                  <a:moveTo>
                    <a:pt x="0" y="0"/>
                  </a:moveTo>
                  <a:lnTo>
                    <a:pt x="1072896" y="0"/>
                  </a:lnTo>
                  <a:lnTo>
                    <a:pt x="1072896" y="1072896"/>
                  </a:lnTo>
                  <a:lnTo>
                    <a:pt x="0" y="10728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1097280" y="9692640"/>
            <a:ext cx="10058400" cy="457200"/>
            <a:chOff x="0" y="0"/>
            <a:chExt cx="13411200" cy="6096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3411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3411200">
                  <a:moveTo>
                    <a:pt x="0" y="0"/>
                  </a:moveTo>
                  <a:lnTo>
                    <a:pt x="13411200" y="0"/>
                  </a:lnTo>
                  <a:lnTo>
                    <a:pt x="13411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78670" r="0" b="-378670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38100"/>
              <a:ext cx="13411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6E85A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Seminário de IoT — Segurança em IoT · Grupo 6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16367760" y="9692640"/>
            <a:ext cx="914400" cy="457200"/>
            <a:chOff x="0" y="0"/>
            <a:chExt cx="1219200" cy="6096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219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1219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6E85A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27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05840" y="914400"/>
            <a:ext cx="621792" cy="559613"/>
            <a:chOff x="0" y="0"/>
            <a:chExt cx="829056" cy="74615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29056" cy="746125"/>
            </a:xfrm>
            <a:custGeom>
              <a:avLst/>
              <a:gdLst/>
              <a:ahLst/>
              <a:cxnLst/>
              <a:rect r="r" b="b" t="t" l="l"/>
              <a:pathLst>
                <a:path h="746125" w="829056">
                  <a:moveTo>
                    <a:pt x="0" y="373126"/>
                  </a:moveTo>
                  <a:lnTo>
                    <a:pt x="186563" y="0"/>
                  </a:lnTo>
                  <a:lnTo>
                    <a:pt x="642493" y="0"/>
                  </a:lnTo>
                  <a:lnTo>
                    <a:pt x="829056" y="373126"/>
                  </a:lnTo>
                  <a:lnTo>
                    <a:pt x="642493" y="746125"/>
                  </a:lnTo>
                  <a:lnTo>
                    <a:pt x="186563" y="746125"/>
                  </a:lnTo>
                  <a:close/>
                </a:path>
              </a:pathLst>
            </a:custGeom>
            <a:solidFill>
              <a:srgbClr val="38BDF8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865376" y="859536"/>
            <a:ext cx="13898880" cy="475488"/>
            <a:chOff x="0" y="0"/>
            <a:chExt cx="18531840" cy="63398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8531839" cy="633984"/>
            </a:xfrm>
            <a:custGeom>
              <a:avLst/>
              <a:gdLst/>
              <a:ahLst/>
              <a:cxnLst/>
              <a:rect r="r" b="b" t="t" l="l"/>
              <a:pathLst>
                <a:path h="633984" w="18531839">
                  <a:moveTo>
                    <a:pt x="0" y="0"/>
                  </a:moveTo>
                  <a:lnTo>
                    <a:pt x="18531839" y="0"/>
                  </a:lnTo>
                  <a:lnTo>
                    <a:pt x="18531839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19562" r="0" b="-519562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18531840" cy="68160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b="true" sz="2200" spc="399">
                  <a:solidFill>
                    <a:srgbClr val="4A6FA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ANÁLISE CRÍTICA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005840" y="1426464"/>
            <a:ext cx="15727680" cy="1097280"/>
            <a:chOff x="0" y="0"/>
            <a:chExt cx="20970240" cy="146304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0970239" cy="1463040"/>
            </a:xfrm>
            <a:custGeom>
              <a:avLst/>
              <a:gdLst/>
              <a:ahLst/>
              <a:cxnLst/>
              <a:rect r="r" b="b" t="t" l="l"/>
              <a:pathLst>
                <a:path h="1463040" w="20970239">
                  <a:moveTo>
                    <a:pt x="0" y="0"/>
                  </a:moveTo>
                  <a:lnTo>
                    <a:pt x="20970239" y="0"/>
                  </a:lnTo>
                  <a:lnTo>
                    <a:pt x="20970239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29285" r="0" b="-229285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42875"/>
              <a:ext cx="20970240" cy="16059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920"/>
                </a:lnSpc>
              </a:pPr>
              <a:r>
                <a:rPr lang="en-US" sz="66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Vantagens e Limitações</a:t>
              </a:r>
            </a:p>
          </p:txBody>
        </p:sp>
      </p:grpSp>
      <p:graphicFrame>
        <p:nvGraphicFramePr>
          <p:cNvPr name="Table 10" id="10"/>
          <p:cNvGraphicFramePr>
            <a:graphicFrameLocks noGrp="true"/>
          </p:cNvGraphicFramePr>
          <p:nvPr/>
        </p:nvGraphicFramePr>
        <p:xfrm>
          <a:off x="1005840" y="2926080"/>
          <a:ext cx="16256000" cy="5283200"/>
        </p:xfrm>
        <a:graphic>
          <a:graphicData uri="http://schemas.openxmlformats.org/drawingml/2006/table">
            <a:tbl>
              <a:tblPr/>
              <a:tblGrid>
                <a:gridCol w="4064000"/>
                <a:gridCol w="4064000"/>
                <a:gridCol w="4064000"/>
                <a:gridCol w="4064000"/>
              </a:tblGrid>
              <a:tr h="914305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359"/>
                        </a:lnSpc>
                        <a:defRPr/>
                      </a:pPr>
                      <a:r>
                        <a:rPr lang="en-US" sz="2799" b="true">
                          <a:solidFill>
                            <a:srgbClr val="FFFFF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Vantagens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4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359"/>
                        </a:lnSpc>
                        <a:defRPr/>
                      </a:pPr>
                      <a:r>
                        <a:rPr lang="en-US" sz="2799" b="true">
                          <a:solidFill>
                            <a:srgbClr val="FFFFF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Limitações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4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359"/>
                        </a:lnSpc>
                        <a:defRPr/>
                      </a:pPr>
                      <a:r>
                        <a:rPr lang="en-US" sz="2799" b="true">
                          <a:solidFill>
                            <a:srgbClr val="FFFFF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Desafios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4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359"/>
                        </a:lnSpc>
                        <a:defRPr/>
                      </a:pPr>
                      <a:r>
                        <a:rPr lang="en-US" sz="2799" b="true">
                          <a:solidFill>
                            <a:srgbClr val="FFFFF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Aplicações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4C"/>
                    </a:solidFill>
                  </a:tcPr>
                </a:tc>
              </a:tr>
              <a:tr h="1092224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879"/>
                        </a:lnSpc>
                        <a:defRPr/>
                      </a:pPr>
                      <a:r>
                        <a:rPr lang="en-US" sz="2400">
                          <a:solidFill>
                            <a:srgbClr val="3A4C63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Lorem ipsum dolor sit amet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879"/>
                        </a:lnSpc>
                        <a:defRPr/>
                      </a:pPr>
                      <a:r>
                        <a:rPr lang="en-US" sz="2400">
                          <a:solidFill>
                            <a:srgbClr val="3A4C63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Lorem ipsum dolor sit amet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879"/>
                        </a:lnSpc>
                        <a:defRPr/>
                      </a:pPr>
                      <a:r>
                        <a:rPr lang="en-US" sz="2400">
                          <a:solidFill>
                            <a:srgbClr val="3A4C63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Lorem ipsum dolor sit amet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879"/>
                        </a:lnSpc>
                        <a:defRPr/>
                      </a:pPr>
                      <a:r>
                        <a:rPr lang="en-US" sz="2400">
                          <a:solidFill>
                            <a:srgbClr val="3A4C63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Lorem ipsum dolor sit amet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92224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879"/>
                        </a:lnSpc>
                        <a:defRPr/>
                      </a:pPr>
                      <a:r>
                        <a:rPr lang="en-US" sz="2400">
                          <a:solidFill>
                            <a:srgbClr val="3A4C63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Lorem ipsum dolor sit amet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879"/>
                        </a:lnSpc>
                        <a:defRPr/>
                      </a:pPr>
                      <a:r>
                        <a:rPr lang="en-US" sz="2400">
                          <a:solidFill>
                            <a:srgbClr val="3A4C63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Lorem ipsum dolor sit amet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879"/>
                        </a:lnSpc>
                        <a:defRPr/>
                      </a:pPr>
                      <a:r>
                        <a:rPr lang="en-US" sz="2400">
                          <a:solidFill>
                            <a:srgbClr val="3A4C63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Lorem ipsum dolor sit amet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879"/>
                        </a:lnSpc>
                        <a:defRPr/>
                      </a:pPr>
                      <a:r>
                        <a:rPr lang="en-US" sz="2400">
                          <a:solidFill>
                            <a:srgbClr val="3A4C63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Lorem ipsum dolor sit amet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</a:tr>
              <a:tr h="1092224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879"/>
                        </a:lnSpc>
                        <a:defRPr/>
                      </a:pPr>
                      <a:r>
                        <a:rPr lang="en-US" sz="2400">
                          <a:solidFill>
                            <a:srgbClr val="3A4C63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Lorem ipsum dolor sit amet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879"/>
                        </a:lnSpc>
                        <a:defRPr/>
                      </a:pPr>
                      <a:r>
                        <a:rPr lang="en-US" sz="2400">
                          <a:solidFill>
                            <a:srgbClr val="3A4C63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Lorem ipsum dolor sit amet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879"/>
                        </a:lnSpc>
                        <a:defRPr/>
                      </a:pPr>
                      <a:r>
                        <a:rPr lang="en-US" sz="2400">
                          <a:solidFill>
                            <a:srgbClr val="3A4C63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Lorem ipsum dolor sit amet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879"/>
                        </a:lnSpc>
                        <a:defRPr/>
                      </a:pPr>
                      <a:r>
                        <a:rPr lang="en-US" sz="2400">
                          <a:solidFill>
                            <a:srgbClr val="3A4C63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Lorem ipsum dolor sit amet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92224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879"/>
                        </a:lnSpc>
                        <a:defRPr/>
                      </a:pPr>
                      <a:r>
                        <a:rPr lang="en-US" sz="2400">
                          <a:solidFill>
                            <a:srgbClr val="3A4C63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Lorem ipsum dolor sit amet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879"/>
                        </a:lnSpc>
                        <a:defRPr/>
                      </a:pPr>
                      <a:r>
                        <a:rPr lang="en-US" sz="2400">
                          <a:solidFill>
                            <a:srgbClr val="3A4C63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Lorem ipsum dolor sit amet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879"/>
                        </a:lnSpc>
                        <a:defRPr/>
                      </a:pPr>
                      <a:r>
                        <a:rPr lang="en-US" sz="2400">
                          <a:solidFill>
                            <a:srgbClr val="3A4C63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Lorem ipsum dolor sit amet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879"/>
                        </a:lnSpc>
                        <a:defRPr/>
                      </a:pPr>
                      <a:r>
                        <a:rPr lang="en-US" sz="2400">
                          <a:solidFill>
                            <a:srgbClr val="3A4C63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Lorem ipsum dolor sit amet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</a:tr>
            </a:tbl>
          </a:graphicData>
        </a:graphic>
      </p:graphicFrame>
      <p:grpSp>
        <p:nvGrpSpPr>
          <p:cNvPr name="Group 11" id="11"/>
          <p:cNvGrpSpPr/>
          <p:nvPr/>
        </p:nvGrpSpPr>
        <p:grpSpPr>
          <a:xfrm rot="0">
            <a:off x="1005840" y="8686800"/>
            <a:ext cx="16276320" cy="548640"/>
            <a:chOff x="0" y="0"/>
            <a:chExt cx="21701760" cy="73152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1701761" cy="731520"/>
            </a:xfrm>
            <a:custGeom>
              <a:avLst/>
              <a:gdLst/>
              <a:ahLst/>
              <a:cxnLst/>
              <a:rect r="r" b="b" t="t" l="l"/>
              <a:pathLst>
                <a:path h="731520" w="21701761">
                  <a:moveTo>
                    <a:pt x="0" y="0"/>
                  </a:moveTo>
                  <a:lnTo>
                    <a:pt x="21701761" y="0"/>
                  </a:lnTo>
                  <a:lnTo>
                    <a:pt x="21701761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28056" r="0" b="-528056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47625"/>
              <a:ext cx="21701760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 i="true">
                  <a:solidFill>
                    <a:srgbClr val="7E8FA6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Lorem ipsum dolor sit amet — síntese da comparação.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005840" y="9692640"/>
            <a:ext cx="10058400" cy="457200"/>
            <a:chOff x="0" y="0"/>
            <a:chExt cx="13411200" cy="609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3411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3411200">
                  <a:moveTo>
                    <a:pt x="0" y="0"/>
                  </a:moveTo>
                  <a:lnTo>
                    <a:pt x="13411200" y="0"/>
                  </a:lnTo>
                  <a:lnTo>
                    <a:pt x="13411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78670" r="0" b="-378670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13411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7E8F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Seminário de IoT — Segurança em IoT · Grupo 6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6367760" y="9692640"/>
            <a:ext cx="914400" cy="457200"/>
            <a:chOff x="0" y="0"/>
            <a:chExt cx="1219200" cy="6096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219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1219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7E8F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28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05840" y="914400"/>
            <a:ext cx="621792" cy="559613"/>
            <a:chOff x="0" y="0"/>
            <a:chExt cx="829056" cy="74615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29056" cy="746125"/>
            </a:xfrm>
            <a:custGeom>
              <a:avLst/>
              <a:gdLst/>
              <a:ahLst/>
              <a:cxnLst/>
              <a:rect r="r" b="b" t="t" l="l"/>
              <a:pathLst>
                <a:path h="746125" w="829056">
                  <a:moveTo>
                    <a:pt x="0" y="373126"/>
                  </a:moveTo>
                  <a:lnTo>
                    <a:pt x="186563" y="0"/>
                  </a:lnTo>
                  <a:lnTo>
                    <a:pt x="642493" y="0"/>
                  </a:lnTo>
                  <a:lnTo>
                    <a:pt x="829056" y="373126"/>
                  </a:lnTo>
                  <a:lnTo>
                    <a:pt x="642493" y="746125"/>
                  </a:lnTo>
                  <a:lnTo>
                    <a:pt x="186563" y="746125"/>
                  </a:lnTo>
                  <a:close/>
                </a:path>
              </a:pathLst>
            </a:custGeom>
            <a:solidFill>
              <a:srgbClr val="38BDF8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865376" y="859536"/>
            <a:ext cx="13898880" cy="475488"/>
            <a:chOff x="0" y="0"/>
            <a:chExt cx="18531840" cy="63398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8531839" cy="633984"/>
            </a:xfrm>
            <a:custGeom>
              <a:avLst/>
              <a:gdLst/>
              <a:ahLst/>
              <a:cxnLst/>
              <a:rect r="r" b="b" t="t" l="l"/>
              <a:pathLst>
                <a:path h="633984" w="18531839">
                  <a:moveTo>
                    <a:pt x="0" y="0"/>
                  </a:moveTo>
                  <a:lnTo>
                    <a:pt x="18531839" y="0"/>
                  </a:lnTo>
                  <a:lnTo>
                    <a:pt x="18531839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19562" r="0" b="-519562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18531840" cy="68160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b="true" sz="2200" spc="399">
                  <a:solidFill>
                    <a:srgbClr val="4A6FA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VANTAGENS E LIMITAÇÕES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005840" y="1426464"/>
            <a:ext cx="15727680" cy="1097280"/>
            <a:chOff x="0" y="0"/>
            <a:chExt cx="20970240" cy="146304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0970239" cy="1463040"/>
            </a:xfrm>
            <a:custGeom>
              <a:avLst/>
              <a:gdLst/>
              <a:ahLst/>
              <a:cxnLst/>
              <a:rect r="r" b="b" t="t" l="l"/>
              <a:pathLst>
                <a:path h="1463040" w="20970239">
                  <a:moveTo>
                    <a:pt x="0" y="0"/>
                  </a:moveTo>
                  <a:lnTo>
                    <a:pt x="20970239" y="0"/>
                  </a:lnTo>
                  <a:lnTo>
                    <a:pt x="20970239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29285" r="0" b="-229285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42875"/>
              <a:ext cx="20970240" cy="16059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920"/>
                </a:lnSpc>
              </a:pPr>
              <a:r>
                <a:rPr lang="en-US" sz="66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Principais Desafios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993143" y="2821943"/>
            <a:ext cx="5328923" cy="6151883"/>
            <a:chOff x="0" y="0"/>
            <a:chExt cx="7105231" cy="8202511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7105396" cy="8202676"/>
            </a:xfrm>
            <a:custGeom>
              <a:avLst/>
              <a:gdLst/>
              <a:ahLst/>
              <a:cxnLst/>
              <a:rect r="r" b="b" t="t" l="l"/>
              <a:pathLst>
                <a:path h="8202676" w="7105396">
                  <a:moveTo>
                    <a:pt x="0" y="196088"/>
                  </a:moveTo>
                  <a:cubicBezTo>
                    <a:pt x="0" y="87757"/>
                    <a:pt x="87757" y="0"/>
                    <a:pt x="196088" y="0"/>
                  </a:cubicBezTo>
                  <a:lnTo>
                    <a:pt x="6909308" y="0"/>
                  </a:lnTo>
                  <a:cubicBezTo>
                    <a:pt x="7017512" y="0"/>
                    <a:pt x="7105396" y="87757"/>
                    <a:pt x="7105396" y="196088"/>
                  </a:cubicBezTo>
                  <a:lnTo>
                    <a:pt x="7105396" y="8006588"/>
                  </a:lnTo>
                  <a:cubicBezTo>
                    <a:pt x="7105396" y="8114792"/>
                    <a:pt x="7017638" y="8202676"/>
                    <a:pt x="6909308" y="8202676"/>
                  </a:cubicBezTo>
                  <a:lnTo>
                    <a:pt x="196088" y="8202676"/>
                  </a:lnTo>
                  <a:cubicBezTo>
                    <a:pt x="87757" y="8202549"/>
                    <a:pt x="0" y="8114792"/>
                    <a:pt x="0" y="8006461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3DEEA"/>
              </a:solidFill>
              <a:prstDash val="solid"/>
              <a:miter/>
            </a:ln>
          </p:spPr>
        </p:sp>
      </p:grpSp>
      <p:grpSp>
        <p:nvGrpSpPr>
          <p:cNvPr name="Group 12" id="12"/>
          <p:cNvGrpSpPr/>
          <p:nvPr/>
        </p:nvGrpSpPr>
        <p:grpSpPr>
          <a:xfrm rot="0">
            <a:off x="1463040" y="3383280"/>
            <a:ext cx="1207008" cy="1207008"/>
            <a:chOff x="0" y="0"/>
            <a:chExt cx="1609344" cy="1609344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609344" cy="1609344"/>
            </a:xfrm>
            <a:custGeom>
              <a:avLst/>
              <a:gdLst/>
              <a:ahLst/>
              <a:cxnLst/>
              <a:rect r="r" b="b" t="t" l="l"/>
              <a:pathLst>
                <a:path h="1609344" w="1609344">
                  <a:moveTo>
                    <a:pt x="0" y="804672"/>
                  </a:moveTo>
                  <a:cubicBezTo>
                    <a:pt x="0" y="360299"/>
                    <a:pt x="360299" y="0"/>
                    <a:pt x="804672" y="0"/>
                  </a:cubicBezTo>
                  <a:cubicBezTo>
                    <a:pt x="1249045" y="0"/>
                    <a:pt x="1609344" y="360299"/>
                    <a:pt x="1609344" y="804672"/>
                  </a:cubicBezTo>
                  <a:cubicBezTo>
                    <a:pt x="1609344" y="1249045"/>
                    <a:pt x="1249045" y="1609344"/>
                    <a:pt x="804672" y="1609344"/>
                  </a:cubicBezTo>
                  <a:cubicBezTo>
                    <a:pt x="360299" y="1609344"/>
                    <a:pt x="0" y="1249045"/>
                    <a:pt x="0" y="804672"/>
                  </a:cubicBezTo>
                  <a:close/>
                </a:path>
              </a:pathLst>
            </a:custGeom>
            <a:solidFill>
              <a:srgbClr val="4A6FA5"/>
            </a:solid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1773936" y="3694176"/>
            <a:ext cx="585216" cy="585216"/>
            <a:chOff x="0" y="0"/>
            <a:chExt cx="780288" cy="780288"/>
          </a:xfrm>
        </p:grpSpPr>
        <p:sp>
          <p:nvSpPr>
            <p:cNvPr name="Freeform 15" id="15" descr="/home/claude/icons/FiAlertTriangle_FFFFFF.png"/>
            <p:cNvSpPr/>
            <p:nvPr/>
          </p:nvSpPr>
          <p:spPr>
            <a:xfrm flipH="false" flipV="false" rot="0">
              <a:off x="0" y="0"/>
              <a:ext cx="780288" cy="780288"/>
            </a:xfrm>
            <a:custGeom>
              <a:avLst/>
              <a:gdLst/>
              <a:ahLst/>
              <a:cxnLst/>
              <a:rect r="r" b="b" t="t" l="l"/>
              <a:pathLst>
                <a:path h="780288" w="780288">
                  <a:moveTo>
                    <a:pt x="0" y="0"/>
                  </a:moveTo>
                  <a:lnTo>
                    <a:pt x="780288" y="0"/>
                  </a:lnTo>
                  <a:lnTo>
                    <a:pt x="780288" y="780288"/>
                  </a:lnTo>
                  <a:lnTo>
                    <a:pt x="0" y="7802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1463040" y="4937760"/>
            <a:ext cx="4389120" cy="640080"/>
            <a:chOff x="0" y="0"/>
            <a:chExt cx="5852160" cy="85344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5852160" cy="853440"/>
            </a:xfrm>
            <a:custGeom>
              <a:avLst/>
              <a:gdLst/>
              <a:ahLst/>
              <a:cxnLst/>
              <a:rect r="r" b="b" t="t" l="l"/>
              <a:pathLst>
                <a:path h="853440" w="5852160">
                  <a:moveTo>
                    <a:pt x="0" y="0"/>
                  </a:moveTo>
                  <a:lnTo>
                    <a:pt x="5852160" y="0"/>
                  </a:lnTo>
                  <a:lnTo>
                    <a:pt x="585216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83611" r="0" b="-83611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76200"/>
              <a:ext cx="5852160" cy="9296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800"/>
                </a:lnSpc>
              </a:pPr>
              <a:r>
                <a:rPr lang="en-US" sz="40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Desafio 01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1463040" y="5577840"/>
            <a:ext cx="4389120" cy="548640"/>
            <a:chOff x="0" y="0"/>
            <a:chExt cx="5852160" cy="73152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5852160" cy="731520"/>
            </a:xfrm>
            <a:custGeom>
              <a:avLst/>
              <a:gdLst/>
              <a:ahLst/>
              <a:cxnLst/>
              <a:rect r="r" b="b" t="t" l="l"/>
              <a:pathLst>
                <a:path h="731520" w="5852160">
                  <a:moveTo>
                    <a:pt x="0" y="0"/>
                  </a:moveTo>
                  <a:lnTo>
                    <a:pt x="5852160" y="0"/>
                  </a:lnTo>
                  <a:lnTo>
                    <a:pt x="585216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05880" r="0" b="-105880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57150"/>
              <a:ext cx="5852160" cy="7886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rPr lang="en-US" sz="2600" b="true">
                  <a:solidFill>
                    <a:srgbClr val="38BDF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Lorem ipsum</a:t>
              </a:r>
            </a:p>
          </p:txBody>
        </p:sp>
      </p:grpSp>
      <p:sp>
        <p:nvSpPr>
          <p:cNvPr name="TextBox 22" id="22"/>
          <p:cNvSpPr txBox="true"/>
          <p:nvPr/>
        </p:nvSpPr>
        <p:spPr>
          <a:xfrm rot="0">
            <a:off x="1463040" y="6179820"/>
            <a:ext cx="4389120" cy="2415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7E8FA6"/>
                </a:solidFill>
                <a:latin typeface="Calibri (MS)"/>
                <a:ea typeface="Calibri (MS)"/>
                <a:cs typeface="Calibri (MS)"/>
                <a:sym typeface="Calibri (MS)"/>
              </a:rPr>
              <a:t>Lorem ipsum dolor sit amet, consectetur adipiscing elit. Sed do eiusmod tempor incididunt ut labore et dolore magna aliqua.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6662423" y="2821943"/>
            <a:ext cx="5328923" cy="6151883"/>
            <a:chOff x="0" y="0"/>
            <a:chExt cx="7105231" cy="8202511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7105396" cy="8202676"/>
            </a:xfrm>
            <a:custGeom>
              <a:avLst/>
              <a:gdLst/>
              <a:ahLst/>
              <a:cxnLst/>
              <a:rect r="r" b="b" t="t" l="l"/>
              <a:pathLst>
                <a:path h="8202676" w="7105396">
                  <a:moveTo>
                    <a:pt x="0" y="196088"/>
                  </a:moveTo>
                  <a:cubicBezTo>
                    <a:pt x="0" y="87757"/>
                    <a:pt x="87757" y="0"/>
                    <a:pt x="196088" y="0"/>
                  </a:cubicBezTo>
                  <a:lnTo>
                    <a:pt x="6909308" y="0"/>
                  </a:lnTo>
                  <a:cubicBezTo>
                    <a:pt x="7017512" y="0"/>
                    <a:pt x="7105396" y="87757"/>
                    <a:pt x="7105396" y="196088"/>
                  </a:cubicBezTo>
                  <a:lnTo>
                    <a:pt x="7105396" y="8006588"/>
                  </a:lnTo>
                  <a:cubicBezTo>
                    <a:pt x="7105396" y="8114792"/>
                    <a:pt x="7017638" y="8202676"/>
                    <a:pt x="6909308" y="8202676"/>
                  </a:cubicBezTo>
                  <a:lnTo>
                    <a:pt x="196088" y="8202676"/>
                  </a:lnTo>
                  <a:cubicBezTo>
                    <a:pt x="87757" y="8202549"/>
                    <a:pt x="0" y="8114792"/>
                    <a:pt x="0" y="8006461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3DEEA"/>
              </a:solidFill>
              <a:prstDash val="solid"/>
              <a:miter/>
            </a:ln>
          </p:spPr>
        </p:sp>
      </p:grpSp>
      <p:grpSp>
        <p:nvGrpSpPr>
          <p:cNvPr name="Group 25" id="25"/>
          <p:cNvGrpSpPr/>
          <p:nvPr/>
        </p:nvGrpSpPr>
        <p:grpSpPr>
          <a:xfrm rot="0">
            <a:off x="7132320" y="3383280"/>
            <a:ext cx="1207008" cy="1207008"/>
            <a:chOff x="0" y="0"/>
            <a:chExt cx="1609344" cy="1609344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609344" cy="1609344"/>
            </a:xfrm>
            <a:custGeom>
              <a:avLst/>
              <a:gdLst/>
              <a:ahLst/>
              <a:cxnLst/>
              <a:rect r="r" b="b" t="t" l="l"/>
              <a:pathLst>
                <a:path h="1609344" w="1609344">
                  <a:moveTo>
                    <a:pt x="0" y="804672"/>
                  </a:moveTo>
                  <a:cubicBezTo>
                    <a:pt x="0" y="360299"/>
                    <a:pt x="360299" y="0"/>
                    <a:pt x="804672" y="0"/>
                  </a:cubicBezTo>
                  <a:cubicBezTo>
                    <a:pt x="1249045" y="0"/>
                    <a:pt x="1609344" y="360299"/>
                    <a:pt x="1609344" y="804672"/>
                  </a:cubicBezTo>
                  <a:cubicBezTo>
                    <a:pt x="1609344" y="1249045"/>
                    <a:pt x="1249045" y="1609344"/>
                    <a:pt x="804672" y="1609344"/>
                  </a:cubicBezTo>
                  <a:cubicBezTo>
                    <a:pt x="360299" y="1609344"/>
                    <a:pt x="0" y="1249045"/>
                    <a:pt x="0" y="804672"/>
                  </a:cubicBezTo>
                  <a:close/>
                </a:path>
              </a:pathLst>
            </a:custGeom>
            <a:solidFill>
              <a:srgbClr val="4A6FA5"/>
            </a:solid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7443216" y="3694176"/>
            <a:ext cx="585216" cy="585216"/>
            <a:chOff x="0" y="0"/>
            <a:chExt cx="780288" cy="780288"/>
          </a:xfrm>
        </p:grpSpPr>
        <p:sp>
          <p:nvSpPr>
            <p:cNvPr name="Freeform 28" id="28" descr="/home/claude/icons/FiXCircle_FFFFFF.png"/>
            <p:cNvSpPr/>
            <p:nvPr/>
          </p:nvSpPr>
          <p:spPr>
            <a:xfrm flipH="false" flipV="false" rot="0">
              <a:off x="0" y="0"/>
              <a:ext cx="780288" cy="780288"/>
            </a:xfrm>
            <a:custGeom>
              <a:avLst/>
              <a:gdLst/>
              <a:ahLst/>
              <a:cxnLst/>
              <a:rect r="r" b="b" t="t" l="l"/>
              <a:pathLst>
                <a:path h="780288" w="780288">
                  <a:moveTo>
                    <a:pt x="0" y="0"/>
                  </a:moveTo>
                  <a:lnTo>
                    <a:pt x="780288" y="0"/>
                  </a:lnTo>
                  <a:lnTo>
                    <a:pt x="780288" y="780288"/>
                  </a:lnTo>
                  <a:lnTo>
                    <a:pt x="0" y="7802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7132320" y="4937760"/>
            <a:ext cx="4389120" cy="640080"/>
            <a:chOff x="0" y="0"/>
            <a:chExt cx="5852160" cy="85344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5852160" cy="853440"/>
            </a:xfrm>
            <a:custGeom>
              <a:avLst/>
              <a:gdLst/>
              <a:ahLst/>
              <a:cxnLst/>
              <a:rect r="r" b="b" t="t" l="l"/>
              <a:pathLst>
                <a:path h="853440" w="5852160">
                  <a:moveTo>
                    <a:pt x="0" y="0"/>
                  </a:moveTo>
                  <a:lnTo>
                    <a:pt x="5852160" y="0"/>
                  </a:lnTo>
                  <a:lnTo>
                    <a:pt x="585216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83611" r="0" b="-83611"/>
              </a:stretch>
            </a:blipFill>
          </p:spPr>
        </p:sp>
        <p:sp>
          <p:nvSpPr>
            <p:cNvPr name="TextBox 31" id="31"/>
            <p:cNvSpPr txBox="true"/>
            <p:nvPr/>
          </p:nvSpPr>
          <p:spPr>
            <a:xfrm>
              <a:off x="0" y="-76200"/>
              <a:ext cx="5852160" cy="9296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800"/>
                </a:lnSpc>
              </a:pPr>
              <a:r>
                <a:rPr lang="en-US" sz="40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Desafio 02</a:t>
              </a: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7132320" y="5577840"/>
            <a:ext cx="4389120" cy="548640"/>
            <a:chOff x="0" y="0"/>
            <a:chExt cx="5852160" cy="73152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5852160" cy="731520"/>
            </a:xfrm>
            <a:custGeom>
              <a:avLst/>
              <a:gdLst/>
              <a:ahLst/>
              <a:cxnLst/>
              <a:rect r="r" b="b" t="t" l="l"/>
              <a:pathLst>
                <a:path h="731520" w="5852160">
                  <a:moveTo>
                    <a:pt x="0" y="0"/>
                  </a:moveTo>
                  <a:lnTo>
                    <a:pt x="5852160" y="0"/>
                  </a:lnTo>
                  <a:lnTo>
                    <a:pt x="585216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05880" r="0" b="-105880"/>
              </a:stretch>
            </a:blip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57150"/>
              <a:ext cx="5852160" cy="7886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rPr lang="en-US" sz="2600" b="true">
                  <a:solidFill>
                    <a:srgbClr val="38BDF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Lorem ipsum</a:t>
              </a:r>
            </a:p>
          </p:txBody>
        </p:sp>
      </p:grpSp>
      <p:sp>
        <p:nvSpPr>
          <p:cNvPr name="TextBox 35" id="35"/>
          <p:cNvSpPr txBox="true"/>
          <p:nvPr/>
        </p:nvSpPr>
        <p:spPr>
          <a:xfrm rot="0">
            <a:off x="7132320" y="6179820"/>
            <a:ext cx="4389120" cy="2415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7E8FA6"/>
                </a:solidFill>
                <a:latin typeface="Calibri (MS)"/>
                <a:ea typeface="Calibri (MS)"/>
                <a:cs typeface="Calibri (MS)"/>
                <a:sym typeface="Calibri (MS)"/>
              </a:rPr>
              <a:t>Lorem ipsum dolor sit amet, consectetur adipiscing elit. Sed do eiusmod tempor incididunt ut labore et dolore magna aliqua.</a:t>
            </a:r>
          </a:p>
        </p:txBody>
      </p:sp>
      <p:grpSp>
        <p:nvGrpSpPr>
          <p:cNvPr name="Group 36" id="36"/>
          <p:cNvGrpSpPr/>
          <p:nvPr/>
        </p:nvGrpSpPr>
        <p:grpSpPr>
          <a:xfrm rot="0">
            <a:off x="12331703" y="2821943"/>
            <a:ext cx="5328923" cy="6151883"/>
            <a:chOff x="0" y="0"/>
            <a:chExt cx="7105231" cy="8202511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7105396" cy="8202676"/>
            </a:xfrm>
            <a:custGeom>
              <a:avLst/>
              <a:gdLst/>
              <a:ahLst/>
              <a:cxnLst/>
              <a:rect r="r" b="b" t="t" l="l"/>
              <a:pathLst>
                <a:path h="8202676" w="7105396">
                  <a:moveTo>
                    <a:pt x="0" y="196088"/>
                  </a:moveTo>
                  <a:cubicBezTo>
                    <a:pt x="0" y="87757"/>
                    <a:pt x="87757" y="0"/>
                    <a:pt x="196088" y="0"/>
                  </a:cubicBezTo>
                  <a:lnTo>
                    <a:pt x="6909308" y="0"/>
                  </a:lnTo>
                  <a:cubicBezTo>
                    <a:pt x="7017512" y="0"/>
                    <a:pt x="7105396" y="87757"/>
                    <a:pt x="7105396" y="196088"/>
                  </a:cubicBezTo>
                  <a:lnTo>
                    <a:pt x="7105396" y="8006588"/>
                  </a:lnTo>
                  <a:cubicBezTo>
                    <a:pt x="7105396" y="8114792"/>
                    <a:pt x="7017638" y="8202676"/>
                    <a:pt x="6909308" y="8202676"/>
                  </a:cubicBezTo>
                  <a:lnTo>
                    <a:pt x="196088" y="8202676"/>
                  </a:lnTo>
                  <a:cubicBezTo>
                    <a:pt x="87757" y="8202549"/>
                    <a:pt x="0" y="8114792"/>
                    <a:pt x="0" y="8006461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3DEEA"/>
              </a:solidFill>
              <a:prstDash val="solid"/>
              <a:miter/>
            </a:ln>
          </p:spPr>
        </p:sp>
      </p:grpSp>
      <p:grpSp>
        <p:nvGrpSpPr>
          <p:cNvPr name="Group 38" id="38"/>
          <p:cNvGrpSpPr/>
          <p:nvPr/>
        </p:nvGrpSpPr>
        <p:grpSpPr>
          <a:xfrm rot="0">
            <a:off x="12801600" y="3383280"/>
            <a:ext cx="1207008" cy="1207008"/>
            <a:chOff x="0" y="0"/>
            <a:chExt cx="1609344" cy="1609344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1609344" cy="1609344"/>
            </a:xfrm>
            <a:custGeom>
              <a:avLst/>
              <a:gdLst/>
              <a:ahLst/>
              <a:cxnLst/>
              <a:rect r="r" b="b" t="t" l="l"/>
              <a:pathLst>
                <a:path h="1609344" w="1609344">
                  <a:moveTo>
                    <a:pt x="0" y="804672"/>
                  </a:moveTo>
                  <a:cubicBezTo>
                    <a:pt x="0" y="360299"/>
                    <a:pt x="360299" y="0"/>
                    <a:pt x="804672" y="0"/>
                  </a:cubicBezTo>
                  <a:cubicBezTo>
                    <a:pt x="1249045" y="0"/>
                    <a:pt x="1609344" y="360299"/>
                    <a:pt x="1609344" y="804672"/>
                  </a:cubicBezTo>
                  <a:cubicBezTo>
                    <a:pt x="1609344" y="1249045"/>
                    <a:pt x="1249045" y="1609344"/>
                    <a:pt x="804672" y="1609344"/>
                  </a:cubicBezTo>
                  <a:cubicBezTo>
                    <a:pt x="360299" y="1609344"/>
                    <a:pt x="0" y="1249045"/>
                    <a:pt x="0" y="804672"/>
                  </a:cubicBezTo>
                  <a:close/>
                </a:path>
              </a:pathLst>
            </a:custGeom>
            <a:solidFill>
              <a:srgbClr val="4A6FA5"/>
            </a:solidFill>
          </p:spPr>
        </p:sp>
      </p:grpSp>
      <p:grpSp>
        <p:nvGrpSpPr>
          <p:cNvPr name="Group 40" id="40"/>
          <p:cNvGrpSpPr/>
          <p:nvPr/>
        </p:nvGrpSpPr>
        <p:grpSpPr>
          <a:xfrm rot="0">
            <a:off x="13112496" y="3694176"/>
            <a:ext cx="585216" cy="585216"/>
            <a:chOff x="0" y="0"/>
            <a:chExt cx="780288" cy="780288"/>
          </a:xfrm>
        </p:grpSpPr>
        <p:sp>
          <p:nvSpPr>
            <p:cNvPr name="Freeform 41" id="41" descr="/home/claude/icons/FiActivity_FFFFFF.png"/>
            <p:cNvSpPr/>
            <p:nvPr/>
          </p:nvSpPr>
          <p:spPr>
            <a:xfrm flipH="false" flipV="false" rot="0">
              <a:off x="0" y="0"/>
              <a:ext cx="780288" cy="780288"/>
            </a:xfrm>
            <a:custGeom>
              <a:avLst/>
              <a:gdLst/>
              <a:ahLst/>
              <a:cxnLst/>
              <a:rect r="r" b="b" t="t" l="l"/>
              <a:pathLst>
                <a:path h="780288" w="780288">
                  <a:moveTo>
                    <a:pt x="0" y="0"/>
                  </a:moveTo>
                  <a:lnTo>
                    <a:pt x="780288" y="0"/>
                  </a:lnTo>
                  <a:lnTo>
                    <a:pt x="780288" y="780288"/>
                  </a:lnTo>
                  <a:lnTo>
                    <a:pt x="0" y="7802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42" id="42"/>
          <p:cNvGrpSpPr/>
          <p:nvPr/>
        </p:nvGrpSpPr>
        <p:grpSpPr>
          <a:xfrm rot="0">
            <a:off x="12801600" y="4937760"/>
            <a:ext cx="4389120" cy="640080"/>
            <a:chOff x="0" y="0"/>
            <a:chExt cx="5852160" cy="85344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5852160" cy="853440"/>
            </a:xfrm>
            <a:custGeom>
              <a:avLst/>
              <a:gdLst/>
              <a:ahLst/>
              <a:cxnLst/>
              <a:rect r="r" b="b" t="t" l="l"/>
              <a:pathLst>
                <a:path h="853440" w="5852160">
                  <a:moveTo>
                    <a:pt x="0" y="0"/>
                  </a:moveTo>
                  <a:lnTo>
                    <a:pt x="5852160" y="0"/>
                  </a:lnTo>
                  <a:lnTo>
                    <a:pt x="585216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83611" r="0" b="-83611"/>
              </a:stretch>
            </a:blipFill>
          </p:spPr>
        </p:sp>
        <p:sp>
          <p:nvSpPr>
            <p:cNvPr name="TextBox 44" id="44"/>
            <p:cNvSpPr txBox="true"/>
            <p:nvPr/>
          </p:nvSpPr>
          <p:spPr>
            <a:xfrm>
              <a:off x="0" y="-76200"/>
              <a:ext cx="5852160" cy="9296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800"/>
                </a:lnSpc>
              </a:pPr>
              <a:r>
                <a:rPr lang="en-US" sz="40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Desafio 03</a:t>
              </a:r>
            </a:p>
          </p:txBody>
        </p:sp>
      </p:grpSp>
      <p:grpSp>
        <p:nvGrpSpPr>
          <p:cNvPr name="Group 45" id="45"/>
          <p:cNvGrpSpPr/>
          <p:nvPr/>
        </p:nvGrpSpPr>
        <p:grpSpPr>
          <a:xfrm rot="0">
            <a:off x="12801600" y="5577840"/>
            <a:ext cx="4389120" cy="548640"/>
            <a:chOff x="0" y="0"/>
            <a:chExt cx="5852160" cy="73152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5852160" cy="731520"/>
            </a:xfrm>
            <a:custGeom>
              <a:avLst/>
              <a:gdLst/>
              <a:ahLst/>
              <a:cxnLst/>
              <a:rect r="r" b="b" t="t" l="l"/>
              <a:pathLst>
                <a:path h="731520" w="5852160">
                  <a:moveTo>
                    <a:pt x="0" y="0"/>
                  </a:moveTo>
                  <a:lnTo>
                    <a:pt x="5852160" y="0"/>
                  </a:lnTo>
                  <a:lnTo>
                    <a:pt x="585216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05880" r="0" b="-105880"/>
              </a:stretch>
            </a:blipFill>
          </p:spPr>
        </p:sp>
        <p:sp>
          <p:nvSpPr>
            <p:cNvPr name="TextBox 47" id="47"/>
            <p:cNvSpPr txBox="true"/>
            <p:nvPr/>
          </p:nvSpPr>
          <p:spPr>
            <a:xfrm>
              <a:off x="0" y="-57150"/>
              <a:ext cx="5852160" cy="7886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rPr lang="en-US" sz="2600" b="true">
                  <a:solidFill>
                    <a:srgbClr val="38BDF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Lorem ipsum</a:t>
              </a:r>
            </a:p>
          </p:txBody>
        </p:sp>
      </p:grpSp>
      <p:sp>
        <p:nvSpPr>
          <p:cNvPr name="TextBox 48" id="48"/>
          <p:cNvSpPr txBox="true"/>
          <p:nvPr/>
        </p:nvSpPr>
        <p:spPr>
          <a:xfrm rot="0">
            <a:off x="12801600" y="6179820"/>
            <a:ext cx="4389120" cy="2415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7E8FA6"/>
                </a:solidFill>
                <a:latin typeface="Calibri (MS)"/>
                <a:ea typeface="Calibri (MS)"/>
                <a:cs typeface="Calibri (MS)"/>
                <a:sym typeface="Calibri (MS)"/>
              </a:rPr>
              <a:t>Lorem ipsum dolor sit amet, consectetur adipiscing elit. Sed do eiusmod tempor incididunt ut labore et dolore magna aliqua.</a:t>
            </a:r>
          </a:p>
        </p:txBody>
      </p:sp>
      <p:grpSp>
        <p:nvGrpSpPr>
          <p:cNvPr name="Group 49" id="49"/>
          <p:cNvGrpSpPr/>
          <p:nvPr/>
        </p:nvGrpSpPr>
        <p:grpSpPr>
          <a:xfrm rot="0">
            <a:off x="1005840" y="9692640"/>
            <a:ext cx="10058400" cy="457200"/>
            <a:chOff x="0" y="0"/>
            <a:chExt cx="13411200" cy="609600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13411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3411200">
                  <a:moveTo>
                    <a:pt x="0" y="0"/>
                  </a:moveTo>
                  <a:lnTo>
                    <a:pt x="13411200" y="0"/>
                  </a:lnTo>
                  <a:lnTo>
                    <a:pt x="13411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78670" r="0" b="-378670"/>
              </a:stretch>
            </a:blipFill>
          </p:spPr>
        </p:sp>
        <p:sp>
          <p:nvSpPr>
            <p:cNvPr name="TextBox 51" id="51"/>
            <p:cNvSpPr txBox="true"/>
            <p:nvPr/>
          </p:nvSpPr>
          <p:spPr>
            <a:xfrm>
              <a:off x="0" y="-38100"/>
              <a:ext cx="13411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7E8F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Seminário de IoT — Segurança em IoT · Grupo 6</a:t>
              </a:r>
            </a:p>
          </p:txBody>
        </p:sp>
      </p:grpSp>
      <p:grpSp>
        <p:nvGrpSpPr>
          <p:cNvPr name="Group 52" id="52"/>
          <p:cNvGrpSpPr/>
          <p:nvPr/>
        </p:nvGrpSpPr>
        <p:grpSpPr>
          <a:xfrm rot="0">
            <a:off x="16367760" y="9692640"/>
            <a:ext cx="914400" cy="457200"/>
            <a:chOff x="0" y="0"/>
            <a:chExt cx="1219200" cy="60960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1219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54" id="54"/>
            <p:cNvSpPr txBox="true"/>
            <p:nvPr/>
          </p:nvSpPr>
          <p:spPr>
            <a:xfrm>
              <a:off x="0" y="-38100"/>
              <a:ext cx="1219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7E8F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29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F2C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7498080" cy="10287000"/>
            <a:chOff x="0" y="0"/>
            <a:chExt cx="999744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99744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9997440">
                  <a:moveTo>
                    <a:pt x="0" y="0"/>
                  </a:moveTo>
                  <a:lnTo>
                    <a:pt x="9997440" y="0"/>
                  </a:lnTo>
                  <a:lnTo>
                    <a:pt x="999744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0345B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097280" y="7132320"/>
            <a:ext cx="1097280" cy="987552"/>
            <a:chOff x="0" y="0"/>
            <a:chExt cx="1463040" cy="131673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463040" cy="1316736"/>
            </a:xfrm>
            <a:custGeom>
              <a:avLst/>
              <a:gdLst/>
              <a:ahLst/>
              <a:cxnLst/>
              <a:rect r="r" b="b" t="t" l="l"/>
              <a:pathLst>
                <a:path h="1316736" w="1463040">
                  <a:moveTo>
                    <a:pt x="0" y="658368"/>
                  </a:moveTo>
                  <a:lnTo>
                    <a:pt x="329184" y="0"/>
                  </a:lnTo>
                  <a:lnTo>
                    <a:pt x="1133856" y="0"/>
                  </a:lnTo>
                  <a:lnTo>
                    <a:pt x="1463040" y="658368"/>
                  </a:lnTo>
                  <a:lnTo>
                    <a:pt x="1133856" y="1316736"/>
                  </a:lnTo>
                  <a:lnTo>
                    <a:pt x="329184" y="1316736"/>
                  </a:lnTo>
                  <a:close/>
                </a:path>
              </a:pathLst>
            </a:custGeom>
            <a:solidFill>
              <a:srgbClr val="38BDF8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2468880" y="7955280"/>
            <a:ext cx="731520" cy="658368"/>
            <a:chOff x="0" y="0"/>
            <a:chExt cx="975360" cy="87782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975360" cy="877824"/>
            </a:xfrm>
            <a:custGeom>
              <a:avLst/>
              <a:gdLst/>
              <a:ahLst/>
              <a:cxnLst/>
              <a:rect r="r" b="b" t="t" l="l"/>
              <a:pathLst>
                <a:path h="877824" w="975360">
                  <a:moveTo>
                    <a:pt x="0" y="438912"/>
                  </a:moveTo>
                  <a:lnTo>
                    <a:pt x="219456" y="0"/>
                  </a:lnTo>
                  <a:lnTo>
                    <a:pt x="755904" y="0"/>
                  </a:lnTo>
                  <a:lnTo>
                    <a:pt x="975360" y="438912"/>
                  </a:lnTo>
                  <a:lnTo>
                    <a:pt x="755904" y="877824"/>
                  </a:lnTo>
                  <a:lnTo>
                    <a:pt x="219456" y="877824"/>
                  </a:lnTo>
                  <a:close/>
                </a:path>
              </a:pathLst>
            </a:custGeom>
            <a:solidFill>
              <a:srgbClr val="23507F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1005840" y="2468880"/>
            <a:ext cx="5852160" cy="2926080"/>
            <a:chOff x="0" y="0"/>
            <a:chExt cx="7802880" cy="390144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7802880" cy="3901440"/>
            </a:xfrm>
            <a:custGeom>
              <a:avLst/>
              <a:gdLst/>
              <a:ahLst/>
              <a:cxnLst/>
              <a:rect r="r" b="b" t="t" l="l"/>
              <a:pathLst>
                <a:path h="3901440" w="7802880">
                  <a:moveTo>
                    <a:pt x="0" y="0"/>
                  </a:moveTo>
                  <a:lnTo>
                    <a:pt x="7802880" y="0"/>
                  </a:lnTo>
                  <a:lnTo>
                    <a:pt x="7802880" y="3901440"/>
                  </a:lnTo>
                  <a:lnTo>
                    <a:pt x="0" y="39014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71475"/>
              <a:ext cx="7802880" cy="42729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080"/>
                </a:lnSpc>
              </a:pPr>
              <a:r>
                <a:rPr lang="en-US" sz="184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07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097280" y="1920240"/>
            <a:ext cx="4572000" cy="548640"/>
            <a:chOff x="0" y="0"/>
            <a:chExt cx="6096000" cy="73152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6096000" cy="731520"/>
            </a:xfrm>
            <a:custGeom>
              <a:avLst/>
              <a:gdLst/>
              <a:ahLst/>
              <a:cxnLst/>
              <a:rect r="r" b="b" t="t" l="l"/>
              <a:pathLst>
                <a:path h="731520" w="6096000">
                  <a:moveTo>
                    <a:pt x="0" y="0"/>
                  </a:moveTo>
                  <a:lnTo>
                    <a:pt x="6096000" y="0"/>
                  </a:lnTo>
                  <a:lnTo>
                    <a:pt x="60960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12375" r="0" b="-112375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6096000" cy="7696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b="true" sz="2400" spc="600">
                  <a:solidFill>
                    <a:srgbClr val="38BDF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SEÇÃO</a:t>
              </a: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8412480" y="3606165"/>
            <a:ext cx="8961120" cy="21545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640"/>
              </a:lnSpc>
            </a:pPr>
            <a:r>
              <a:rPr lang="en-US" sz="7200" b="true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Casos de Uso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412480" y="5760720"/>
            <a:ext cx="8412480" cy="1463040"/>
            <a:chOff x="0" y="0"/>
            <a:chExt cx="11216640" cy="195072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1216640" cy="1950720"/>
            </a:xfrm>
            <a:custGeom>
              <a:avLst/>
              <a:gdLst/>
              <a:ahLst/>
              <a:cxnLst/>
              <a:rect r="r" b="b" t="t" l="l"/>
              <a:pathLst>
                <a:path h="1950720" w="11216640">
                  <a:moveTo>
                    <a:pt x="0" y="0"/>
                  </a:moveTo>
                  <a:lnTo>
                    <a:pt x="11216640" y="0"/>
                  </a:lnTo>
                  <a:lnTo>
                    <a:pt x="11216640" y="1950720"/>
                  </a:lnTo>
                  <a:lnTo>
                    <a:pt x="0" y="19507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62038" r="0" b="-62038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57150"/>
              <a:ext cx="11216640" cy="20078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rPr lang="en-US" sz="2600">
                  <a:solidFill>
                    <a:srgbClr val="AFC4DC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Lorem ipsum dolor sit amet, consectetur adipiscing elit. Sed do eiusmod tempor incididunt ut labore et dolore magna aliqua.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8412480" y="2651760"/>
            <a:ext cx="804672" cy="804672"/>
            <a:chOff x="0" y="0"/>
            <a:chExt cx="1072896" cy="1072896"/>
          </a:xfrm>
        </p:grpSpPr>
        <p:sp>
          <p:nvSpPr>
            <p:cNvPr name="Freeform 19" id="19" descr="/home/claude/icons/FiGlobe_38BDF8.png"/>
            <p:cNvSpPr/>
            <p:nvPr/>
          </p:nvSpPr>
          <p:spPr>
            <a:xfrm flipH="false" flipV="false" rot="0">
              <a:off x="0" y="0"/>
              <a:ext cx="1072896" cy="1072896"/>
            </a:xfrm>
            <a:custGeom>
              <a:avLst/>
              <a:gdLst/>
              <a:ahLst/>
              <a:cxnLst/>
              <a:rect r="r" b="b" t="t" l="l"/>
              <a:pathLst>
                <a:path h="1072896" w="1072896">
                  <a:moveTo>
                    <a:pt x="0" y="0"/>
                  </a:moveTo>
                  <a:lnTo>
                    <a:pt x="1072896" y="0"/>
                  </a:lnTo>
                  <a:lnTo>
                    <a:pt x="1072896" y="1072896"/>
                  </a:lnTo>
                  <a:lnTo>
                    <a:pt x="0" y="10728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1097280" y="9692640"/>
            <a:ext cx="10058400" cy="457200"/>
            <a:chOff x="0" y="0"/>
            <a:chExt cx="13411200" cy="6096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3411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3411200">
                  <a:moveTo>
                    <a:pt x="0" y="0"/>
                  </a:moveTo>
                  <a:lnTo>
                    <a:pt x="13411200" y="0"/>
                  </a:lnTo>
                  <a:lnTo>
                    <a:pt x="13411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78670" r="0" b="-378670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38100"/>
              <a:ext cx="13411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6E85A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Seminário de IoT — Segurança em IoT · Grupo 6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16367760" y="9692640"/>
            <a:ext cx="914400" cy="457200"/>
            <a:chOff x="0" y="0"/>
            <a:chExt cx="1219200" cy="6096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219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1219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6E85A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30</a:t>
              </a:r>
            </a:p>
          </p:txBody>
        </p:sp>
      </p:grpSp>
    </p:spTree>
  </p:cSld>
  <p:clrMapOvr>
    <a:masterClrMapping/>
  </p:clrMapOvr>
</p:sld>
</file>

<file path=ppt/slides/slide3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6766560" cy="10287000"/>
            <a:chOff x="0" y="0"/>
            <a:chExt cx="902208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02208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9022080">
                  <a:moveTo>
                    <a:pt x="0" y="0"/>
                  </a:moveTo>
                  <a:lnTo>
                    <a:pt x="9022080" y="0"/>
                  </a:lnTo>
                  <a:lnTo>
                    <a:pt x="902208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F2C4C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7955280"/>
            <a:ext cx="1005840" cy="905256"/>
            <a:chOff x="0" y="0"/>
            <a:chExt cx="1341120" cy="1207008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341120" cy="1207008"/>
            </a:xfrm>
            <a:custGeom>
              <a:avLst/>
              <a:gdLst/>
              <a:ahLst/>
              <a:cxnLst/>
              <a:rect r="r" b="b" t="t" l="l"/>
              <a:pathLst>
                <a:path h="1207008" w="1341120">
                  <a:moveTo>
                    <a:pt x="0" y="603504"/>
                  </a:moveTo>
                  <a:lnTo>
                    <a:pt x="301752" y="0"/>
                  </a:lnTo>
                  <a:lnTo>
                    <a:pt x="1039368" y="0"/>
                  </a:lnTo>
                  <a:lnTo>
                    <a:pt x="1341120" y="603504"/>
                  </a:lnTo>
                  <a:lnTo>
                    <a:pt x="1039368" y="1207008"/>
                  </a:lnTo>
                  <a:lnTo>
                    <a:pt x="301752" y="1207008"/>
                  </a:lnTo>
                  <a:close/>
                </a:path>
              </a:pathLst>
            </a:custGeom>
            <a:solidFill>
              <a:srgbClr val="23507F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2194560" y="8595360"/>
            <a:ext cx="640080" cy="576072"/>
            <a:chOff x="0" y="0"/>
            <a:chExt cx="853440" cy="768096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853440" cy="768096"/>
            </a:xfrm>
            <a:custGeom>
              <a:avLst/>
              <a:gdLst/>
              <a:ahLst/>
              <a:cxnLst/>
              <a:rect r="r" b="b" t="t" l="l"/>
              <a:pathLst>
                <a:path h="768096" w="853440">
                  <a:moveTo>
                    <a:pt x="0" y="384048"/>
                  </a:moveTo>
                  <a:lnTo>
                    <a:pt x="192024" y="0"/>
                  </a:lnTo>
                  <a:lnTo>
                    <a:pt x="661416" y="0"/>
                  </a:lnTo>
                  <a:lnTo>
                    <a:pt x="853440" y="384048"/>
                  </a:lnTo>
                  <a:lnTo>
                    <a:pt x="661416" y="768096"/>
                  </a:lnTo>
                  <a:lnTo>
                    <a:pt x="192024" y="768096"/>
                  </a:lnTo>
                  <a:close/>
                </a:path>
              </a:pathLst>
            </a:custGeom>
            <a:solidFill>
              <a:srgbClr val="38BDF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914400" y="1371600"/>
            <a:ext cx="5120640" cy="548640"/>
            <a:chOff x="0" y="0"/>
            <a:chExt cx="6827520" cy="73152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827520" cy="731520"/>
            </a:xfrm>
            <a:custGeom>
              <a:avLst/>
              <a:gdLst/>
              <a:ahLst/>
              <a:cxnLst/>
              <a:rect r="r" b="b" t="t" l="l"/>
              <a:pathLst>
                <a:path h="731520" w="6827520">
                  <a:moveTo>
                    <a:pt x="0" y="0"/>
                  </a:moveTo>
                  <a:lnTo>
                    <a:pt x="6827520" y="0"/>
                  </a:lnTo>
                  <a:lnTo>
                    <a:pt x="68275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1860" r="0" b="-131860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47625"/>
              <a:ext cx="6827520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b="true" sz="2200" spc="399">
                  <a:solidFill>
                    <a:srgbClr val="93C5F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CASOS DE USO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914400" y="1796415"/>
            <a:ext cx="5303520" cy="22269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680"/>
              </a:lnSpc>
            </a:pPr>
            <a:r>
              <a:rPr lang="en-US" sz="6400" b="true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Caso de Uso 01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914400" y="4240530"/>
            <a:ext cx="5029200" cy="29832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C9D7EA"/>
                </a:solidFill>
                <a:latin typeface="Calibri (MS)"/>
                <a:ea typeface="Calibri (MS)"/>
                <a:cs typeface="Calibri (MS)"/>
                <a:sym typeface="Calibri (MS)"/>
              </a:rPr>
              <a:t>Lorem ipsum dolor sit amet, consectetur adipiscing elit. Sed do eiusmod tempor incididunt ut labore et dolore magna aliqua.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7482202" y="1355722"/>
            <a:ext cx="9815827" cy="4603747"/>
            <a:chOff x="0" y="0"/>
            <a:chExt cx="13087769" cy="6138329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3087858" cy="6138418"/>
            </a:xfrm>
            <a:custGeom>
              <a:avLst/>
              <a:gdLst/>
              <a:ahLst/>
              <a:cxnLst/>
              <a:rect r="r" b="b" t="t" l="l"/>
              <a:pathLst>
                <a:path h="6138418" w="13087858">
                  <a:moveTo>
                    <a:pt x="0" y="196469"/>
                  </a:moveTo>
                  <a:cubicBezTo>
                    <a:pt x="0" y="87884"/>
                    <a:pt x="87884" y="0"/>
                    <a:pt x="196469" y="0"/>
                  </a:cubicBezTo>
                  <a:lnTo>
                    <a:pt x="12891389" y="0"/>
                  </a:lnTo>
                  <a:cubicBezTo>
                    <a:pt x="12999847" y="0"/>
                    <a:pt x="13087858" y="87884"/>
                    <a:pt x="13087858" y="196469"/>
                  </a:cubicBezTo>
                  <a:lnTo>
                    <a:pt x="13087858" y="5941949"/>
                  </a:lnTo>
                  <a:cubicBezTo>
                    <a:pt x="13087858" y="6050407"/>
                    <a:pt x="12999974" y="6138418"/>
                    <a:pt x="12891389" y="6138418"/>
                  </a:cubicBezTo>
                  <a:lnTo>
                    <a:pt x="196469" y="6138418"/>
                  </a:lnTo>
                  <a:cubicBezTo>
                    <a:pt x="87884" y="6138291"/>
                    <a:pt x="0" y="6050407"/>
                    <a:pt x="0" y="5941949"/>
                  </a:cubicBezTo>
                  <a:close/>
                </a:path>
              </a:pathLst>
            </a:custGeom>
            <a:solidFill>
              <a:srgbClr val="F7FAFD"/>
            </a:solidFill>
            <a:ln w="31750" cap="sq">
              <a:solidFill>
                <a:srgbClr val="A9C1DC"/>
              </a:solidFill>
              <a:prstDash val="dash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11987784" y="2889504"/>
            <a:ext cx="804672" cy="804672"/>
            <a:chOff x="0" y="0"/>
            <a:chExt cx="1072896" cy="1072896"/>
          </a:xfrm>
        </p:grpSpPr>
        <p:sp>
          <p:nvSpPr>
            <p:cNvPr name="Freeform 16" id="16" descr="/home/claude/icons/FiImage_64748B.png"/>
            <p:cNvSpPr/>
            <p:nvPr/>
          </p:nvSpPr>
          <p:spPr>
            <a:xfrm flipH="false" flipV="false" rot="0">
              <a:off x="0" y="0"/>
              <a:ext cx="1072896" cy="1072896"/>
            </a:xfrm>
            <a:custGeom>
              <a:avLst/>
              <a:gdLst/>
              <a:ahLst/>
              <a:cxnLst/>
              <a:rect r="r" b="b" t="t" l="l"/>
              <a:pathLst>
                <a:path h="1072896" w="1072896">
                  <a:moveTo>
                    <a:pt x="0" y="0"/>
                  </a:moveTo>
                  <a:lnTo>
                    <a:pt x="1072896" y="0"/>
                  </a:lnTo>
                  <a:lnTo>
                    <a:pt x="1072896" y="1072896"/>
                  </a:lnTo>
                  <a:lnTo>
                    <a:pt x="0" y="10728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7863840" y="3749040"/>
            <a:ext cx="9052560" cy="548640"/>
            <a:chOff x="0" y="0"/>
            <a:chExt cx="12070080" cy="73152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2070080" cy="731520"/>
            </a:xfrm>
            <a:custGeom>
              <a:avLst/>
              <a:gdLst/>
              <a:ahLst/>
              <a:cxnLst/>
              <a:rect r="r" b="b" t="t" l="l"/>
              <a:pathLst>
                <a:path h="731520" w="12070080">
                  <a:moveTo>
                    <a:pt x="0" y="0"/>
                  </a:moveTo>
                  <a:lnTo>
                    <a:pt x="12070080" y="0"/>
                  </a:lnTo>
                  <a:lnTo>
                    <a:pt x="120700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71503" r="0" b="-271503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57150"/>
              <a:ext cx="12070080" cy="7886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120"/>
                </a:lnSpc>
              </a:pPr>
              <a:r>
                <a:rPr lang="en-US" sz="2600" b="true">
                  <a:solidFill>
                    <a:srgbClr val="7E8F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Inserir imagem ou diagrama do cenário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7863840" y="4279392"/>
            <a:ext cx="9052560" cy="438912"/>
            <a:chOff x="0" y="0"/>
            <a:chExt cx="12070080" cy="585216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2070080" cy="585216"/>
            </a:xfrm>
            <a:custGeom>
              <a:avLst/>
              <a:gdLst/>
              <a:ahLst/>
              <a:cxnLst/>
              <a:rect r="r" b="b" t="t" l="l"/>
              <a:pathLst>
                <a:path h="585216" w="12070080">
                  <a:moveTo>
                    <a:pt x="0" y="0"/>
                  </a:moveTo>
                  <a:lnTo>
                    <a:pt x="12070080" y="0"/>
                  </a:lnTo>
                  <a:lnTo>
                    <a:pt x="12070080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51878" r="0" b="-351878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38100"/>
              <a:ext cx="12070080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400"/>
                </a:lnSpc>
              </a:pPr>
              <a:r>
                <a:rPr lang="en-US" sz="2000" i="true">
                  <a:solidFill>
                    <a:srgbClr val="7E8FA6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Substitua por diagrama, fluxo, tabela ou captura de tela</a:t>
              </a: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7498080" y="6343650"/>
            <a:ext cx="9784080" cy="2800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72160" indent="-386080" lvl="1">
              <a:lnSpc>
                <a:spcPts val="3840"/>
              </a:lnSpc>
              <a:buFont typeface="Arial"/>
              <a:buChar char="•"/>
            </a:pPr>
            <a:r>
              <a:rPr lang="en-US" sz="3200">
                <a:solidFill>
                  <a:srgbClr val="3A4C63"/>
                </a:solidFill>
                <a:latin typeface="Calibri (MS)"/>
                <a:ea typeface="Calibri (MS)"/>
                <a:cs typeface="Calibri (MS)"/>
                <a:sym typeface="Calibri (MS)"/>
              </a:rPr>
              <a:t>Lorem ipsum dolor sit amet, consectetur elit</a:t>
            </a:r>
          </a:p>
          <a:p>
            <a:pPr algn="l" marL="772160" indent="-386080" lvl="1">
              <a:lnSpc>
                <a:spcPts val="3840"/>
              </a:lnSpc>
              <a:buFont typeface="Arial"/>
              <a:buChar char="•"/>
            </a:pPr>
            <a:r>
              <a:rPr lang="en-US" sz="3200">
                <a:solidFill>
                  <a:srgbClr val="3A4C63"/>
                </a:solidFill>
                <a:latin typeface="Calibri (MS)"/>
                <a:ea typeface="Calibri (MS)"/>
                <a:cs typeface="Calibri (MS)"/>
                <a:sym typeface="Calibri (MS)"/>
              </a:rPr>
              <a:t>Sed do eiusmod tempor incididunt ut labore</a:t>
            </a:r>
          </a:p>
          <a:p>
            <a:pPr algn="l" marL="772160" indent="-386080" lvl="1">
              <a:lnSpc>
                <a:spcPts val="3840"/>
              </a:lnSpc>
              <a:buFont typeface="Arial"/>
              <a:buChar char="•"/>
            </a:pPr>
            <a:r>
              <a:rPr lang="en-US" sz="3200">
                <a:solidFill>
                  <a:srgbClr val="3A4C63"/>
                </a:solidFill>
                <a:latin typeface="Calibri (MS)"/>
                <a:ea typeface="Calibri (MS)"/>
                <a:cs typeface="Calibri (MS)"/>
                <a:sym typeface="Calibri (MS)"/>
              </a:rPr>
              <a:t>Ut enim ad minim veniam quis nostrud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1097280" y="9692640"/>
            <a:ext cx="10058400" cy="457200"/>
            <a:chOff x="0" y="0"/>
            <a:chExt cx="13411200" cy="6096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3411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3411200">
                  <a:moveTo>
                    <a:pt x="0" y="0"/>
                  </a:moveTo>
                  <a:lnTo>
                    <a:pt x="13411200" y="0"/>
                  </a:lnTo>
                  <a:lnTo>
                    <a:pt x="13411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78670" r="0" b="-378670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38100"/>
              <a:ext cx="13411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6E85A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Seminário de IoT — Segurança em IoT · Grupo 6</a:t>
              </a: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16367760" y="9692640"/>
            <a:ext cx="914400" cy="457200"/>
            <a:chOff x="0" y="0"/>
            <a:chExt cx="1219200" cy="60960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219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38100"/>
              <a:ext cx="1219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6E85A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31</a:t>
              </a:r>
            </a:p>
          </p:txBody>
        </p:sp>
      </p:grpSp>
    </p:spTree>
  </p:cSld>
  <p:clrMapOvr>
    <a:masterClrMapping/>
  </p:clrMapOvr>
</p:sld>
</file>

<file path=ppt/slides/slide3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6766560" cy="10287000"/>
            <a:chOff x="0" y="0"/>
            <a:chExt cx="902208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02208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9022080">
                  <a:moveTo>
                    <a:pt x="0" y="0"/>
                  </a:moveTo>
                  <a:lnTo>
                    <a:pt x="9022080" y="0"/>
                  </a:lnTo>
                  <a:lnTo>
                    <a:pt x="902208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F2C4C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7955280"/>
            <a:ext cx="1005840" cy="905256"/>
            <a:chOff x="0" y="0"/>
            <a:chExt cx="1341120" cy="1207008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341120" cy="1207008"/>
            </a:xfrm>
            <a:custGeom>
              <a:avLst/>
              <a:gdLst/>
              <a:ahLst/>
              <a:cxnLst/>
              <a:rect r="r" b="b" t="t" l="l"/>
              <a:pathLst>
                <a:path h="1207008" w="1341120">
                  <a:moveTo>
                    <a:pt x="0" y="603504"/>
                  </a:moveTo>
                  <a:lnTo>
                    <a:pt x="301752" y="0"/>
                  </a:lnTo>
                  <a:lnTo>
                    <a:pt x="1039368" y="0"/>
                  </a:lnTo>
                  <a:lnTo>
                    <a:pt x="1341120" y="603504"/>
                  </a:lnTo>
                  <a:lnTo>
                    <a:pt x="1039368" y="1207008"/>
                  </a:lnTo>
                  <a:lnTo>
                    <a:pt x="301752" y="1207008"/>
                  </a:lnTo>
                  <a:close/>
                </a:path>
              </a:pathLst>
            </a:custGeom>
            <a:solidFill>
              <a:srgbClr val="23507F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2194560" y="8595360"/>
            <a:ext cx="640080" cy="576072"/>
            <a:chOff x="0" y="0"/>
            <a:chExt cx="853440" cy="768096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853440" cy="768096"/>
            </a:xfrm>
            <a:custGeom>
              <a:avLst/>
              <a:gdLst/>
              <a:ahLst/>
              <a:cxnLst/>
              <a:rect r="r" b="b" t="t" l="l"/>
              <a:pathLst>
                <a:path h="768096" w="853440">
                  <a:moveTo>
                    <a:pt x="0" y="384048"/>
                  </a:moveTo>
                  <a:lnTo>
                    <a:pt x="192024" y="0"/>
                  </a:lnTo>
                  <a:lnTo>
                    <a:pt x="661416" y="0"/>
                  </a:lnTo>
                  <a:lnTo>
                    <a:pt x="853440" y="384048"/>
                  </a:lnTo>
                  <a:lnTo>
                    <a:pt x="661416" y="768096"/>
                  </a:lnTo>
                  <a:lnTo>
                    <a:pt x="192024" y="768096"/>
                  </a:lnTo>
                  <a:close/>
                </a:path>
              </a:pathLst>
            </a:custGeom>
            <a:solidFill>
              <a:srgbClr val="38BDF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914400" y="1371600"/>
            <a:ext cx="5120640" cy="548640"/>
            <a:chOff x="0" y="0"/>
            <a:chExt cx="6827520" cy="73152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827520" cy="731520"/>
            </a:xfrm>
            <a:custGeom>
              <a:avLst/>
              <a:gdLst/>
              <a:ahLst/>
              <a:cxnLst/>
              <a:rect r="r" b="b" t="t" l="l"/>
              <a:pathLst>
                <a:path h="731520" w="6827520">
                  <a:moveTo>
                    <a:pt x="0" y="0"/>
                  </a:moveTo>
                  <a:lnTo>
                    <a:pt x="6827520" y="0"/>
                  </a:lnTo>
                  <a:lnTo>
                    <a:pt x="68275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1860" r="0" b="-131860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47625"/>
              <a:ext cx="6827520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b="true" sz="2200" spc="399">
                  <a:solidFill>
                    <a:srgbClr val="93C5F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CASOS DE USO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914400" y="1796415"/>
            <a:ext cx="5303520" cy="22269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680"/>
              </a:lnSpc>
            </a:pPr>
            <a:r>
              <a:rPr lang="en-US" sz="6400" b="true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Caso de Uso 02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914400" y="4240530"/>
            <a:ext cx="5029200" cy="29832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C9D7EA"/>
                </a:solidFill>
                <a:latin typeface="Calibri (MS)"/>
                <a:ea typeface="Calibri (MS)"/>
                <a:cs typeface="Calibri (MS)"/>
                <a:sym typeface="Calibri (MS)"/>
              </a:rPr>
              <a:t>Lorem ipsum dolor sit amet, consectetur adipiscing elit. Sed do eiusmod tempor incididunt ut labore et dolore magna aliqua.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7482202" y="1355722"/>
            <a:ext cx="9815827" cy="4603747"/>
            <a:chOff x="0" y="0"/>
            <a:chExt cx="13087769" cy="6138329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3087858" cy="6138418"/>
            </a:xfrm>
            <a:custGeom>
              <a:avLst/>
              <a:gdLst/>
              <a:ahLst/>
              <a:cxnLst/>
              <a:rect r="r" b="b" t="t" l="l"/>
              <a:pathLst>
                <a:path h="6138418" w="13087858">
                  <a:moveTo>
                    <a:pt x="0" y="196469"/>
                  </a:moveTo>
                  <a:cubicBezTo>
                    <a:pt x="0" y="87884"/>
                    <a:pt x="87884" y="0"/>
                    <a:pt x="196469" y="0"/>
                  </a:cubicBezTo>
                  <a:lnTo>
                    <a:pt x="12891389" y="0"/>
                  </a:lnTo>
                  <a:cubicBezTo>
                    <a:pt x="12999847" y="0"/>
                    <a:pt x="13087858" y="87884"/>
                    <a:pt x="13087858" y="196469"/>
                  </a:cubicBezTo>
                  <a:lnTo>
                    <a:pt x="13087858" y="5941949"/>
                  </a:lnTo>
                  <a:cubicBezTo>
                    <a:pt x="13087858" y="6050407"/>
                    <a:pt x="12999974" y="6138418"/>
                    <a:pt x="12891389" y="6138418"/>
                  </a:cubicBezTo>
                  <a:lnTo>
                    <a:pt x="196469" y="6138418"/>
                  </a:lnTo>
                  <a:cubicBezTo>
                    <a:pt x="87884" y="6138291"/>
                    <a:pt x="0" y="6050407"/>
                    <a:pt x="0" y="5941949"/>
                  </a:cubicBezTo>
                  <a:close/>
                </a:path>
              </a:pathLst>
            </a:custGeom>
            <a:solidFill>
              <a:srgbClr val="F7FAFD"/>
            </a:solidFill>
            <a:ln w="31750" cap="sq">
              <a:solidFill>
                <a:srgbClr val="A9C1DC"/>
              </a:solidFill>
              <a:prstDash val="dash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11987784" y="2889504"/>
            <a:ext cx="804672" cy="804672"/>
            <a:chOff x="0" y="0"/>
            <a:chExt cx="1072896" cy="1072896"/>
          </a:xfrm>
        </p:grpSpPr>
        <p:sp>
          <p:nvSpPr>
            <p:cNvPr name="Freeform 16" id="16" descr="/home/claude/icons/FiImage_64748B.png"/>
            <p:cNvSpPr/>
            <p:nvPr/>
          </p:nvSpPr>
          <p:spPr>
            <a:xfrm flipH="false" flipV="false" rot="0">
              <a:off x="0" y="0"/>
              <a:ext cx="1072896" cy="1072896"/>
            </a:xfrm>
            <a:custGeom>
              <a:avLst/>
              <a:gdLst/>
              <a:ahLst/>
              <a:cxnLst/>
              <a:rect r="r" b="b" t="t" l="l"/>
              <a:pathLst>
                <a:path h="1072896" w="1072896">
                  <a:moveTo>
                    <a:pt x="0" y="0"/>
                  </a:moveTo>
                  <a:lnTo>
                    <a:pt x="1072896" y="0"/>
                  </a:lnTo>
                  <a:lnTo>
                    <a:pt x="1072896" y="1072896"/>
                  </a:lnTo>
                  <a:lnTo>
                    <a:pt x="0" y="10728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7863840" y="3749040"/>
            <a:ext cx="9052560" cy="548640"/>
            <a:chOff x="0" y="0"/>
            <a:chExt cx="12070080" cy="73152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2070080" cy="731520"/>
            </a:xfrm>
            <a:custGeom>
              <a:avLst/>
              <a:gdLst/>
              <a:ahLst/>
              <a:cxnLst/>
              <a:rect r="r" b="b" t="t" l="l"/>
              <a:pathLst>
                <a:path h="731520" w="12070080">
                  <a:moveTo>
                    <a:pt x="0" y="0"/>
                  </a:moveTo>
                  <a:lnTo>
                    <a:pt x="12070080" y="0"/>
                  </a:lnTo>
                  <a:lnTo>
                    <a:pt x="120700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71503" r="0" b="-271503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57150"/>
              <a:ext cx="12070080" cy="7886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120"/>
                </a:lnSpc>
              </a:pPr>
              <a:r>
                <a:rPr lang="en-US" sz="2600" b="true">
                  <a:solidFill>
                    <a:srgbClr val="7E8F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Inserir imagem ou diagrama do cenário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7863840" y="4279392"/>
            <a:ext cx="9052560" cy="438912"/>
            <a:chOff x="0" y="0"/>
            <a:chExt cx="12070080" cy="585216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2070080" cy="585216"/>
            </a:xfrm>
            <a:custGeom>
              <a:avLst/>
              <a:gdLst/>
              <a:ahLst/>
              <a:cxnLst/>
              <a:rect r="r" b="b" t="t" l="l"/>
              <a:pathLst>
                <a:path h="585216" w="12070080">
                  <a:moveTo>
                    <a:pt x="0" y="0"/>
                  </a:moveTo>
                  <a:lnTo>
                    <a:pt x="12070080" y="0"/>
                  </a:lnTo>
                  <a:lnTo>
                    <a:pt x="12070080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51878" r="0" b="-351878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38100"/>
              <a:ext cx="12070080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400"/>
                </a:lnSpc>
              </a:pPr>
              <a:r>
                <a:rPr lang="en-US" sz="2000" i="true">
                  <a:solidFill>
                    <a:srgbClr val="7E8FA6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Substitua por diagrama, fluxo, tabela ou captura de tela</a:t>
              </a: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7498080" y="6343650"/>
            <a:ext cx="9784080" cy="2800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72160" indent="-386080" lvl="1">
              <a:lnSpc>
                <a:spcPts val="3840"/>
              </a:lnSpc>
              <a:buFont typeface="Arial"/>
              <a:buChar char="•"/>
            </a:pPr>
            <a:r>
              <a:rPr lang="en-US" sz="3200">
                <a:solidFill>
                  <a:srgbClr val="3A4C63"/>
                </a:solidFill>
                <a:latin typeface="Calibri (MS)"/>
                <a:ea typeface="Calibri (MS)"/>
                <a:cs typeface="Calibri (MS)"/>
                <a:sym typeface="Calibri (MS)"/>
              </a:rPr>
              <a:t>Lorem ipsum dolor sit amet, consectetur elit</a:t>
            </a:r>
          </a:p>
          <a:p>
            <a:pPr algn="l" marL="772160" indent="-386080" lvl="1">
              <a:lnSpc>
                <a:spcPts val="3840"/>
              </a:lnSpc>
              <a:buFont typeface="Arial"/>
              <a:buChar char="•"/>
            </a:pPr>
            <a:r>
              <a:rPr lang="en-US" sz="3200">
                <a:solidFill>
                  <a:srgbClr val="3A4C63"/>
                </a:solidFill>
                <a:latin typeface="Calibri (MS)"/>
                <a:ea typeface="Calibri (MS)"/>
                <a:cs typeface="Calibri (MS)"/>
                <a:sym typeface="Calibri (MS)"/>
              </a:rPr>
              <a:t>Sed do eiusmod tempor incididunt ut labore</a:t>
            </a:r>
          </a:p>
          <a:p>
            <a:pPr algn="l" marL="772160" indent="-386080" lvl="1">
              <a:lnSpc>
                <a:spcPts val="3840"/>
              </a:lnSpc>
              <a:buFont typeface="Arial"/>
              <a:buChar char="•"/>
            </a:pPr>
            <a:r>
              <a:rPr lang="en-US" sz="3200">
                <a:solidFill>
                  <a:srgbClr val="3A4C63"/>
                </a:solidFill>
                <a:latin typeface="Calibri (MS)"/>
                <a:ea typeface="Calibri (MS)"/>
                <a:cs typeface="Calibri (MS)"/>
                <a:sym typeface="Calibri (MS)"/>
              </a:rPr>
              <a:t>Ut enim ad minim veniam quis nostrud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1097280" y="9692640"/>
            <a:ext cx="10058400" cy="457200"/>
            <a:chOff x="0" y="0"/>
            <a:chExt cx="13411200" cy="6096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3411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3411200">
                  <a:moveTo>
                    <a:pt x="0" y="0"/>
                  </a:moveTo>
                  <a:lnTo>
                    <a:pt x="13411200" y="0"/>
                  </a:lnTo>
                  <a:lnTo>
                    <a:pt x="13411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78670" r="0" b="-378670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38100"/>
              <a:ext cx="13411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6E85A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Seminário de IoT — Segurança em IoT · Grupo 6</a:t>
              </a: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16367760" y="9692640"/>
            <a:ext cx="914400" cy="457200"/>
            <a:chOff x="0" y="0"/>
            <a:chExt cx="1219200" cy="60960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219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38100"/>
              <a:ext cx="1219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6E85A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32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6766560" cy="10287000"/>
            <a:chOff x="0" y="0"/>
            <a:chExt cx="902208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02208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9022080">
                  <a:moveTo>
                    <a:pt x="0" y="0"/>
                  </a:moveTo>
                  <a:lnTo>
                    <a:pt x="9022080" y="0"/>
                  </a:lnTo>
                  <a:lnTo>
                    <a:pt x="902208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F2C4C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7955280"/>
            <a:ext cx="1005840" cy="905256"/>
            <a:chOff x="0" y="0"/>
            <a:chExt cx="1341120" cy="1207008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341120" cy="1207008"/>
            </a:xfrm>
            <a:custGeom>
              <a:avLst/>
              <a:gdLst/>
              <a:ahLst/>
              <a:cxnLst/>
              <a:rect r="r" b="b" t="t" l="l"/>
              <a:pathLst>
                <a:path h="1207008" w="1341120">
                  <a:moveTo>
                    <a:pt x="0" y="603504"/>
                  </a:moveTo>
                  <a:lnTo>
                    <a:pt x="301752" y="0"/>
                  </a:lnTo>
                  <a:lnTo>
                    <a:pt x="1039368" y="0"/>
                  </a:lnTo>
                  <a:lnTo>
                    <a:pt x="1341120" y="603504"/>
                  </a:lnTo>
                  <a:lnTo>
                    <a:pt x="1039368" y="1207008"/>
                  </a:lnTo>
                  <a:lnTo>
                    <a:pt x="301752" y="1207008"/>
                  </a:lnTo>
                  <a:close/>
                </a:path>
              </a:pathLst>
            </a:custGeom>
            <a:solidFill>
              <a:srgbClr val="23507F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2194560" y="8595360"/>
            <a:ext cx="640080" cy="576072"/>
            <a:chOff x="0" y="0"/>
            <a:chExt cx="853440" cy="768096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853440" cy="768096"/>
            </a:xfrm>
            <a:custGeom>
              <a:avLst/>
              <a:gdLst/>
              <a:ahLst/>
              <a:cxnLst/>
              <a:rect r="r" b="b" t="t" l="l"/>
              <a:pathLst>
                <a:path h="768096" w="853440">
                  <a:moveTo>
                    <a:pt x="0" y="384048"/>
                  </a:moveTo>
                  <a:lnTo>
                    <a:pt x="192024" y="0"/>
                  </a:lnTo>
                  <a:lnTo>
                    <a:pt x="661416" y="0"/>
                  </a:lnTo>
                  <a:lnTo>
                    <a:pt x="853440" y="384048"/>
                  </a:lnTo>
                  <a:lnTo>
                    <a:pt x="661416" y="768096"/>
                  </a:lnTo>
                  <a:lnTo>
                    <a:pt x="192024" y="768096"/>
                  </a:lnTo>
                  <a:close/>
                </a:path>
              </a:pathLst>
            </a:custGeom>
            <a:solidFill>
              <a:srgbClr val="38BDF8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914400" y="1371600"/>
            <a:ext cx="5120640" cy="548640"/>
            <a:chOff x="0" y="0"/>
            <a:chExt cx="6827520" cy="73152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827520" cy="731520"/>
            </a:xfrm>
            <a:custGeom>
              <a:avLst/>
              <a:gdLst/>
              <a:ahLst/>
              <a:cxnLst/>
              <a:rect r="r" b="b" t="t" l="l"/>
              <a:pathLst>
                <a:path h="731520" w="6827520">
                  <a:moveTo>
                    <a:pt x="0" y="0"/>
                  </a:moveTo>
                  <a:lnTo>
                    <a:pt x="6827520" y="0"/>
                  </a:lnTo>
                  <a:lnTo>
                    <a:pt x="68275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1860" r="0" b="-131860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47625"/>
              <a:ext cx="6827520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b="true" sz="2200" spc="399">
                  <a:solidFill>
                    <a:srgbClr val="93C5F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CASOS DE USO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914400" y="1796415"/>
            <a:ext cx="5303520" cy="22269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680"/>
              </a:lnSpc>
            </a:pPr>
            <a:r>
              <a:rPr lang="en-US" sz="6400" b="true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Caso de Uso 03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914400" y="4240530"/>
            <a:ext cx="5029200" cy="29832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C9D7EA"/>
                </a:solidFill>
                <a:latin typeface="Calibri (MS)"/>
                <a:ea typeface="Calibri (MS)"/>
                <a:cs typeface="Calibri (MS)"/>
                <a:sym typeface="Calibri (MS)"/>
              </a:rPr>
              <a:t>Lorem ipsum dolor sit amet, consectetur adipiscing elit. Sed do eiusmod tempor incididunt ut labore et dolore magna aliqua.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7482202" y="1355722"/>
            <a:ext cx="9815827" cy="4603747"/>
            <a:chOff x="0" y="0"/>
            <a:chExt cx="13087769" cy="6138329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3087858" cy="6138418"/>
            </a:xfrm>
            <a:custGeom>
              <a:avLst/>
              <a:gdLst/>
              <a:ahLst/>
              <a:cxnLst/>
              <a:rect r="r" b="b" t="t" l="l"/>
              <a:pathLst>
                <a:path h="6138418" w="13087858">
                  <a:moveTo>
                    <a:pt x="0" y="196469"/>
                  </a:moveTo>
                  <a:cubicBezTo>
                    <a:pt x="0" y="87884"/>
                    <a:pt x="87884" y="0"/>
                    <a:pt x="196469" y="0"/>
                  </a:cubicBezTo>
                  <a:lnTo>
                    <a:pt x="12891389" y="0"/>
                  </a:lnTo>
                  <a:cubicBezTo>
                    <a:pt x="12999847" y="0"/>
                    <a:pt x="13087858" y="87884"/>
                    <a:pt x="13087858" y="196469"/>
                  </a:cubicBezTo>
                  <a:lnTo>
                    <a:pt x="13087858" y="5941949"/>
                  </a:lnTo>
                  <a:cubicBezTo>
                    <a:pt x="13087858" y="6050407"/>
                    <a:pt x="12999974" y="6138418"/>
                    <a:pt x="12891389" y="6138418"/>
                  </a:cubicBezTo>
                  <a:lnTo>
                    <a:pt x="196469" y="6138418"/>
                  </a:lnTo>
                  <a:cubicBezTo>
                    <a:pt x="87884" y="6138291"/>
                    <a:pt x="0" y="6050407"/>
                    <a:pt x="0" y="5941949"/>
                  </a:cubicBezTo>
                  <a:close/>
                </a:path>
              </a:pathLst>
            </a:custGeom>
            <a:solidFill>
              <a:srgbClr val="F7FAFD"/>
            </a:solidFill>
            <a:ln w="31750" cap="sq">
              <a:solidFill>
                <a:srgbClr val="A9C1DC"/>
              </a:solidFill>
              <a:prstDash val="dash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11987784" y="2889504"/>
            <a:ext cx="804672" cy="804672"/>
            <a:chOff x="0" y="0"/>
            <a:chExt cx="1072896" cy="1072896"/>
          </a:xfrm>
        </p:grpSpPr>
        <p:sp>
          <p:nvSpPr>
            <p:cNvPr name="Freeform 16" id="16" descr="/home/claude/icons/FiImage_64748B.png"/>
            <p:cNvSpPr/>
            <p:nvPr/>
          </p:nvSpPr>
          <p:spPr>
            <a:xfrm flipH="false" flipV="false" rot="0">
              <a:off x="0" y="0"/>
              <a:ext cx="1072896" cy="1072896"/>
            </a:xfrm>
            <a:custGeom>
              <a:avLst/>
              <a:gdLst/>
              <a:ahLst/>
              <a:cxnLst/>
              <a:rect r="r" b="b" t="t" l="l"/>
              <a:pathLst>
                <a:path h="1072896" w="1072896">
                  <a:moveTo>
                    <a:pt x="0" y="0"/>
                  </a:moveTo>
                  <a:lnTo>
                    <a:pt x="1072896" y="0"/>
                  </a:lnTo>
                  <a:lnTo>
                    <a:pt x="1072896" y="1072896"/>
                  </a:lnTo>
                  <a:lnTo>
                    <a:pt x="0" y="10728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7863840" y="3749040"/>
            <a:ext cx="9052560" cy="548640"/>
            <a:chOff x="0" y="0"/>
            <a:chExt cx="12070080" cy="73152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2070080" cy="731520"/>
            </a:xfrm>
            <a:custGeom>
              <a:avLst/>
              <a:gdLst/>
              <a:ahLst/>
              <a:cxnLst/>
              <a:rect r="r" b="b" t="t" l="l"/>
              <a:pathLst>
                <a:path h="731520" w="12070080">
                  <a:moveTo>
                    <a:pt x="0" y="0"/>
                  </a:moveTo>
                  <a:lnTo>
                    <a:pt x="12070080" y="0"/>
                  </a:lnTo>
                  <a:lnTo>
                    <a:pt x="120700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71503" r="0" b="-271503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57150"/>
              <a:ext cx="12070080" cy="7886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120"/>
                </a:lnSpc>
              </a:pPr>
              <a:r>
                <a:rPr lang="en-US" sz="2600" b="true">
                  <a:solidFill>
                    <a:srgbClr val="7E8F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Inserir imagem ou diagrama do cenário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7863840" y="4279392"/>
            <a:ext cx="9052560" cy="438912"/>
            <a:chOff x="0" y="0"/>
            <a:chExt cx="12070080" cy="585216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2070080" cy="585216"/>
            </a:xfrm>
            <a:custGeom>
              <a:avLst/>
              <a:gdLst/>
              <a:ahLst/>
              <a:cxnLst/>
              <a:rect r="r" b="b" t="t" l="l"/>
              <a:pathLst>
                <a:path h="585216" w="12070080">
                  <a:moveTo>
                    <a:pt x="0" y="0"/>
                  </a:moveTo>
                  <a:lnTo>
                    <a:pt x="12070080" y="0"/>
                  </a:lnTo>
                  <a:lnTo>
                    <a:pt x="12070080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51878" r="0" b="-351878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38100"/>
              <a:ext cx="12070080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400"/>
                </a:lnSpc>
              </a:pPr>
              <a:r>
                <a:rPr lang="en-US" sz="2000" i="true">
                  <a:solidFill>
                    <a:srgbClr val="7E8FA6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Substitua por diagrama, fluxo, tabela ou captura de tela</a:t>
              </a: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7498080" y="6343650"/>
            <a:ext cx="9784080" cy="2800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72160" indent="-386080" lvl="1">
              <a:lnSpc>
                <a:spcPts val="3840"/>
              </a:lnSpc>
              <a:buFont typeface="Arial"/>
              <a:buChar char="•"/>
            </a:pPr>
            <a:r>
              <a:rPr lang="en-US" sz="3200">
                <a:solidFill>
                  <a:srgbClr val="3A4C63"/>
                </a:solidFill>
                <a:latin typeface="Calibri (MS)"/>
                <a:ea typeface="Calibri (MS)"/>
                <a:cs typeface="Calibri (MS)"/>
                <a:sym typeface="Calibri (MS)"/>
              </a:rPr>
              <a:t>Lorem ipsum dolor sit amet, consectetur elit</a:t>
            </a:r>
          </a:p>
          <a:p>
            <a:pPr algn="l" marL="772160" indent="-386080" lvl="1">
              <a:lnSpc>
                <a:spcPts val="3840"/>
              </a:lnSpc>
              <a:buFont typeface="Arial"/>
              <a:buChar char="•"/>
            </a:pPr>
            <a:r>
              <a:rPr lang="en-US" sz="3200">
                <a:solidFill>
                  <a:srgbClr val="3A4C63"/>
                </a:solidFill>
                <a:latin typeface="Calibri (MS)"/>
                <a:ea typeface="Calibri (MS)"/>
                <a:cs typeface="Calibri (MS)"/>
                <a:sym typeface="Calibri (MS)"/>
              </a:rPr>
              <a:t>Sed do eiusmod tempor incididunt ut labore</a:t>
            </a:r>
          </a:p>
          <a:p>
            <a:pPr algn="l" marL="772160" indent="-386080" lvl="1">
              <a:lnSpc>
                <a:spcPts val="3840"/>
              </a:lnSpc>
              <a:buFont typeface="Arial"/>
              <a:buChar char="•"/>
            </a:pPr>
            <a:r>
              <a:rPr lang="en-US" sz="3200">
                <a:solidFill>
                  <a:srgbClr val="3A4C63"/>
                </a:solidFill>
                <a:latin typeface="Calibri (MS)"/>
                <a:ea typeface="Calibri (MS)"/>
                <a:cs typeface="Calibri (MS)"/>
                <a:sym typeface="Calibri (MS)"/>
              </a:rPr>
              <a:t>Ut enim ad minim veniam quis nostrud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1097280" y="9692640"/>
            <a:ext cx="10058400" cy="457200"/>
            <a:chOff x="0" y="0"/>
            <a:chExt cx="13411200" cy="6096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3411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3411200">
                  <a:moveTo>
                    <a:pt x="0" y="0"/>
                  </a:moveTo>
                  <a:lnTo>
                    <a:pt x="13411200" y="0"/>
                  </a:lnTo>
                  <a:lnTo>
                    <a:pt x="13411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78670" r="0" b="-378670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38100"/>
              <a:ext cx="13411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6E85A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Seminário de IoT — Segurança em IoT · Grupo 6</a:t>
              </a: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16367760" y="9692640"/>
            <a:ext cx="914400" cy="457200"/>
            <a:chOff x="0" y="0"/>
            <a:chExt cx="1219200" cy="60960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219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38100"/>
              <a:ext cx="1219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6E85A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33</a:t>
              </a:r>
            </a:p>
          </p:txBody>
        </p:sp>
      </p:grpSp>
    </p:spTree>
  </p:cSld>
  <p:clrMapOvr>
    <a:masterClrMapping/>
  </p:clrMapOvr>
</p:sld>
</file>

<file path=ppt/slides/slide3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F2C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7498080" cy="10287000"/>
            <a:chOff x="0" y="0"/>
            <a:chExt cx="999744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99744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9997440">
                  <a:moveTo>
                    <a:pt x="0" y="0"/>
                  </a:moveTo>
                  <a:lnTo>
                    <a:pt x="9997440" y="0"/>
                  </a:lnTo>
                  <a:lnTo>
                    <a:pt x="999744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0345B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097280" y="7132320"/>
            <a:ext cx="1097280" cy="987552"/>
            <a:chOff x="0" y="0"/>
            <a:chExt cx="1463040" cy="131673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463040" cy="1316736"/>
            </a:xfrm>
            <a:custGeom>
              <a:avLst/>
              <a:gdLst/>
              <a:ahLst/>
              <a:cxnLst/>
              <a:rect r="r" b="b" t="t" l="l"/>
              <a:pathLst>
                <a:path h="1316736" w="1463040">
                  <a:moveTo>
                    <a:pt x="0" y="658368"/>
                  </a:moveTo>
                  <a:lnTo>
                    <a:pt x="329184" y="0"/>
                  </a:lnTo>
                  <a:lnTo>
                    <a:pt x="1133856" y="0"/>
                  </a:lnTo>
                  <a:lnTo>
                    <a:pt x="1463040" y="658368"/>
                  </a:lnTo>
                  <a:lnTo>
                    <a:pt x="1133856" y="1316736"/>
                  </a:lnTo>
                  <a:lnTo>
                    <a:pt x="329184" y="1316736"/>
                  </a:lnTo>
                  <a:close/>
                </a:path>
              </a:pathLst>
            </a:custGeom>
            <a:solidFill>
              <a:srgbClr val="38BDF8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2468880" y="7955280"/>
            <a:ext cx="731520" cy="658368"/>
            <a:chOff x="0" y="0"/>
            <a:chExt cx="975360" cy="87782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975360" cy="877824"/>
            </a:xfrm>
            <a:custGeom>
              <a:avLst/>
              <a:gdLst/>
              <a:ahLst/>
              <a:cxnLst/>
              <a:rect r="r" b="b" t="t" l="l"/>
              <a:pathLst>
                <a:path h="877824" w="975360">
                  <a:moveTo>
                    <a:pt x="0" y="438912"/>
                  </a:moveTo>
                  <a:lnTo>
                    <a:pt x="219456" y="0"/>
                  </a:lnTo>
                  <a:lnTo>
                    <a:pt x="755904" y="0"/>
                  </a:lnTo>
                  <a:lnTo>
                    <a:pt x="975360" y="438912"/>
                  </a:lnTo>
                  <a:lnTo>
                    <a:pt x="755904" y="877824"/>
                  </a:lnTo>
                  <a:lnTo>
                    <a:pt x="219456" y="877824"/>
                  </a:lnTo>
                  <a:close/>
                </a:path>
              </a:pathLst>
            </a:custGeom>
            <a:solidFill>
              <a:srgbClr val="23507F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1005840" y="2468880"/>
            <a:ext cx="5852160" cy="2926080"/>
            <a:chOff x="0" y="0"/>
            <a:chExt cx="7802880" cy="390144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7802880" cy="3901440"/>
            </a:xfrm>
            <a:custGeom>
              <a:avLst/>
              <a:gdLst/>
              <a:ahLst/>
              <a:cxnLst/>
              <a:rect r="r" b="b" t="t" l="l"/>
              <a:pathLst>
                <a:path h="3901440" w="7802880">
                  <a:moveTo>
                    <a:pt x="0" y="0"/>
                  </a:moveTo>
                  <a:lnTo>
                    <a:pt x="7802880" y="0"/>
                  </a:lnTo>
                  <a:lnTo>
                    <a:pt x="7802880" y="3901440"/>
                  </a:lnTo>
                  <a:lnTo>
                    <a:pt x="0" y="39014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71475"/>
              <a:ext cx="7802880" cy="42729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080"/>
                </a:lnSpc>
              </a:pPr>
              <a:r>
                <a:rPr lang="en-US" sz="184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08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097280" y="1920240"/>
            <a:ext cx="4572000" cy="548640"/>
            <a:chOff x="0" y="0"/>
            <a:chExt cx="6096000" cy="73152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6096000" cy="731520"/>
            </a:xfrm>
            <a:custGeom>
              <a:avLst/>
              <a:gdLst/>
              <a:ahLst/>
              <a:cxnLst/>
              <a:rect r="r" b="b" t="t" l="l"/>
              <a:pathLst>
                <a:path h="731520" w="6096000">
                  <a:moveTo>
                    <a:pt x="0" y="0"/>
                  </a:moveTo>
                  <a:lnTo>
                    <a:pt x="6096000" y="0"/>
                  </a:lnTo>
                  <a:lnTo>
                    <a:pt x="60960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12375" r="0" b="-112375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6096000" cy="7696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b="true" sz="2400" spc="600">
                  <a:solidFill>
                    <a:srgbClr val="38BDF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SEÇÃO</a:t>
              </a: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8412480" y="3606165"/>
            <a:ext cx="8961120" cy="21545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640"/>
              </a:lnSpc>
            </a:pPr>
            <a:r>
              <a:rPr lang="en-US" sz="7200" b="true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Estado da Arte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412480" y="5760720"/>
            <a:ext cx="8412480" cy="1463040"/>
            <a:chOff x="0" y="0"/>
            <a:chExt cx="11216640" cy="195072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1216640" cy="1950720"/>
            </a:xfrm>
            <a:custGeom>
              <a:avLst/>
              <a:gdLst/>
              <a:ahLst/>
              <a:cxnLst/>
              <a:rect r="r" b="b" t="t" l="l"/>
              <a:pathLst>
                <a:path h="1950720" w="11216640">
                  <a:moveTo>
                    <a:pt x="0" y="0"/>
                  </a:moveTo>
                  <a:lnTo>
                    <a:pt x="11216640" y="0"/>
                  </a:lnTo>
                  <a:lnTo>
                    <a:pt x="11216640" y="1950720"/>
                  </a:lnTo>
                  <a:lnTo>
                    <a:pt x="0" y="19507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62038" r="0" b="-62038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57150"/>
              <a:ext cx="11216640" cy="20078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rPr lang="en-US" sz="2600">
                  <a:solidFill>
                    <a:srgbClr val="AFC4DC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Lorem ipsum dolor sit amet, consectetur adipiscing elit. Sed do eiusmod tempor incididunt ut labore et dolore magna aliqua.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8412480" y="2651760"/>
            <a:ext cx="804672" cy="804672"/>
            <a:chOff x="0" y="0"/>
            <a:chExt cx="1072896" cy="1072896"/>
          </a:xfrm>
        </p:grpSpPr>
        <p:sp>
          <p:nvSpPr>
            <p:cNvPr name="Freeform 19" id="19" descr="/home/claude/icons/FiTrendingUp_38BDF8.png"/>
            <p:cNvSpPr/>
            <p:nvPr/>
          </p:nvSpPr>
          <p:spPr>
            <a:xfrm flipH="false" flipV="false" rot="0">
              <a:off x="0" y="0"/>
              <a:ext cx="1072896" cy="1072896"/>
            </a:xfrm>
            <a:custGeom>
              <a:avLst/>
              <a:gdLst/>
              <a:ahLst/>
              <a:cxnLst/>
              <a:rect r="r" b="b" t="t" l="l"/>
              <a:pathLst>
                <a:path h="1072896" w="1072896">
                  <a:moveTo>
                    <a:pt x="0" y="0"/>
                  </a:moveTo>
                  <a:lnTo>
                    <a:pt x="1072896" y="0"/>
                  </a:lnTo>
                  <a:lnTo>
                    <a:pt x="1072896" y="1072896"/>
                  </a:lnTo>
                  <a:lnTo>
                    <a:pt x="0" y="10728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1097280" y="9692640"/>
            <a:ext cx="10058400" cy="457200"/>
            <a:chOff x="0" y="0"/>
            <a:chExt cx="13411200" cy="6096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3411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3411200">
                  <a:moveTo>
                    <a:pt x="0" y="0"/>
                  </a:moveTo>
                  <a:lnTo>
                    <a:pt x="13411200" y="0"/>
                  </a:lnTo>
                  <a:lnTo>
                    <a:pt x="13411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78670" r="0" b="-378670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38100"/>
              <a:ext cx="13411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6E85A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Seminário de IoT — Segurança em IoT · Grupo 6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16367760" y="9692640"/>
            <a:ext cx="914400" cy="457200"/>
            <a:chOff x="0" y="0"/>
            <a:chExt cx="1219200" cy="6096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219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1219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6E85A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34</a:t>
              </a:r>
            </a:p>
          </p:txBody>
        </p:sp>
      </p:grpSp>
    </p:spTree>
  </p:cSld>
  <p:clrMapOvr>
    <a:masterClrMapping/>
  </p:clrMapOvr>
</p:sld>
</file>

<file path=ppt/slides/slide3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05840" y="914400"/>
            <a:ext cx="621792" cy="559613"/>
            <a:chOff x="0" y="0"/>
            <a:chExt cx="829056" cy="74615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29056" cy="746125"/>
            </a:xfrm>
            <a:custGeom>
              <a:avLst/>
              <a:gdLst/>
              <a:ahLst/>
              <a:cxnLst/>
              <a:rect r="r" b="b" t="t" l="l"/>
              <a:pathLst>
                <a:path h="746125" w="829056">
                  <a:moveTo>
                    <a:pt x="0" y="373126"/>
                  </a:moveTo>
                  <a:lnTo>
                    <a:pt x="186563" y="0"/>
                  </a:lnTo>
                  <a:lnTo>
                    <a:pt x="642493" y="0"/>
                  </a:lnTo>
                  <a:lnTo>
                    <a:pt x="829056" y="373126"/>
                  </a:lnTo>
                  <a:lnTo>
                    <a:pt x="642493" y="746125"/>
                  </a:lnTo>
                  <a:lnTo>
                    <a:pt x="186563" y="746125"/>
                  </a:lnTo>
                  <a:close/>
                </a:path>
              </a:pathLst>
            </a:custGeom>
            <a:solidFill>
              <a:srgbClr val="38BDF8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865376" y="859536"/>
            <a:ext cx="13898880" cy="475488"/>
            <a:chOff x="0" y="0"/>
            <a:chExt cx="18531840" cy="63398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8531839" cy="633984"/>
            </a:xfrm>
            <a:custGeom>
              <a:avLst/>
              <a:gdLst/>
              <a:ahLst/>
              <a:cxnLst/>
              <a:rect r="r" b="b" t="t" l="l"/>
              <a:pathLst>
                <a:path h="633984" w="18531839">
                  <a:moveTo>
                    <a:pt x="0" y="0"/>
                  </a:moveTo>
                  <a:lnTo>
                    <a:pt x="18531839" y="0"/>
                  </a:lnTo>
                  <a:lnTo>
                    <a:pt x="18531839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19562" r="0" b="-519562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18531840" cy="68160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b="true" sz="2200" spc="399">
                  <a:solidFill>
                    <a:srgbClr val="4A6FA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ESTADO DA ARTE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005840" y="1426464"/>
            <a:ext cx="15727680" cy="1097280"/>
            <a:chOff x="0" y="0"/>
            <a:chExt cx="20970240" cy="146304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0970239" cy="1463040"/>
            </a:xfrm>
            <a:custGeom>
              <a:avLst/>
              <a:gdLst/>
              <a:ahLst/>
              <a:cxnLst/>
              <a:rect r="r" b="b" t="t" l="l"/>
              <a:pathLst>
                <a:path h="1463040" w="20970239">
                  <a:moveTo>
                    <a:pt x="0" y="0"/>
                  </a:moveTo>
                  <a:lnTo>
                    <a:pt x="20970239" y="0"/>
                  </a:lnTo>
                  <a:lnTo>
                    <a:pt x="20970239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29285" r="0" b="-229285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42875"/>
              <a:ext cx="20970240" cy="16059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920"/>
                </a:lnSpc>
              </a:pPr>
              <a:r>
                <a:rPr lang="en-US" sz="66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Pesquisas e Tendências</a:t>
              </a: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1005840" y="2758440"/>
            <a:ext cx="7955280" cy="2179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00"/>
              </a:lnSpc>
            </a:pPr>
            <a:r>
              <a:rPr lang="en-US" sz="4000">
                <a:solidFill>
                  <a:srgbClr val="3A4C63"/>
                </a:solidFill>
                <a:latin typeface="Calibri (MS)"/>
                <a:ea typeface="Calibri (MS)"/>
                <a:cs typeface="Calibri (MS)"/>
                <a:sym typeface="Calibri (MS)"/>
              </a:rPr>
              <a:t>Lorem ipsum dolor sit amet, consectetur adipiscing elit. Sed do eiusmod tempor incididunt ut labore et dolore magna aliqua. Ut enim ad minim veniam, quis nostrud exercitation.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05840" y="5135880"/>
            <a:ext cx="7955280" cy="3916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965200" indent="-482600" lvl="1">
              <a:lnSpc>
                <a:spcPts val="4800"/>
              </a:lnSpc>
              <a:buFont typeface="Arial"/>
              <a:buChar char="•"/>
            </a:pPr>
            <a:r>
              <a:rPr lang="en-US" sz="4000">
                <a:solidFill>
                  <a:srgbClr val="3A4C63"/>
                </a:solidFill>
                <a:latin typeface="Calibri (MS)"/>
                <a:ea typeface="Calibri (MS)"/>
                <a:cs typeface="Calibri (MS)"/>
                <a:sym typeface="Calibri (MS)"/>
              </a:rPr>
              <a:t>Lorem ipsum dolor sit amet, consectetur elit</a:t>
            </a:r>
          </a:p>
          <a:p>
            <a:pPr algn="l" marL="965200" indent="-482600" lvl="1">
              <a:lnSpc>
                <a:spcPts val="4800"/>
              </a:lnSpc>
              <a:buFont typeface="Arial"/>
              <a:buChar char="•"/>
            </a:pPr>
            <a:r>
              <a:rPr lang="en-US" sz="4000">
                <a:solidFill>
                  <a:srgbClr val="3A4C63"/>
                </a:solidFill>
                <a:latin typeface="Calibri (MS)"/>
                <a:ea typeface="Calibri (MS)"/>
                <a:cs typeface="Calibri (MS)"/>
                <a:sym typeface="Calibri (MS)"/>
              </a:rPr>
              <a:t>Sed do eiusmod tempor incididunt ut labore</a:t>
            </a:r>
          </a:p>
          <a:p>
            <a:pPr algn="l" marL="965200" indent="-482600" lvl="1">
              <a:lnSpc>
                <a:spcPts val="4800"/>
              </a:lnSpc>
              <a:buFont typeface="Arial"/>
              <a:buChar char="•"/>
            </a:pPr>
            <a:r>
              <a:rPr lang="en-US" sz="4000">
                <a:solidFill>
                  <a:srgbClr val="3A4C63"/>
                </a:solidFill>
                <a:latin typeface="Calibri (MS)"/>
                <a:ea typeface="Calibri (MS)"/>
                <a:cs typeface="Calibri (MS)"/>
                <a:sym typeface="Calibri (MS)"/>
              </a:rPr>
              <a:t>Ut enim ad minim veniam quis nostrud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9493882" y="2818762"/>
            <a:ext cx="7804147" cy="6249667"/>
            <a:chOff x="0" y="0"/>
            <a:chExt cx="10405529" cy="8332889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0405491" cy="8332851"/>
            </a:xfrm>
            <a:custGeom>
              <a:avLst/>
              <a:gdLst/>
              <a:ahLst/>
              <a:cxnLst/>
              <a:rect r="r" b="b" t="t" l="l"/>
              <a:pathLst>
                <a:path h="8332851" w="10405491">
                  <a:moveTo>
                    <a:pt x="0" y="196088"/>
                  </a:moveTo>
                  <a:cubicBezTo>
                    <a:pt x="0" y="87757"/>
                    <a:pt x="87757" y="0"/>
                    <a:pt x="196088" y="0"/>
                  </a:cubicBezTo>
                  <a:lnTo>
                    <a:pt x="10209403" y="0"/>
                  </a:lnTo>
                  <a:cubicBezTo>
                    <a:pt x="10317735" y="0"/>
                    <a:pt x="10405491" y="87757"/>
                    <a:pt x="10405491" y="196088"/>
                  </a:cubicBezTo>
                  <a:lnTo>
                    <a:pt x="10405491" y="8136763"/>
                  </a:lnTo>
                  <a:cubicBezTo>
                    <a:pt x="10405491" y="8245094"/>
                    <a:pt x="10317735" y="8332851"/>
                    <a:pt x="10209403" y="8332851"/>
                  </a:cubicBezTo>
                  <a:lnTo>
                    <a:pt x="196088" y="8332851"/>
                  </a:lnTo>
                  <a:cubicBezTo>
                    <a:pt x="87757" y="8332851"/>
                    <a:pt x="0" y="8245094"/>
                    <a:pt x="0" y="8136763"/>
                  </a:cubicBezTo>
                  <a:close/>
                </a:path>
              </a:pathLst>
            </a:custGeom>
            <a:solidFill>
              <a:srgbClr val="F7FAFD"/>
            </a:solidFill>
            <a:ln w="31750" cap="sq">
              <a:solidFill>
                <a:srgbClr val="A9C1DC"/>
              </a:solidFill>
              <a:prstDash val="dash"/>
              <a:miter/>
            </a:ln>
          </p:spPr>
        </p:sp>
      </p:grpSp>
      <p:grpSp>
        <p:nvGrpSpPr>
          <p:cNvPr name="Group 14" id="14"/>
          <p:cNvGrpSpPr/>
          <p:nvPr/>
        </p:nvGrpSpPr>
        <p:grpSpPr>
          <a:xfrm rot="0">
            <a:off x="12993624" y="5175504"/>
            <a:ext cx="804672" cy="804672"/>
            <a:chOff x="0" y="0"/>
            <a:chExt cx="1072896" cy="1072896"/>
          </a:xfrm>
        </p:grpSpPr>
        <p:sp>
          <p:nvSpPr>
            <p:cNvPr name="Freeform 15" id="15" descr="/home/claude/icons/FiBarChart2_64748B.png"/>
            <p:cNvSpPr/>
            <p:nvPr/>
          </p:nvSpPr>
          <p:spPr>
            <a:xfrm flipH="false" flipV="false" rot="0">
              <a:off x="0" y="0"/>
              <a:ext cx="1072896" cy="1072896"/>
            </a:xfrm>
            <a:custGeom>
              <a:avLst/>
              <a:gdLst/>
              <a:ahLst/>
              <a:cxnLst/>
              <a:rect r="r" b="b" t="t" l="l"/>
              <a:pathLst>
                <a:path h="1072896" w="1072896">
                  <a:moveTo>
                    <a:pt x="0" y="0"/>
                  </a:moveTo>
                  <a:lnTo>
                    <a:pt x="1072896" y="0"/>
                  </a:lnTo>
                  <a:lnTo>
                    <a:pt x="1072896" y="1072896"/>
                  </a:lnTo>
                  <a:lnTo>
                    <a:pt x="0" y="10728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9875520" y="6035040"/>
            <a:ext cx="7040880" cy="548640"/>
            <a:chOff x="0" y="0"/>
            <a:chExt cx="9387840" cy="73152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9387840" cy="731520"/>
            </a:xfrm>
            <a:custGeom>
              <a:avLst/>
              <a:gdLst/>
              <a:ahLst/>
              <a:cxnLst/>
              <a:rect r="r" b="b" t="t" l="l"/>
              <a:pathLst>
                <a:path h="731520" w="9387840">
                  <a:moveTo>
                    <a:pt x="0" y="0"/>
                  </a:moveTo>
                  <a:lnTo>
                    <a:pt x="9387840" y="0"/>
                  </a:lnTo>
                  <a:lnTo>
                    <a:pt x="938784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00057" r="0" b="-200057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57150"/>
              <a:ext cx="9387840" cy="7886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120"/>
                </a:lnSpc>
              </a:pPr>
              <a:r>
                <a:rPr lang="en-US" sz="2600" b="true">
                  <a:solidFill>
                    <a:srgbClr val="7E8F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Inserir gráfico de tendências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9875520" y="6565392"/>
            <a:ext cx="7040880" cy="438912"/>
            <a:chOff x="0" y="0"/>
            <a:chExt cx="9387840" cy="585216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9387840" cy="585216"/>
            </a:xfrm>
            <a:custGeom>
              <a:avLst/>
              <a:gdLst/>
              <a:ahLst/>
              <a:cxnLst/>
              <a:rect r="r" b="b" t="t" l="l"/>
              <a:pathLst>
                <a:path h="585216" w="9387840">
                  <a:moveTo>
                    <a:pt x="0" y="0"/>
                  </a:moveTo>
                  <a:lnTo>
                    <a:pt x="9387840" y="0"/>
                  </a:lnTo>
                  <a:lnTo>
                    <a:pt x="9387840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62572" r="0" b="-262572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38100"/>
              <a:ext cx="9387840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400"/>
                </a:lnSpc>
              </a:pPr>
              <a:r>
                <a:rPr lang="en-US" sz="2000" i="true">
                  <a:solidFill>
                    <a:srgbClr val="7E8FA6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Substitua por diagrama, fluxo, tabela ou captura de tela</a:t>
              </a: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005840" y="9692640"/>
            <a:ext cx="10058400" cy="457200"/>
            <a:chOff x="0" y="0"/>
            <a:chExt cx="13411200" cy="6096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3411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3411200">
                  <a:moveTo>
                    <a:pt x="0" y="0"/>
                  </a:moveTo>
                  <a:lnTo>
                    <a:pt x="13411200" y="0"/>
                  </a:lnTo>
                  <a:lnTo>
                    <a:pt x="13411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78670" r="0" b="-378670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13411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7E8F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Seminário de IoT — Segurança em IoT · Grupo 6</a:t>
              </a: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6367760" y="9692640"/>
            <a:ext cx="914400" cy="457200"/>
            <a:chOff x="0" y="0"/>
            <a:chExt cx="1219200" cy="6096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219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1219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7E8F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35</a:t>
              </a:r>
            </a:p>
          </p:txBody>
        </p:sp>
      </p:grpSp>
    </p:spTree>
  </p:cSld>
  <p:clrMapOvr>
    <a:masterClrMapping/>
  </p:clrMapOvr>
</p:sld>
</file>

<file path=ppt/slides/slide3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05840" y="914400"/>
            <a:ext cx="621792" cy="559613"/>
            <a:chOff x="0" y="0"/>
            <a:chExt cx="829056" cy="74615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29056" cy="746125"/>
            </a:xfrm>
            <a:custGeom>
              <a:avLst/>
              <a:gdLst/>
              <a:ahLst/>
              <a:cxnLst/>
              <a:rect r="r" b="b" t="t" l="l"/>
              <a:pathLst>
                <a:path h="746125" w="829056">
                  <a:moveTo>
                    <a:pt x="0" y="373126"/>
                  </a:moveTo>
                  <a:lnTo>
                    <a:pt x="186563" y="0"/>
                  </a:lnTo>
                  <a:lnTo>
                    <a:pt x="642493" y="0"/>
                  </a:lnTo>
                  <a:lnTo>
                    <a:pt x="829056" y="373126"/>
                  </a:lnTo>
                  <a:lnTo>
                    <a:pt x="642493" y="746125"/>
                  </a:lnTo>
                  <a:lnTo>
                    <a:pt x="186563" y="746125"/>
                  </a:lnTo>
                  <a:close/>
                </a:path>
              </a:pathLst>
            </a:custGeom>
            <a:solidFill>
              <a:srgbClr val="38BDF8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865376" y="859536"/>
            <a:ext cx="13898880" cy="475488"/>
            <a:chOff x="0" y="0"/>
            <a:chExt cx="18531840" cy="63398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8531839" cy="633984"/>
            </a:xfrm>
            <a:custGeom>
              <a:avLst/>
              <a:gdLst/>
              <a:ahLst/>
              <a:cxnLst/>
              <a:rect r="r" b="b" t="t" l="l"/>
              <a:pathLst>
                <a:path h="633984" w="18531839">
                  <a:moveTo>
                    <a:pt x="0" y="0"/>
                  </a:moveTo>
                  <a:lnTo>
                    <a:pt x="18531839" y="0"/>
                  </a:lnTo>
                  <a:lnTo>
                    <a:pt x="18531839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19562" r="0" b="-519562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18531840" cy="68160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b="true" sz="2200" spc="399">
                  <a:solidFill>
                    <a:srgbClr val="4A6FA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ESTADO DA ARTE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005840" y="1426464"/>
            <a:ext cx="15727680" cy="1097280"/>
            <a:chOff x="0" y="0"/>
            <a:chExt cx="20970240" cy="146304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0970239" cy="1463040"/>
            </a:xfrm>
            <a:custGeom>
              <a:avLst/>
              <a:gdLst/>
              <a:ahLst/>
              <a:cxnLst/>
              <a:rect r="r" b="b" t="t" l="l"/>
              <a:pathLst>
                <a:path h="1463040" w="20970239">
                  <a:moveTo>
                    <a:pt x="0" y="0"/>
                  </a:moveTo>
                  <a:lnTo>
                    <a:pt x="20970239" y="0"/>
                  </a:lnTo>
                  <a:lnTo>
                    <a:pt x="20970239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29285" r="0" b="-229285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42875"/>
              <a:ext cx="20970240" cy="16059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920"/>
                </a:lnSpc>
              </a:pPr>
              <a:r>
                <a:rPr lang="en-US" sz="66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Empresas e Produtos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993143" y="2821943"/>
            <a:ext cx="7980683" cy="3097787"/>
            <a:chOff x="0" y="0"/>
            <a:chExt cx="10640911" cy="413038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0640949" cy="4130421"/>
            </a:xfrm>
            <a:custGeom>
              <a:avLst/>
              <a:gdLst/>
              <a:ahLst/>
              <a:cxnLst/>
              <a:rect r="r" b="b" t="t" l="l"/>
              <a:pathLst>
                <a:path h="4130421" w="10640949">
                  <a:moveTo>
                    <a:pt x="0" y="196723"/>
                  </a:moveTo>
                  <a:cubicBezTo>
                    <a:pt x="0" y="88011"/>
                    <a:pt x="88011" y="0"/>
                    <a:pt x="196723" y="0"/>
                  </a:cubicBezTo>
                  <a:lnTo>
                    <a:pt x="10444226" y="0"/>
                  </a:lnTo>
                  <a:cubicBezTo>
                    <a:pt x="10552811" y="0"/>
                    <a:pt x="10640949" y="88011"/>
                    <a:pt x="10640949" y="196723"/>
                  </a:cubicBezTo>
                  <a:lnTo>
                    <a:pt x="10640949" y="3933698"/>
                  </a:lnTo>
                  <a:cubicBezTo>
                    <a:pt x="10640949" y="4042283"/>
                    <a:pt x="10552938" y="4130421"/>
                    <a:pt x="10444226" y="4130421"/>
                  </a:cubicBezTo>
                  <a:lnTo>
                    <a:pt x="196723" y="4130421"/>
                  </a:lnTo>
                  <a:cubicBezTo>
                    <a:pt x="88011" y="4130421"/>
                    <a:pt x="0" y="4042283"/>
                    <a:pt x="0" y="3933698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3DEEA"/>
              </a:solidFill>
              <a:prstDash val="solid"/>
              <a:miter/>
            </a:ln>
          </p:spPr>
        </p:sp>
      </p:grpSp>
      <p:grpSp>
        <p:nvGrpSpPr>
          <p:cNvPr name="Group 12" id="12"/>
          <p:cNvGrpSpPr/>
          <p:nvPr/>
        </p:nvGrpSpPr>
        <p:grpSpPr>
          <a:xfrm rot="0">
            <a:off x="1463040" y="3291840"/>
            <a:ext cx="1133856" cy="1133856"/>
            <a:chOff x="0" y="0"/>
            <a:chExt cx="1511808" cy="1511808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511808" cy="1511808"/>
            </a:xfrm>
            <a:custGeom>
              <a:avLst/>
              <a:gdLst/>
              <a:ahLst/>
              <a:cxnLst/>
              <a:rect r="r" b="b" t="t" l="l"/>
              <a:pathLst>
                <a:path h="1511808" w="1511808">
                  <a:moveTo>
                    <a:pt x="0" y="755904"/>
                  </a:moveTo>
                  <a:cubicBezTo>
                    <a:pt x="0" y="338455"/>
                    <a:pt x="338455" y="0"/>
                    <a:pt x="755904" y="0"/>
                  </a:cubicBezTo>
                  <a:cubicBezTo>
                    <a:pt x="1173353" y="0"/>
                    <a:pt x="1511808" y="338455"/>
                    <a:pt x="1511808" y="755904"/>
                  </a:cubicBezTo>
                  <a:cubicBezTo>
                    <a:pt x="1511808" y="1173353"/>
                    <a:pt x="1173353" y="1511808"/>
                    <a:pt x="755904" y="1511808"/>
                  </a:cubicBezTo>
                  <a:cubicBezTo>
                    <a:pt x="338455" y="1511808"/>
                    <a:pt x="0" y="1173353"/>
                    <a:pt x="0" y="755904"/>
                  </a:cubicBezTo>
                  <a:close/>
                </a:path>
              </a:pathLst>
            </a:custGeom>
            <a:solidFill>
              <a:srgbClr val="4A6FA5"/>
            </a:solid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1755648" y="3584448"/>
            <a:ext cx="548640" cy="548640"/>
            <a:chOff x="0" y="0"/>
            <a:chExt cx="731520" cy="731520"/>
          </a:xfrm>
        </p:grpSpPr>
        <p:sp>
          <p:nvSpPr>
            <p:cNvPr name="Freeform 15" id="15" descr="/home/claude/icons/FiGlobe_FFFFFF.png"/>
            <p:cNvSpPr/>
            <p:nvPr/>
          </p:nvSpPr>
          <p:spPr>
            <a:xfrm flipH="false" flipV="false" rot="0">
              <a:off x="0" y="0"/>
              <a:ext cx="731520" cy="731520"/>
            </a:xfrm>
            <a:custGeom>
              <a:avLst/>
              <a:gdLst/>
              <a:ahLst/>
              <a:cxnLst/>
              <a:rect r="r" b="b" t="t" l="l"/>
              <a:pathLst>
                <a:path h="73152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731520"/>
                  </a:lnTo>
                  <a:lnTo>
                    <a:pt x="0" y="7315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2926080" y="3291840"/>
            <a:ext cx="5577840" cy="640080"/>
            <a:chOff x="0" y="0"/>
            <a:chExt cx="7437120" cy="85344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7437120" cy="853440"/>
            </a:xfrm>
            <a:custGeom>
              <a:avLst/>
              <a:gdLst/>
              <a:ahLst/>
              <a:cxnLst/>
              <a:rect r="r" b="b" t="t" l="l"/>
              <a:pathLst>
                <a:path h="853440" w="7437120">
                  <a:moveTo>
                    <a:pt x="0" y="0"/>
                  </a:moveTo>
                  <a:lnTo>
                    <a:pt x="7437120" y="0"/>
                  </a:lnTo>
                  <a:lnTo>
                    <a:pt x="743712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19798" r="0" b="-119798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76200"/>
              <a:ext cx="7437120" cy="9296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800"/>
                </a:lnSpc>
              </a:pPr>
              <a:r>
                <a:rPr lang="en-US" sz="40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Objetivo 01 — Lorem ipsum</a:t>
              </a: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2926080" y="3957447"/>
            <a:ext cx="5577840" cy="16935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7E8FA6"/>
                </a:solidFill>
                <a:latin typeface="Calibri (MS)"/>
                <a:ea typeface="Calibri (MS)"/>
                <a:cs typeface="Calibri (MS)"/>
                <a:sym typeface="Calibri (MS)"/>
              </a:rPr>
              <a:t>Lorem ipsum dolor sit amet, consectetur adipiscing elit. Sed do eiusmod tempor incididunt ut labore et dolore magna aliqua.</a:t>
            </a:r>
          </a:p>
        </p:txBody>
      </p:sp>
      <p:grpSp>
        <p:nvGrpSpPr>
          <p:cNvPr name="Group 20" id="20"/>
          <p:cNvGrpSpPr/>
          <p:nvPr/>
        </p:nvGrpSpPr>
        <p:grpSpPr>
          <a:xfrm rot="0">
            <a:off x="9314183" y="2821943"/>
            <a:ext cx="7980683" cy="3097787"/>
            <a:chOff x="0" y="0"/>
            <a:chExt cx="10640911" cy="4130383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0640949" cy="4130421"/>
            </a:xfrm>
            <a:custGeom>
              <a:avLst/>
              <a:gdLst/>
              <a:ahLst/>
              <a:cxnLst/>
              <a:rect r="r" b="b" t="t" l="l"/>
              <a:pathLst>
                <a:path h="4130421" w="10640949">
                  <a:moveTo>
                    <a:pt x="0" y="196723"/>
                  </a:moveTo>
                  <a:cubicBezTo>
                    <a:pt x="0" y="88011"/>
                    <a:pt x="88011" y="0"/>
                    <a:pt x="196723" y="0"/>
                  </a:cubicBezTo>
                  <a:lnTo>
                    <a:pt x="10444226" y="0"/>
                  </a:lnTo>
                  <a:cubicBezTo>
                    <a:pt x="10552811" y="0"/>
                    <a:pt x="10640949" y="88011"/>
                    <a:pt x="10640949" y="196723"/>
                  </a:cubicBezTo>
                  <a:lnTo>
                    <a:pt x="10640949" y="3933698"/>
                  </a:lnTo>
                  <a:cubicBezTo>
                    <a:pt x="10640949" y="4042283"/>
                    <a:pt x="10552938" y="4130421"/>
                    <a:pt x="10444226" y="4130421"/>
                  </a:cubicBezTo>
                  <a:lnTo>
                    <a:pt x="196723" y="4130421"/>
                  </a:lnTo>
                  <a:cubicBezTo>
                    <a:pt x="88011" y="4130421"/>
                    <a:pt x="0" y="4042283"/>
                    <a:pt x="0" y="3933698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3DEEA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9784080" y="3291840"/>
            <a:ext cx="1133856" cy="1133856"/>
            <a:chOff x="0" y="0"/>
            <a:chExt cx="1511808" cy="1511808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511808" cy="1511808"/>
            </a:xfrm>
            <a:custGeom>
              <a:avLst/>
              <a:gdLst/>
              <a:ahLst/>
              <a:cxnLst/>
              <a:rect r="r" b="b" t="t" l="l"/>
              <a:pathLst>
                <a:path h="1511808" w="1511808">
                  <a:moveTo>
                    <a:pt x="0" y="755904"/>
                  </a:moveTo>
                  <a:cubicBezTo>
                    <a:pt x="0" y="338455"/>
                    <a:pt x="338455" y="0"/>
                    <a:pt x="755904" y="0"/>
                  </a:cubicBezTo>
                  <a:cubicBezTo>
                    <a:pt x="1173353" y="0"/>
                    <a:pt x="1511808" y="338455"/>
                    <a:pt x="1511808" y="755904"/>
                  </a:cubicBezTo>
                  <a:cubicBezTo>
                    <a:pt x="1511808" y="1173353"/>
                    <a:pt x="1173353" y="1511808"/>
                    <a:pt x="755904" y="1511808"/>
                  </a:cubicBezTo>
                  <a:cubicBezTo>
                    <a:pt x="338455" y="1511808"/>
                    <a:pt x="0" y="1173353"/>
                    <a:pt x="0" y="755904"/>
                  </a:cubicBezTo>
                  <a:close/>
                </a:path>
              </a:pathLst>
            </a:custGeom>
            <a:solidFill>
              <a:srgbClr val="4A6FA5"/>
            </a:solid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10076688" y="3584448"/>
            <a:ext cx="548640" cy="548640"/>
            <a:chOff x="0" y="0"/>
            <a:chExt cx="731520" cy="731520"/>
          </a:xfrm>
        </p:grpSpPr>
        <p:sp>
          <p:nvSpPr>
            <p:cNvPr name="Freeform 25" id="25" descr="/home/claude/icons/FiBox_FFFFFF.png"/>
            <p:cNvSpPr/>
            <p:nvPr/>
          </p:nvSpPr>
          <p:spPr>
            <a:xfrm flipH="false" flipV="false" rot="0">
              <a:off x="0" y="0"/>
              <a:ext cx="731520" cy="731520"/>
            </a:xfrm>
            <a:custGeom>
              <a:avLst/>
              <a:gdLst/>
              <a:ahLst/>
              <a:cxnLst/>
              <a:rect r="r" b="b" t="t" l="l"/>
              <a:pathLst>
                <a:path h="73152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731520"/>
                  </a:lnTo>
                  <a:lnTo>
                    <a:pt x="0" y="7315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11247120" y="3291840"/>
            <a:ext cx="5577840" cy="640080"/>
            <a:chOff x="0" y="0"/>
            <a:chExt cx="7437120" cy="85344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7437120" cy="853440"/>
            </a:xfrm>
            <a:custGeom>
              <a:avLst/>
              <a:gdLst/>
              <a:ahLst/>
              <a:cxnLst/>
              <a:rect r="r" b="b" t="t" l="l"/>
              <a:pathLst>
                <a:path h="853440" w="7437120">
                  <a:moveTo>
                    <a:pt x="0" y="0"/>
                  </a:moveTo>
                  <a:lnTo>
                    <a:pt x="7437120" y="0"/>
                  </a:lnTo>
                  <a:lnTo>
                    <a:pt x="743712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19798" r="0" b="-119798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76200"/>
              <a:ext cx="7437120" cy="9296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800"/>
                </a:lnSpc>
              </a:pPr>
              <a:r>
                <a:rPr lang="en-US" sz="40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Objetivo 02 — Lorem ipsum</a:t>
              </a:r>
            </a:p>
          </p:txBody>
        </p:sp>
      </p:grpSp>
      <p:sp>
        <p:nvSpPr>
          <p:cNvPr name="TextBox 29" id="29"/>
          <p:cNvSpPr txBox="true"/>
          <p:nvPr/>
        </p:nvSpPr>
        <p:spPr>
          <a:xfrm rot="0">
            <a:off x="11247120" y="3957447"/>
            <a:ext cx="5577840" cy="16935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7E8FA6"/>
                </a:solidFill>
                <a:latin typeface="Calibri (MS)"/>
                <a:ea typeface="Calibri (MS)"/>
                <a:cs typeface="Calibri (MS)"/>
                <a:sym typeface="Calibri (MS)"/>
              </a:rPr>
              <a:t>Lorem ipsum dolor sit amet, consectetur adipiscing elit. Sed do eiusmod tempor incididunt ut labore et dolore magna aliqua.</a:t>
            </a:r>
          </a:p>
        </p:txBody>
      </p:sp>
      <p:grpSp>
        <p:nvGrpSpPr>
          <p:cNvPr name="Group 30" id="30"/>
          <p:cNvGrpSpPr/>
          <p:nvPr/>
        </p:nvGrpSpPr>
        <p:grpSpPr>
          <a:xfrm rot="0">
            <a:off x="993143" y="6260087"/>
            <a:ext cx="7980683" cy="3097787"/>
            <a:chOff x="0" y="0"/>
            <a:chExt cx="10640911" cy="4130383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0640949" cy="4130421"/>
            </a:xfrm>
            <a:custGeom>
              <a:avLst/>
              <a:gdLst/>
              <a:ahLst/>
              <a:cxnLst/>
              <a:rect r="r" b="b" t="t" l="l"/>
              <a:pathLst>
                <a:path h="4130421" w="10640949">
                  <a:moveTo>
                    <a:pt x="0" y="196723"/>
                  </a:moveTo>
                  <a:cubicBezTo>
                    <a:pt x="0" y="88011"/>
                    <a:pt x="88011" y="0"/>
                    <a:pt x="196723" y="0"/>
                  </a:cubicBezTo>
                  <a:lnTo>
                    <a:pt x="10444226" y="0"/>
                  </a:lnTo>
                  <a:cubicBezTo>
                    <a:pt x="10552811" y="0"/>
                    <a:pt x="10640949" y="88011"/>
                    <a:pt x="10640949" y="196723"/>
                  </a:cubicBezTo>
                  <a:lnTo>
                    <a:pt x="10640949" y="3933698"/>
                  </a:lnTo>
                  <a:cubicBezTo>
                    <a:pt x="10640949" y="4042283"/>
                    <a:pt x="10552938" y="4130421"/>
                    <a:pt x="10444226" y="4130421"/>
                  </a:cubicBezTo>
                  <a:lnTo>
                    <a:pt x="196723" y="4130421"/>
                  </a:lnTo>
                  <a:cubicBezTo>
                    <a:pt x="88011" y="4130421"/>
                    <a:pt x="0" y="4042283"/>
                    <a:pt x="0" y="3933698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3DEEA"/>
              </a:solidFill>
              <a:prstDash val="solid"/>
              <a:miter/>
            </a:ln>
          </p:spPr>
        </p:sp>
      </p:grpSp>
      <p:grpSp>
        <p:nvGrpSpPr>
          <p:cNvPr name="Group 32" id="32"/>
          <p:cNvGrpSpPr/>
          <p:nvPr/>
        </p:nvGrpSpPr>
        <p:grpSpPr>
          <a:xfrm rot="0">
            <a:off x="1463040" y="6729984"/>
            <a:ext cx="1133856" cy="1133856"/>
            <a:chOff x="0" y="0"/>
            <a:chExt cx="1511808" cy="1511808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511808" cy="1511808"/>
            </a:xfrm>
            <a:custGeom>
              <a:avLst/>
              <a:gdLst/>
              <a:ahLst/>
              <a:cxnLst/>
              <a:rect r="r" b="b" t="t" l="l"/>
              <a:pathLst>
                <a:path h="1511808" w="1511808">
                  <a:moveTo>
                    <a:pt x="0" y="755904"/>
                  </a:moveTo>
                  <a:cubicBezTo>
                    <a:pt x="0" y="338455"/>
                    <a:pt x="338455" y="0"/>
                    <a:pt x="755904" y="0"/>
                  </a:cubicBezTo>
                  <a:cubicBezTo>
                    <a:pt x="1173353" y="0"/>
                    <a:pt x="1511808" y="338455"/>
                    <a:pt x="1511808" y="755904"/>
                  </a:cubicBezTo>
                  <a:cubicBezTo>
                    <a:pt x="1511808" y="1173353"/>
                    <a:pt x="1173353" y="1511808"/>
                    <a:pt x="755904" y="1511808"/>
                  </a:cubicBezTo>
                  <a:cubicBezTo>
                    <a:pt x="338455" y="1511808"/>
                    <a:pt x="0" y="1173353"/>
                    <a:pt x="0" y="755904"/>
                  </a:cubicBezTo>
                  <a:close/>
                </a:path>
              </a:pathLst>
            </a:custGeom>
            <a:solidFill>
              <a:srgbClr val="4A6FA5"/>
            </a:solidFill>
          </p:spPr>
        </p:sp>
      </p:grpSp>
      <p:grpSp>
        <p:nvGrpSpPr>
          <p:cNvPr name="Group 34" id="34"/>
          <p:cNvGrpSpPr/>
          <p:nvPr/>
        </p:nvGrpSpPr>
        <p:grpSpPr>
          <a:xfrm rot="0">
            <a:off x="1755648" y="7022592"/>
            <a:ext cx="548640" cy="548640"/>
            <a:chOff x="0" y="0"/>
            <a:chExt cx="731520" cy="731520"/>
          </a:xfrm>
        </p:grpSpPr>
        <p:sp>
          <p:nvSpPr>
            <p:cNvPr name="Freeform 35" id="35" descr="/home/claude/icons/FiMonitor_FFFFFF.png"/>
            <p:cNvSpPr/>
            <p:nvPr/>
          </p:nvSpPr>
          <p:spPr>
            <a:xfrm flipH="false" flipV="false" rot="0">
              <a:off x="0" y="0"/>
              <a:ext cx="731520" cy="731520"/>
            </a:xfrm>
            <a:custGeom>
              <a:avLst/>
              <a:gdLst/>
              <a:ahLst/>
              <a:cxnLst/>
              <a:rect r="r" b="b" t="t" l="l"/>
              <a:pathLst>
                <a:path h="73152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731520"/>
                  </a:lnTo>
                  <a:lnTo>
                    <a:pt x="0" y="7315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36" id="36"/>
          <p:cNvGrpSpPr/>
          <p:nvPr/>
        </p:nvGrpSpPr>
        <p:grpSpPr>
          <a:xfrm rot="0">
            <a:off x="2926080" y="6729984"/>
            <a:ext cx="5577840" cy="640080"/>
            <a:chOff x="0" y="0"/>
            <a:chExt cx="7437120" cy="85344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7437120" cy="853440"/>
            </a:xfrm>
            <a:custGeom>
              <a:avLst/>
              <a:gdLst/>
              <a:ahLst/>
              <a:cxnLst/>
              <a:rect r="r" b="b" t="t" l="l"/>
              <a:pathLst>
                <a:path h="853440" w="7437120">
                  <a:moveTo>
                    <a:pt x="0" y="0"/>
                  </a:moveTo>
                  <a:lnTo>
                    <a:pt x="7437120" y="0"/>
                  </a:lnTo>
                  <a:lnTo>
                    <a:pt x="743712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19798" r="0" b="-119798"/>
              </a:stretch>
            </a:blip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76200"/>
              <a:ext cx="7437120" cy="9296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800"/>
                </a:lnSpc>
              </a:pPr>
              <a:r>
                <a:rPr lang="en-US" sz="40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Objetivo 03 — Lorem ipsum</a:t>
              </a:r>
            </a:p>
          </p:txBody>
        </p:sp>
      </p:grpSp>
      <p:sp>
        <p:nvSpPr>
          <p:cNvPr name="TextBox 39" id="39"/>
          <p:cNvSpPr txBox="true"/>
          <p:nvPr/>
        </p:nvSpPr>
        <p:spPr>
          <a:xfrm rot="0">
            <a:off x="2926080" y="7395591"/>
            <a:ext cx="5577840" cy="16935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7E8FA6"/>
                </a:solidFill>
                <a:latin typeface="Calibri (MS)"/>
                <a:ea typeface="Calibri (MS)"/>
                <a:cs typeface="Calibri (MS)"/>
                <a:sym typeface="Calibri (MS)"/>
              </a:rPr>
              <a:t>Lorem ipsum dolor sit amet, consectetur adipiscing elit. Sed do eiusmod tempor incididunt ut labore et dolore magna aliqua.</a:t>
            </a:r>
          </a:p>
        </p:txBody>
      </p:sp>
      <p:grpSp>
        <p:nvGrpSpPr>
          <p:cNvPr name="Group 40" id="40"/>
          <p:cNvGrpSpPr/>
          <p:nvPr/>
        </p:nvGrpSpPr>
        <p:grpSpPr>
          <a:xfrm rot="0">
            <a:off x="9314183" y="6260087"/>
            <a:ext cx="7980683" cy="3097787"/>
            <a:chOff x="0" y="0"/>
            <a:chExt cx="10640911" cy="4130383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10640949" cy="4130421"/>
            </a:xfrm>
            <a:custGeom>
              <a:avLst/>
              <a:gdLst/>
              <a:ahLst/>
              <a:cxnLst/>
              <a:rect r="r" b="b" t="t" l="l"/>
              <a:pathLst>
                <a:path h="4130421" w="10640949">
                  <a:moveTo>
                    <a:pt x="0" y="196723"/>
                  </a:moveTo>
                  <a:cubicBezTo>
                    <a:pt x="0" y="88011"/>
                    <a:pt x="88011" y="0"/>
                    <a:pt x="196723" y="0"/>
                  </a:cubicBezTo>
                  <a:lnTo>
                    <a:pt x="10444226" y="0"/>
                  </a:lnTo>
                  <a:cubicBezTo>
                    <a:pt x="10552811" y="0"/>
                    <a:pt x="10640949" y="88011"/>
                    <a:pt x="10640949" y="196723"/>
                  </a:cubicBezTo>
                  <a:lnTo>
                    <a:pt x="10640949" y="3933698"/>
                  </a:lnTo>
                  <a:cubicBezTo>
                    <a:pt x="10640949" y="4042283"/>
                    <a:pt x="10552938" y="4130421"/>
                    <a:pt x="10444226" y="4130421"/>
                  </a:cubicBezTo>
                  <a:lnTo>
                    <a:pt x="196723" y="4130421"/>
                  </a:lnTo>
                  <a:cubicBezTo>
                    <a:pt x="88011" y="4130421"/>
                    <a:pt x="0" y="4042283"/>
                    <a:pt x="0" y="3933698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3DEEA"/>
              </a:solidFill>
              <a:prstDash val="solid"/>
              <a:miter/>
            </a:ln>
          </p:spPr>
        </p:sp>
      </p:grpSp>
      <p:grpSp>
        <p:nvGrpSpPr>
          <p:cNvPr name="Group 42" id="42"/>
          <p:cNvGrpSpPr/>
          <p:nvPr/>
        </p:nvGrpSpPr>
        <p:grpSpPr>
          <a:xfrm rot="0">
            <a:off x="9784080" y="6729984"/>
            <a:ext cx="1133856" cy="1133856"/>
            <a:chOff x="0" y="0"/>
            <a:chExt cx="1511808" cy="1511808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1511808" cy="1511808"/>
            </a:xfrm>
            <a:custGeom>
              <a:avLst/>
              <a:gdLst/>
              <a:ahLst/>
              <a:cxnLst/>
              <a:rect r="r" b="b" t="t" l="l"/>
              <a:pathLst>
                <a:path h="1511808" w="1511808">
                  <a:moveTo>
                    <a:pt x="0" y="755904"/>
                  </a:moveTo>
                  <a:cubicBezTo>
                    <a:pt x="0" y="338455"/>
                    <a:pt x="338455" y="0"/>
                    <a:pt x="755904" y="0"/>
                  </a:cubicBezTo>
                  <a:cubicBezTo>
                    <a:pt x="1173353" y="0"/>
                    <a:pt x="1511808" y="338455"/>
                    <a:pt x="1511808" y="755904"/>
                  </a:cubicBezTo>
                  <a:cubicBezTo>
                    <a:pt x="1511808" y="1173353"/>
                    <a:pt x="1173353" y="1511808"/>
                    <a:pt x="755904" y="1511808"/>
                  </a:cubicBezTo>
                  <a:cubicBezTo>
                    <a:pt x="338455" y="1511808"/>
                    <a:pt x="0" y="1173353"/>
                    <a:pt x="0" y="755904"/>
                  </a:cubicBezTo>
                  <a:close/>
                </a:path>
              </a:pathLst>
            </a:custGeom>
            <a:solidFill>
              <a:srgbClr val="4A6FA5"/>
            </a:solidFill>
          </p:spPr>
        </p:sp>
      </p:grpSp>
      <p:grpSp>
        <p:nvGrpSpPr>
          <p:cNvPr name="Group 44" id="44"/>
          <p:cNvGrpSpPr/>
          <p:nvPr/>
        </p:nvGrpSpPr>
        <p:grpSpPr>
          <a:xfrm rot="0">
            <a:off x="10076688" y="7022592"/>
            <a:ext cx="548640" cy="548640"/>
            <a:chOff x="0" y="0"/>
            <a:chExt cx="731520" cy="731520"/>
          </a:xfrm>
        </p:grpSpPr>
        <p:sp>
          <p:nvSpPr>
            <p:cNvPr name="Freeform 45" id="45" descr="/home/claude/icons/FiCloud_FFFFFF.png"/>
            <p:cNvSpPr/>
            <p:nvPr/>
          </p:nvSpPr>
          <p:spPr>
            <a:xfrm flipH="false" flipV="false" rot="0">
              <a:off x="0" y="0"/>
              <a:ext cx="731520" cy="731520"/>
            </a:xfrm>
            <a:custGeom>
              <a:avLst/>
              <a:gdLst/>
              <a:ahLst/>
              <a:cxnLst/>
              <a:rect r="r" b="b" t="t" l="l"/>
              <a:pathLst>
                <a:path h="73152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731520"/>
                  </a:lnTo>
                  <a:lnTo>
                    <a:pt x="0" y="7315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46" id="46"/>
          <p:cNvGrpSpPr/>
          <p:nvPr/>
        </p:nvGrpSpPr>
        <p:grpSpPr>
          <a:xfrm rot="0">
            <a:off x="11247120" y="6729984"/>
            <a:ext cx="5577840" cy="640080"/>
            <a:chOff x="0" y="0"/>
            <a:chExt cx="7437120" cy="853440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7437120" cy="853440"/>
            </a:xfrm>
            <a:custGeom>
              <a:avLst/>
              <a:gdLst/>
              <a:ahLst/>
              <a:cxnLst/>
              <a:rect r="r" b="b" t="t" l="l"/>
              <a:pathLst>
                <a:path h="853440" w="7437120">
                  <a:moveTo>
                    <a:pt x="0" y="0"/>
                  </a:moveTo>
                  <a:lnTo>
                    <a:pt x="7437120" y="0"/>
                  </a:lnTo>
                  <a:lnTo>
                    <a:pt x="743712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19798" r="0" b="-119798"/>
              </a:stretch>
            </a:blipFill>
          </p:spPr>
        </p:sp>
        <p:sp>
          <p:nvSpPr>
            <p:cNvPr name="TextBox 48" id="48"/>
            <p:cNvSpPr txBox="true"/>
            <p:nvPr/>
          </p:nvSpPr>
          <p:spPr>
            <a:xfrm>
              <a:off x="0" y="-76200"/>
              <a:ext cx="7437120" cy="9296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800"/>
                </a:lnSpc>
              </a:pPr>
              <a:r>
                <a:rPr lang="en-US" sz="40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Objetivo 04 — Lorem ipsum</a:t>
              </a:r>
            </a:p>
          </p:txBody>
        </p:sp>
      </p:grpSp>
      <p:sp>
        <p:nvSpPr>
          <p:cNvPr name="TextBox 49" id="49"/>
          <p:cNvSpPr txBox="true"/>
          <p:nvPr/>
        </p:nvSpPr>
        <p:spPr>
          <a:xfrm rot="0">
            <a:off x="11247120" y="7395591"/>
            <a:ext cx="5577840" cy="16935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7E8FA6"/>
                </a:solidFill>
                <a:latin typeface="Calibri (MS)"/>
                <a:ea typeface="Calibri (MS)"/>
                <a:cs typeface="Calibri (MS)"/>
                <a:sym typeface="Calibri (MS)"/>
              </a:rPr>
              <a:t>Lorem ipsum dolor sit amet, consectetur adipiscing elit. Sed do eiusmod tempor incididunt ut labore et dolore magna aliqua.</a:t>
            </a:r>
          </a:p>
        </p:txBody>
      </p:sp>
      <p:grpSp>
        <p:nvGrpSpPr>
          <p:cNvPr name="Group 50" id="50"/>
          <p:cNvGrpSpPr/>
          <p:nvPr/>
        </p:nvGrpSpPr>
        <p:grpSpPr>
          <a:xfrm rot="0">
            <a:off x="1005840" y="9692640"/>
            <a:ext cx="10058400" cy="457200"/>
            <a:chOff x="0" y="0"/>
            <a:chExt cx="13411200" cy="60960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13411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3411200">
                  <a:moveTo>
                    <a:pt x="0" y="0"/>
                  </a:moveTo>
                  <a:lnTo>
                    <a:pt x="13411200" y="0"/>
                  </a:lnTo>
                  <a:lnTo>
                    <a:pt x="13411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78670" r="0" b="-378670"/>
              </a:stretch>
            </a:blipFill>
          </p:spPr>
        </p:sp>
        <p:sp>
          <p:nvSpPr>
            <p:cNvPr name="TextBox 52" id="52"/>
            <p:cNvSpPr txBox="true"/>
            <p:nvPr/>
          </p:nvSpPr>
          <p:spPr>
            <a:xfrm>
              <a:off x="0" y="-38100"/>
              <a:ext cx="13411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7E8F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Seminário de IoT — Segurança em IoT · Grupo 6</a:t>
              </a:r>
            </a:p>
          </p:txBody>
        </p:sp>
      </p:grpSp>
      <p:grpSp>
        <p:nvGrpSpPr>
          <p:cNvPr name="Group 53" id="53"/>
          <p:cNvGrpSpPr/>
          <p:nvPr/>
        </p:nvGrpSpPr>
        <p:grpSpPr>
          <a:xfrm rot="0">
            <a:off x="16367760" y="9692640"/>
            <a:ext cx="914400" cy="457200"/>
            <a:chOff x="0" y="0"/>
            <a:chExt cx="1219200" cy="609600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1219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55" id="55"/>
            <p:cNvSpPr txBox="true"/>
            <p:nvPr/>
          </p:nvSpPr>
          <p:spPr>
            <a:xfrm>
              <a:off x="0" y="-38100"/>
              <a:ext cx="1219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7E8F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36</a:t>
              </a:r>
            </a:p>
          </p:txBody>
        </p:sp>
      </p:grpSp>
    </p:spTree>
  </p:cSld>
  <p:clrMapOvr>
    <a:masterClrMapping/>
  </p:clrMapOvr>
</p:sld>
</file>

<file path=ppt/slides/slide3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F2C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7498080" cy="10287000"/>
            <a:chOff x="0" y="0"/>
            <a:chExt cx="999744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99744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9997440">
                  <a:moveTo>
                    <a:pt x="0" y="0"/>
                  </a:moveTo>
                  <a:lnTo>
                    <a:pt x="9997440" y="0"/>
                  </a:lnTo>
                  <a:lnTo>
                    <a:pt x="999744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0345B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097280" y="7132320"/>
            <a:ext cx="1097280" cy="987552"/>
            <a:chOff x="0" y="0"/>
            <a:chExt cx="1463040" cy="131673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463040" cy="1316736"/>
            </a:xfrm>
            <a:custGeom>
              <a:avLst/>
              <a:gdLst/>
              <a:ahLst/>
              <a:cxnLst/>
              <a:rect r="r" b="b" t="t" l="l"/>
              <a:pathLst>
                <a:path h="1316736" w="1463040">
                  <a:moveTo>
                    <a:pt x="0" y="658368"/>
                  </a:moveTo>
                  <a:lnTo>
                    <a:pt x="329184" y="0"/>
                  </a:lnTo>
                  <a:lnTo>
                    <a:pt x="1133856" y="0"/>
                  </a:lnTo>
                  <a:lnTo>
                    <a:pt x="1463040" y="658368"/>
                  </a:lnTo>
                  <a:lnTo>
                    <a:pt x="1133856" y="1316736"/>
                  </a:lnTo>
                  <a:lnTo>
                    <a:pt x="329184" y="1316736"/>
                  </a:lnTo>
                  <a:close/>
                </a:path>
              </a:pathLst>
            </a:custGeom>
            <a:solidFill>
              <a:srgbClr val="38BDF8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2468880" y="7955280"/>
            <a:ext cx="731520" cy="658368"/>
            <a:chOff x="0" y="0"/>
            <a:chExt cx="975360" cy="87782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975360" cy="877824"/>
            </a:xfrm>
            <a:custGeom>
              <a:avLst/>
              <a:gdLst/>
              <a:ahLst/>
              <a:cxnLst/>
              <a:rect r="r" b="b" t="t" l="l"/>
              <a:pathLst>
                <a:path h="877824" w="975360">
                  <a:moveTo>
                    <a:pt x="0" y="438912"/>
                  </a:moveTo>
                  <a:lnTo>
                    <a:pt x="219456" y="0"/>
                  </a:lnTo>
                  <a:lnTo>
                    <a:pt x="755904" y="0"/>
                  </a:lnTo>
                  <a:lnTo>
                    <a:pt x="975360" y="438912"/>
                  </a:lnTo>
                  <a:lnTo>
                    <a:pt x="755904" y="877824"/>
                  </a:lnTo>
                  <a:lnTo>
                    <a:pt x="219456" y="877824"/>
                  </a:lnTo>
                  <a:close/>
                </a:path>
              </a:pathLst>
            </a:custGeom>
            <a:solidFill>
              <a:srgbClr val="23507F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1005840" y="2468880"/>
            <a:ext cx="5852160" cy="2926080"/>
            <a:chOff x="0" y="0"/>
            <a:chExt cx="7802880" cy="390144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7802880" cy="3901440"/>
            </a:xfrm>
            <a:custGeom>
              <a:avLst/>
              <a:gdLst/>
              <a:ahLst/>
              <a:cxnLst/>
              <a:rect r="r" b="b" t="t" l="l"/>
              <a:pathLst>
                <a:path h="3901440" w="7802880">
                  <a:moveTo>
                    <a:pt x="0" y="0"/>
                  </a:moveTo>
                  <a:lnTo>
                    <a:pt x="7802880" y="0"/>
                  </a:lnTo>
                  <a:lnTo>
                    <a:pt x="7802880" y="3901440"/>
                  </a:lnTo>
                  <a:lnTo>
                    <a:pt x="0" y="39014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71475"/>
              <a:ext cx="7802880" cy="42729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080"/>
                </a:lnSpc>
              </a:pPr>
              <a:r>
                <a:rPr lang="en-US" sz="184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09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097280" y="1920240"/>
            <a:ext cx="4572000" cy="548640"/>
            <a:chOff x="0" y="0"/>
            <a:chExt cx="6096000" cy="73152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6096000" cy="731520"/>
            </a:xfrm>
            <a:custGeom>
              <a:avLst/>
              <a:gdLst/>
              <a:ahLst/>
              <a:cxnLst/>
              <a:rect r="r" b="b" t="t" l="l"/>
              <a:pathLst>
                <a:path h="731520" w="6096000">
                  <a:moveTo>
                    <a:pt x="0" y="0"/>
                  </a:moveTo>
                  <a:lnTo>
                    <a:pt x="6096000" y="0"/>
                  </a:lnTo>
                  <a:lnTo>
                    <a:pt x="60960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12375" r="0" b="-112375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6096000" cy="7696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b="true" sz="2400" spc="600">
                  <a:solidFill>
                    <a:srgbClr val="38BDF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SEÇÃO</a:t>
              </a: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8412480" y="3606165"/>
            <a:ext cx="8961120" cy="21545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640"/>
              </a:lnSpc>
            </a:pPr>
            <a:r>
              <a:rPr lang="en-US" sz="7200" b="true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Demonstração Prática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412480" y="5760720"/>
            <a:ext cx="8412480" cy="1463040"/>
            <a:chOff x="0" y="0"/>
            <a:chExt cx="11216640" cy="195072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1216640" cy="1950720"/>
            </a:xfrm>
            <a:custGeom>
              <a:avLst/>
              <a:gdLst/>
              <a:ahLst/>
              <a:cxnLst/>
              <a:rect r="r" b="b" t="t" l="l"/>
              <a:pathLst>
                <a:path h="1950720" w="11216640">
                  <a:moveTo>
                    <a:pt x="0" y="0"/>
                  </a:moveTo>
                  <a:lnTo>
                    <a:pt x="11216640" y="0"/>
                  </a:lnTo>
                  <a:lnTo>
                    <a:pt x="11216640" y="1950720"/>
                  </a:lnTo>
                  <a:lnTo>
                    <a:pt x="0" y="19507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62038" r="0" b="-62038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57150"/>
              <a:ext cx="11216640" cy="20078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rPr lang="en-US" sz="2600">
                  <a:solidFill>
                    <a:srgbClr val="AFC4DC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Lorem ipsum dolor sit amet, consectetur adipiscing elit. Sed do eiusmod tempor incididunt ut labore et dolore magna aliqua.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8412480" y="2651760"/>
            <a:ext cx="804672" cy="804672"/>
            <a:chOff x="0" y="0"/>
            <a:chExt cx="1072896" cy="1072896"/>
          </a:xfrm>
        </p:grpSpPr>
        <p:sp>
          <p:nvSpPr>
            <p:cNvPr name="Freeform 19" id="19" descr="/home/claude/icons/FiPlayCircle_38BDF8.png"/>
            <p:cNvSpPr/>
            <p:nvPr/>
          </p:nvSpPr>
          <p:spPr>
            <a:xfrm flipH="false" flipV="false" rot="0">
              <a:off x="0" y="0"/>
              <a:ext cx="1072896" cy="1072896"/>
            </a:xfrm>
            <a:custGeom>
              <a:avLst/>
              <a:gdLst/>
              <a:ahLst/>
              <a:cxnLst/>
              <a:rect r="r" b="b" t="t" l="l"/>
              <a:pathLst>
                <a:path h="1072896" w="1072896">
                  <a:moveTo>
                    <a:pt x="0" y="0"/>
                  </a:moveTo>
                  <a:lnTo>
                    <a:pt x="1072896" y="0"/>
                  </a:lnTo>
                  <a:lnTo>
                    <a:pt x="1072896" y="1072896"/>
                  </a:lnTo>
                  <a:lnTo>
                    <a:pt x="0" y="10728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1097280" y="9692640"/>
            <a:ext cx="10058400" cy="457200"/>
            <a:chOff x="0" y="0"/>
            <a:chExt cx="13411200" cy="6096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3411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3411200">
                  <a:moveTo>
                    <a:pt x="0" y="0"/>
                  </a:moveTo>
                  <a:lnTo>
                    <a:pt x="13411200" y="0"/>
                  </a:lnTo>
                  <a:lnTo>
                    <a:pt x="13411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78670" r="0" b="-378670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38100"/>
              <a:ext cx="13411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6E85A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Seminário de IoT — Segurança em IoT · Grupo 6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16367760" y="9692640"/>
            <a:ext cx="914400" cy="457200"/>
            <a:chOff x="0" y="0"/>
            <a:chExt cx="1219200" cy="6096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219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1219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6E85A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37</a:t>
              </a:r>
            </a:p>
          </p:txBody>
        </p:sp>
      </p:grpSp>
    </p:spTree>
  </p:cSld>
  <p:clrMapOvr>
    <a:masterClrMapping/>
  </p:clrMapOvr>
</p:sld>
</file>

<file path=ppt/slides/slide3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05840" y="914400"/>
            <a:ext cx="621792" cy="559613"/>
            <a:chOff x="0" y="0"/>
            <a:chExt cx="829056" cy="74615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29056" cy="746125"/>
            </a:xfrm>
            <a:custGeom>
              <a:avLst/>
              <a:gdLst/>
              <a:ahLst/>
              <a:cxnLst/>
              <a:rect r="r" b="b" t="t" l="l"/>
              <a:pathLst>
                <a:path h="746125" w="829056">
                  <a:moveTo>
                    <a:pt x="0" y="373126"/>
                  </a:moveTo>
                  <a:lnTo>
                    <a:pt x="186563" y="0"/>
                  </a:lnTo>
                  <a:lnTo>
                    <a:pt x="642493" y="0"/>
                  </a:lnTo>
                  <a:lnTo>
                    <a:pt x="829056" y="373126"/>
                  </a:lnTo>
                  <a:lnTo>
                    <a:pt x="642493" y="746125"/>
                  </a:lnTo>
                  <a:lnTo>
                    <a:pt x="186563" y="746125"/>
                  </a:lnTo>
                  <a:close/>
                </a:path>
              </a:pathLst>
            </a:custGeom>
            <a:solidFill>
              <a:srgbClr val="38BDF8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865376" y="859536"/>
            <a:ext cx="13898880" cy="475488"/>
            <a:chOff x="0" y="0"/>
            <a:chExt cx="18531840" cy="63398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8531839" cy="633984"/>
            </a:xfrm>
            <a:custGeom>
              <a:avLst/>
              <a:gdLst/>
              <a:ahLst/>
              <a:cxnLst/>
              <a:rect r="r" b="b" t="t" l="l"/>
              <a:pathLst>
                <a:path h="633984" w="18531839">
                  <a:moveTo>
                    <a:pt x="0" y="0"/>
                  </a:moveTo>
                  <a:lnTo>
                    <a:pt x="18531839" y="0"/>
                  </a:lnTo>
                  <a:lnTo>
                    <a:pt x="18531839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19562" r="0" b="-519562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18531840" cy="68160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b="true" sz="2200" spc="399">
                  <a:solidFill>
                    <a:srgbClr val="4A6FA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DEMONSTRAÇÃO PRÁTICA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005840" y="1426464"/>
            <a:ext cx="15727680" cy="1097280"/>
            <a:chOff x="0" y="0"/>
            <a:chExt cx="20970240" cy="146304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0970239" cy="1463040"/>
            </a:xfrm>
            <a:custGeom>
              <a:avLst/>
              <a:gdLst/>
              <a:ahLst/>
              <a:cxnLst/>
              <a:rect r="r" b="b" t="t" l="l"/>
              <a:pathLst>
                <a:path h="1463040" w="20970239">
                  <a:moveTo>
                    <a:pt x="0" y="0"/>
                  </a:moveTo>
                  <a:lnTo>
                    <a:pt x="20970239" y="0"/>
                  </a:lnTo>
                  <a:lnTo>
                    <a:pt x="20970239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29285" r="0" b="-229285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42875"/>
              <a:ext cx="20970240" cy="16059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920"/>
                </a:lnSpc>
              </a:pPr>
              <a:r>
                <a:rPr lang="en-US" sz="66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Objetivo e Arquitetura da Demo</a:t>
              </a: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1005840" y="2758440"/>
            <a:ext cx="7955280" cy="2179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00"/>
              </a:lnSpc>
            </a:pPr>
            <a:r>
              <a:rPr lang="en-US" sz="4000">
                <a:solidFill>
                  <a:srgbClr val="3A4C63"/>
                </a:solidFill>
                <a:latin typeface="Calibri (MS)"/>
                <a:ea typeface="Calibri (MS)"/>
                <a:cs typeface="Calibri (MS)"/>
                <a:sym typeface="Calibri (MS)"/>
              </a:rPr>
              <a:t>Lorem ipsum dolor sit amet, consectetur adipiscing elit. Sed do eiusmod tempor incididunt ut labore et dolore magna aliqua. Ut enim ad minim veniam, quis nostrud exercitation.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05840" y="5135880"/>
            <a:ext cx="7955280" cy="3916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965200" indent="-482600" lvl="1">
              <a:lnSpc>
                <a:spcPts val="4800"/>
              </a:lnSpc>
              <a:buFont typeface="Arial"/>
              <a:buChar char="•"/>
            </a:pPr>
            <a:r>
              <a:rPr lang="en-US" sz="4000">
                <a:solidFill>
                  <a:srgbClr val="3A4C63"/>
                </a:solidFill>
                <a:latin typeface="Calibri (MS)"/>
                <a:ea typeface="Calibri (MS)"/>
                <a:cs typeface="Calibri (MS)"/>
                <a:sym typeface="Calibri (MS)"/>
              </a:rPr>
              <a:t>Lorem ipsum dolor sit amet, consectetur elit</a:t>
            </a:r>
          </a:p>
          <a:p>
            <a:pPr algn="l" marL="965200" indent="-482600" lvl="1">
              <a:lnSpc>
                <a:spcPts val="4800"/>
              </a:lnSpc>
              <a:buFont typeface="Arial"/>
              <a:buChar char="•"/>
            </a:pPr>
            <a:r>
              <a:rPr lang="en-US" sz="4000">
                <a:solidFill>
                  <a:srgbClr val="3A4C63"/>
                </a:solidFill>
                <a:latin typeface="Calibri (MS)"/>
                <a:ea typeface="Calibri (MS)"/>
                <a:cs typeface="Calibri (MS)"/>
                <a:sym typeface="Calibri (MS)"/>
              </a:rPr>
              <a:t>Sed do eiusmod tempor incididunt ut labore</a:t>
            </a:r>
          </a:p>
          <a:p>
            <a:pPr algn="l" marL="965200" indent="-482600" lvl="1">
              <a:lnSpc>
                <a:spcPts val="4800"/>
              </a:lnSpc>
              <a:buFont typeface="Arial"/>
              <a:buChar char="•"/>
            </a:pPr>
            <a:r>
              <a:rPr lang="en-US" sz="4000">
                <a:solidFill>
                  <a:srgbClr val="3A4C63"/>
                </a:solidFill>
                <a:latin typeface="Calibri (MS)"/>
                <a:ea typeface="Calibri (MS)"/>
                <a:cs typeface="Calibri (MS)"/>
                <a:sym typeface="Calibri (MS)"/>
              </a:rPr>
              <a:t>Ut enim ad minim veniam quis nostrud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9493882" y="2818762"/>
            <a:ext cx="7804147" cy="6249667"/>
            <a:chOff x="0" y="0"/>
            <a:chExt cx="10405529" cy="8332889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0405491" cy="8332851"/>
            </a:xfrm>
            <a:custGeom>
              <a:avLst/>
              <a:gdLst/>
              <a:ahLst/>
              <a:cxnLst/>
              <a:rect r="r" b="b" t="t" l="l"/>
              <a:pathLst>
                <a:path h="8332851" w="10405491">
                  <a:moveTo>
                    <a:pt x="0" y="196088"/>
                  </a:moveTo>
                  <a:cubicBezTo>
                    <a:pt x="0" y="87757"/>
                    <a:pt x="87757" y="0"/>
                    <a:pt x="196088" y="0"/>
                  </a:cubicBezTo>
                  <a:lnTo>
                    <a:pt x="10209403" y="0"/>
                  </a:lnTo>
                  <a:cubicBezTo>
                    <a:pt x="10317735" y="0"/>
                    <a:pt x="10405491" y="87757"/>
                    <a:pt x="10405491" y="196088"/>
                  </a:cubicBezTo>
                  <a:lnTo>
                    <a:pt x="10405491" y="8136763"/>
                  </a:lnTo>
                  <a:cubicBezTo>
                    <a:pt x="10405491" y="8245094"/>
                    <a:pt x="10317735" y="8332851"/>
                    <a:pt x="10209403" y="8332851"/>
                  </a:cubicBezTo>
                  <a:lnTo>
                    <a:pt x="196088" y="8332851"/>
                  </a:lnTo>
                  <a:cubicBezTo>
                    <a:pt x="87757" y="8332851"/>
                    <a:pt x="0" y="8245094"/>
                    <a:pt x="0" y="8136763"/>
                  </a:cubicBezTo>
                  <a:close/>
                </a:path>
              </a:pathLst>
            </a:custGeom>
            <a:solidFill>
              <a:srgbClr val="F7FAFD"/>
            </a:solidFill>
            <a:ln w="31750" cap="sq">
              <a:solidFill>
                <a:srgbClr val="A9C1DC"/>
              </a:solidFill>
              <a:prstDash val="dash"/>
              <a:miter/>
            </a:ln>
          </p:spPr>
        </p:sp>
      </p:grpSp>
      <p:grpSp>
        <p:nvGrpSpPr>
          <p:cNvPr name="Group 14" id="14"/>
          <p:cNvGrpSpPr/>
          <p:nvPr/>
        </p:nvGrpSpPr>
        <p:grpSpPr>
          <a:xfrm rot="0">
            <a:off x="12993624" y="5175504"/>
            <a:ext cx="804672" cy="804672"/>
            <a:chOff x="0" y="0"/>
            <a:chExt cx="1072896" cy="1072896"/>
          </a:xfrm>
        </p:grpSpPr>
        <p:sp>
          <p:nvSpPr>
            <p:cNvPr name="Freeform 15" id="15" descr="/home/claude/icons/FiServer_64748B.png"/>
            <p:cNvSpPr/>
            <p:nvPr/>
          </p:nvSpPr>
          <p:spPr>
            <a:xfrm flipH="false" flipV="false" rot="0">
              <a:off x="0" y="0"/>
              <a:ext cx="1072896" cy="1072896"/>
            </a:xfrm>
            <a:custGeom>
              <a:avLst/>
              <a:gdLst/>
              <a:ahLst/>
              <a:cxnLst/>
              <a:rect r="r" b="b" t="t" l="l"/>
              <a:pathLst>
                <a:path h="1072896" w="1072896">
                  <a:moveTo>
                    <a:pt x="0" y="0"/>
                  </a:moveTo>
                  <a:lnTo>
                    <a:pt x="1072896" y="0"/>
                  </a:lnTo>
                  <a:lnTo>
                    <a:pt x="1072896" y="1072896"/>
                  </a:lnTo>
                  <a:lnTo>
                    <a:pt x="0" y="10728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9875520" y="6035040"/>
            <a:ext cx="7040880" cy="548640"/>
            <a:chOff x="0" y="0"/>
            <a:chExt cx="9387840" cy="73152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9387840" cy="731520"/>
            </a:xfrm>
            <a:custGeom>
              <a:avLst/>
              <a:gdLst/>
              <a:ahLst/>
              <a:cxnLst/>
              <a:rect r="r" b="b" t="t" l="l"/>
              <a:pathLst>
                <a:path h="731520" w="9387840">
                  <a:moveTo>
                    <a:pt x="0" y="0"/>
                  </a:moveTo>
                  <a:lnTo>
                    <a:pt x="9387840" y="0"/>
                  </a:lnTo>
                  <a:lnTo>
                    <a:pt x="938784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00057" r="0" b="-200057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57150"/>
              <a:ext cx="9387840" cy="7886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120"/>
                </a:lnSpc>
              </a:pPr>
              <a:r>
                <a:rPr lang="en-US" sz="2600" b="true">
                  <a:solidFill>
                    <a:srgbClr val="7E8F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Inserir diagrama da demonstração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9875520" y="6565392"/>
            <a:ext cx="7040880" cy="438912"/>
            <a:chOff x="0" y="0"/>
            <a:chExt cx="9387840" cy="585216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9387840" cy="585216"/>
            </a:xfrm>
            <a:custGeom>
              <a:avLst/>
              <a:gdLst/>
              <a:ahLst/>
              <a:cxnLst/>
              <a:rect r="r" b="b" t="t" l="l"/>
              <a:pathLst>
                <a:path h="585216" w="9387840">
                  <a:moveTo>
                    <a:pt x="0" y="0"/>
                  </a:moveTo>
                  <a:lnTo>
                    <a:pt x="9387840" y="0"/>
                  </a:lnTo>
                  <a:lnTo>
                    <a:pt x="9387840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62572" r="0" b="-262572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38100"/>
              <a:ext cx="9387840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400"/>
                </a:lnSpc>
              </a:pPr>
              <a:r>
                <a:rPr lang="en-US" sz="2000" i="true">
                  <a:solidFill>
                    <a:srgbClr val="7E8FA6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Substitua por diagrama, fluxo, tabela ou captura de tela</a:t>
              </a: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005840" y="9692640"/>
            <a:ext cx="10058400" cy="457200"/>
            <a:chOff x="0" y="0"/>
            <a:chExt cx="13411200" cy="6096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3411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3411200">
                  <a:moveTo>
                    <a:pt x="0" y="0"/>
                  </a:moveTo>
                  <a:lnTo>
                    <a:pt x="13411200" y="0"/>
                  </a:lnTo>
                  <a:lnTo>
                    <a:pt x="13411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78670" r="0" b="-378670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13411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7E8F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Seminário de IoT — Segurança em IoT · Grupo 6</a:t>
              </a: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6367760" y="9692640"/>
            <a:ext cx="914400" cy="457200"/>
            <a:chOff x="0" y="0"/>
            <a:chExt cx="1219200" cy="6096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219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1219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7E8F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38</a:t>
              </a:r>
            </a:p>
          </p:txBody>
        </p:sp>
      </p:grpSp>
    </p:spTree>
  </p:cSld>
  <p:clrMapOvr>
    <a:masterClrMapping/>
  </p:clrMapOvr>
</p:sld>
</file>

<file path=ppt/slides/slide3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05840" y="914400"/>
            <a:ext cx="621792" cy="559613"/>
            <a:chOff x="0" y="0"/>
            <a:chExt cx="829056" cy="74615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29056" cy="746125"/>
            </a:xfrm>
            <a:custGeom>
              <a:avLst/>
              <a:gdLst/>
              <a:ahLst/>
              <a:cxnLst/>
              <a:rect r="r" b="b" t="t" l="l"/>
              <a:pathLst>
                <a:path h="746125" w="829056">
                  <a:moveTo>
                    <a:pt x="0" y="373126"/>
                  </a:moveTo>
                  <a:lnTo>
                    <a:pt x="186563" y="0"/>
                  </a:lnTo>
                  <a:lnTo>
                    <a:pt x="642493" y="0"/>
                  </a:lnTo>
                  <a:lnTo>
                    <a:pt x="829056" y="373126"/>
                  </a:lnTo>
                  <a:lnTo>
                    <a:pt x="642493" y="746125"/>
                  </a:lnTo>
                  <a:lnTo>
                    <a:pt x="186563" y="746125"/>
                  </a:lnTo>
                  <a:close/>
                </a:path>
              </a:pathLst>
            </a:custGeom>
            <a:solidFill>
              <a:srgbClr val="38BDF8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865376" y="859536"/>
            <a:ext cx="13898880" cy="475488"/>
            <a:chOff x="0" y="0"/>
            <a:chExt cx="18531840" cy="63398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8531839" cy="633984"/>
            </a:xfrm>
            <a:custGeom>
              <a:avLst/>
              <a:gdLst/>
              <a:ahLst/>
              <a:cxnLst/>
              <a:rect r="r" b="b" t="t" l="l"/>
              <a:pathLst>
                <a:path h="633984" w="18531839">
                  <a:moveTo>
                    <a:pt x="0" y="0"/>
                  </a:moveTo>
                  <a:lnTo>
                    <a:pt x="18531839" y="0"/>
                  </a:lnTo>
                  <a:lnTo>
                    <a:pt x="18531839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19562" r="0" b="-519562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18531840" cy="68160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b="true" sz="2200" spc="399">
                  <a:solidFill>
                    <a:srgbClr val="4A6FA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DEMONSTRAÇÃO PRÁTICA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005840" y="1426464"/>
            <a:ext cx="15727680" cy="1097280"/>
            <a:chOff x="0" y="0"/>
            <a:chExt cx="20970240" cy="146304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0970239" cy="1463040"/>
            </a:xfrm>
            <a:custGeom>
              <a:avLst/>
              <a:gdLst/>
              <a:ahLst/>
              <a:cxnLst/>
              <a:rect r="r" b="b" t="t" l="l"/>
              <a:pathLst>
                <a:path h="1463040" w="20970239">
                  <a:moveTo>
                    <a:pt x="0" y="0"/>
                  </a:moveTo>
                  <a:lnTo>
                    <a:pt x="20970239" y="0"/>
                  </a:lnTo>
                  <a:lnTo>
                    <a:pt x="20970239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29285" r="0" b="-229285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42875"/>
              <a:ext cx="20970240" cy="16059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920"/>
                </a:lnSpc>
              </a:pPr>
              <a:r>
                <a:rPr lang="en-US" sz="66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Execução da Demonstração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989962" y="2818762"/>
            <a:ext cx="16308067" cy="5792467"/>
            <a:chOff x="0" y="0"/>
            <a:chExt cx="21744089" cy="7723289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1744177" cy="7723378"/>
            </a:xfrm>
            <a:custGeom>
              <a:avLst/>
              <a:gdLst/>
              <a:ahLst/>
              <a:cxnLst/>
              <a:rect r="r" b="b" t="t" l="l"/>
              <a:pathLst>
                <a:path h="7723378" w="21744177">
                  <a:moveTo>
                    <a:pt x="0" y="196215"/>
                  </a:moveTo>
                  <a:cubicBezTo>
                    <a:pt x="0" y="87884"/>
                    <a:pt x="87884" y="0"/>
                    <a:pt x="196215" y="0"/>
                  </a:cubicBezTo>
                  <a:lnTo>
                    <a:pt x="21547962" y="0"/>
                  </a:lnTo>
                  <a:cubicBezTo>
                    <a:pt x="21656294" y="0"/>
                    <a:pt x="21744177" y="87884"/>
                    <a:pt x="21744177" y="196215"/>
                  </a:cubicBezTo>
                  <a:lnTo>
                    <a:pt x="21744177" y="7527163"/>
                  </a:lnTo>
                  <a:cubicBezTo>
                    <a:pt x="21744177" y="7635494"/>
                    <a:pt x="21656294" y="7723378"/>
                    <a:pt x="21547962" y="7723378"/>
                  </a:cubicBezTo>
                  <a:lnTo>
                    <a:pt x="196215" y="7723378"/>
                  </a:lnTo>
                  <a:cubicBezTo>
                    <a:pt x="87884" y="7723251"/>
                    <a:pt x="0" y="7635494"/>
                    <a:pt x="0" y="7527163"/>
                  </a:cubicBezTo>
                  <a:close/>
                </a:path>
              </a:pathLst>
            </a:custGeom>
            <a:solidFill>
              <a:srgbClr val="F7FAFD"/>
            </a:solidFill>
            <a:ln w="31750" cap="sq">
              <a:solidFill>
                <a:srgbClr val="A9C1DC"/>
              </a:solidFill>
              <a:prstDash val="dash"/>
              <a:miter/>
            </a:ln>
          </p:spPr>
        </p:sp>
      </p:grpSp>
      <p:grpSp>
        <p:nvGrpSpPr>
          <p:cNvPr name="Group 12" id="12"/>
          <p:cNvGrpSpPr/>
          <p:nvPr/>
        </p:nvGrpSpPr>
        <p:grpSpPr>
          <a:xfrm rot="0">
            <a:off x="8741664" y="4946904"/>
            <a:ext cx="804672" cy="804672"/>
            <a:chOff x="0" y="0"/>
            <a:chExt cx="1072896" cy="1072896"/>
          </a:xfrm>
        </p:grpSpPr>
        <p:sp>
          <p:nvSpPr>
            <p:cNvPr name="Freeform 13" id="13" descr="/home/claude/icons/FiMonitor_64748B.png"/>
            <p:cNvSpPr/>
            <p:nvPr/>
          </p:nvSpPr>
          <p:spPr>
            <a:xfrm flipH="false" flipV="false" rot="0">
              <a:off x="0" y="0"/>
              <a:ext cx="1072896" cy="1072896"/>
            </a:xfrm>
            <a:custGeom>
              <a:avLst/>
              <a:gdLst/>
              <a:ahLst/>
              <a:cxnLst/>
              <a:rect r="r" b="b" t="t" l="l"/>
              <a:pathLst>
                <a:path h="1072896" w="1072896">
                  <a:moveTo>
                    <a:pt x="0" y="0"/>
                  </a:moveTo>
                  <a:lnTo>
                    <a:pt x="1072896" y="0"/>
                  </a:lnTo>
                  <a:lnTo>
                    <a:pt x="1072896" y="1072896"/>
                  </a:lnTo>
                  <a:lnTo>
                    <a:pt x="0" y="10728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1371600" y="5806440"/>
            <a:ext cx="15544800" cy="548640"/>
            <a:chOff x="0" y="0"/>
            <a:chExt cx="20726400" cy="73152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0726400" cy="731520"/>
            </a:xfrm>
            <a:custGeom>
              <a:avLst/>
              <a:gdLst/>
              <a:ahLst/>
              <a:cxnLst/>
              <a:rect r="r" b="b" t="t" l="l"/>
              <a:pathLst>
                <a:path h="731520" w="20726400">
                  <a:moveTo>
                    <a:pt x="0" y="0"/>
                  </a:moveTo>
                  <a:lnTo>
                    <a:pt x="20726400" y="0"/>
                  </a:lnTo>
                  <a:lnTo>
                    <a:pt x="20726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02076" r="0" b="-502076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57150"/>
              <a:ext cx="20726400" cy="7886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120"/>
                </a:lnSpc>
              </a:pPr>
              <a:r>
                <a:rPr lang="en-US" sz="2600" b="true">
                  <a:solidFill>
                    <a:srgbClr val="7E8F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Inserir captura de tela ou vídeo da execução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371600" y="6336792"/>
            <a:ext cx="15544800" cy="438912"/>
            <a:chOff x="0" y="0"/>
            <a:chExt cx="20726400" cy="585216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0726400" cy="585216"/>
            </a:xfrm>
            <a:custGeom>
              <a:avLst/>
              <a:gdLst/>
              <a:ahLst/>
              <a:cxnLst/>
              <a:rect r="r" b="b" t="t" l="l"/>
              <a:pathLst>
                <a:path h="585216" w="20726400">
                  <a:moveTo>
                    <a:pt x="0" y="0"/>
                  </a:moveTo>
                  <a:lnTo>
                    <a:pt x="20726400" y="0"/>
                  </a:lnTo>
                  <a:lnTo>
                    <a:pt x="20726400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640095" r="0" b="-640095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20726400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400"/>
                </a:lnSpc>
              </a:pPr>
              <a:r>
                <a:rPr lang="en-US" sz="2000" i="true">
                  <a:solidFill>
                    <a:srgbClr val="7E8FA6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Substitua por diagrama, fluxo, tabela ou captura de tela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005840" y="8869680"/>
            <a:ext cx="16276320" cy="548640"/>
            <a:chOff x="0" y="0"/>
            <a:chExt cx="21701760" cy="73152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21701761" cy="731520"/>
            </a:xfrm>
            <a:custGeom>
              <a:avLst/>
              <a:gdLst/>
              <a:ahLst/>
              <a:cxnLst/>
              <a:rect r="r" b="b" t="t" l="l"/>
              <a:pathLst>
                <a:path h="731520" w="21701761">
                  <a:moveTo>
                    <a:pt x="0" y="0"/>
                  </a:moveTo>
                  <a:lnTo>
                    <a:pt x="21701761" y="0"/>
                  </a:lnTo>
                  <a:lnTo>
                    <a:pt x="21701761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28056" r="0" b="-528056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38100"/>
              <a:ext cx="21701760" cy="7696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i="true">
                  <a:solidFill>
                    <a:srgbClr val="7E8FA6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Lorem ipsum dolor sit amet, consectetur adipiscing elit — legenda do diagrama.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1005840" y="9692640"/>
            <a:ext cx="10058400" cy="457200"/>
            <a:chOff x="0" y="0"/>
            <a:chExt cx="13411200" cy="6096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3411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3411200">
                  <a:moveTo>
                    <a:pt x="0" y="0"/>
                  </a:moveTo>
                  <a:lnTo>
                    <a:pt x="13411200" y="0"/>
                  </a:lnTo>
                  <a:lnTo>
                    <a:pt x="13411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78670" r="0" b="-378670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13411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7E8F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Seminário de IoT — Segurança em IoT · Grupo 6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16367760" y="9692640"/>
            <a:ext cx="914400" cy="457200"/>
            <a:chOff x="0" y="0"/>
            <a:chExt cx="1219200" cy="6096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219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38100"/>
              <a:ext cx="1219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7E8F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39</a:t>
              </a:r>
            </a:p>
          </p:txBody>
        </p:sp>
      </p:grpSp>
    </p:spTree>
  </p:cSld>
  <p:clrMapOvr>
    <a:masterClrMapping/>
  </p:clrMapOvr>
</p:sld>
</file>

<file path=ppt/slides/slide4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05840" y="914400"/>
            <a:ext cx="621792" cy="559613"/>
            <a:chOff x="0" y="0"/>
            <a:chExt cx="829056" cy="74615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29056" cy="746125"/>
            </a:xfrm>
            <a:custGeom>
              <a:avLst/>
              <a:gdLst/>
              <a:ahLst/>
              <a:cxnLst/>
              <a:rect r="r" b="b" t="t" l="l"/>
              <a:pathLst>
                <a:path h="746125" w="829056">
                  <a:moveTo>
                    <a:pt x="0" y="373126"/>
                  </a:moveTo>
                  <a:lnTo>
                    <a:pt x="186563" y="0"/>
                  </a:lnTo>
                  <a:lnTo>
                    <a:pt x="642493" y="0"/>
                  </a:lnTo>
                  <a:lnTo>
                    <a:pt x="829056" y="373126"/>
                  </a:lnTo>
                  <a:lnTo>
                    <a:pt x="642493" y="746125"/>
                  </a:lnTo>
                  <a:lnTo>
                    <a:pt x="186563" y="746125"/>
                  </a:lnTo>
                  <a:close/>
                </a:path>
              </a:pathLst>
            </a:custGeom>
            <a:solidFill>
              <a:srgbClr val="38BDF8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865376" y="859536"/>
            <a:ext cx="13898880" cy="475488"/>
            <a:chOff x="0" y="0"/>
            <a:chExt cx="18531840" cy="63398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8531839" cy="633984"/>
            </a:xfrm>
            <a:custGeom>
              <a:avLst/>
              <a:gdLst/>
              <a:ahLst/>
              <a:cxnLst/>
              <a:rect r="r" b="b" t="t" l="l"/>
              <a:pathLst>
                <a:path h="633984" w="18531839">
                  <a:moveTo>
                    <a:pt x="0" y="0"/>
                  </a:moveTo>
                  <a:lnTo>
                    <a:pt x="18531839" y="0"/>
                  </a:lnTo>
                  <a:lnTo>
                    <a:pt x="18531839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19562" r="0" b="-519562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18531840" cy="68160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b="true" sz="2200" spc="399">
                  <a:solidFill>
                    <a:srgbClr val="4A6FA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DEMONSTRAÇÃO PRÁTICA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005840" y="1426464"/>
            <a:ext cx="15727680" cy="1097280"/>
            <a:chOff x="0" y="0"/>
            <a:chExt cx="20970240" cy="146304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0970239" cy="1463040"/>
            </a:xfrm>
            <a:custGeom>
              <a:avLst/>
              <a:gdLst/>
              <a:ahLst/>
              <a:cxnLst/>
              <a:rect r="r" b="b" t="t" l="l"/>
              <a:pathLst>
                <a:path h="1463040" w="20970239">
                  <a:moveTo>
                    <a:pt x="0" y="0"/>
                  </a:moveTo>
                  <a:lnTo>
                    <a:pt x="20970239" y="0"/>
                  </a:lnTo>
                  <a:lnTo>
                    <a:pt x="20970239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29285" r="0" b="-229285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42875"/>
              <a:ext cx="20970240" cy="16059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920"/>
                </a:lnSpc>
              </a:pPr>
              <a:r>
                <a:rPr lang="en-US" sz="66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Resultados Obtidos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989962" y="2818762"/>
            <a:ext cx="9724387" cy="6158227"/>
            <a:chOff x="0" y="0"/>
            <a:chExt cx="12965849" cy="8210969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2965811" cy="8210931"/>
            </a:xfrm>
            <a:custGeom>
              <a:avLst/>
              <a:gdLst/>
              <a:ahLst/>
              <a:cxnLst/>
              <a:rect r="r" b="b" t="t" l="l"/>
              <a:pathLst>
                <a:path h="8210931" w="12965811">
                  <a:moveTo>
                    <a:pt x="0" y="196088"/>
                  </a:moveTo>
                  <a:cubicBezTo>
                    <a:pt x="0" y="87757"/>
                    <a:pt x="87757" y="0"/>
                    <a:pt x="196088" y="0"/>
                  </a:cubicBezTo>
                  <a:lnTo>
                    <a:pt x="12769723" y="0"/>
                  </a:lnTo>
                  <a:cubicBezTo>
                    <a:pt x="12878054" y="0"/>
                    <a:pt x="12965811" y="87757"/>
                    <a:pt x="12965811" y="196088"/>
                  </a:cubicBezTo>
                  <a:lnTo>
                    <a:pt x="12965811" y="8014843"/>
                  </a:lnTo>
                  <a:cubicBezTo>
                    <a:pt x="12965811" y="8123175"/>
                    <a:pt x="12878054" y="8210931"/>
                    <a:pt x="12769723" y="8210931"/>
                  </a:cubicBezTo>
                  <a:lnTo>
                    <a:pt x="196088" y="8210931"/>
                  </a:lnTo>
                  <a:cubicBezTo>
                    <a:pt x="87757" y="8210931"/>
                    <a:pt x="0" y="8123174"/>
                    <a:pt x="0" y="8014843"/>
                  </a:cubicBezTo>
                  <a:close/>
                </a:path>
              </a:pathLst>
            </a:custGeom>
            <a:solidFill>
              <a:srgbClr val="F7FAFD"/>
            </a:solidFill>
            <a:ln w="31750" cap="sq">
              <a:solidFill>
                <a:srgbClr val="A9C1DC"/>
              </a:solidFill>
              <a:prstDash val="dash"/>
              <a:miter/>
            </a:ln>
          </p:spPr>
        </p:sp>
      </p:grpSp>
      <p:grpSp>
        <p:nvGrpSpPr>
          <p:cNvPr name="Group 12" id="12"/>
          <p:cNvGrpSpPr/>
          <p:nvPr/>
        </p:nvGrpSpPr>
        <p:grpSpPr>
          <a:xfrm rot="0">
            <a:off x="5449824" y="5129784"/>
            <a:ext cx="804672" cy="804672"/>
            <a:chOff x="0" y="0"/>
            <a:chExt cx="1072896" cy="1072896"/>
          </a:xfrm>
        </p:grpSpPr>
        <p:sp>
          <p:nvSpPr>
            <p:cNvPr name="Freeform 13" id="13" descr="/home/claude/icons/FiBarChart2_64748B.png"/>
            <p:cNvSpPr/>
            <p:nvPr/>
          </p:nvSpPr>
          <p:spPr>
            <a:xfrm flipH="false" flipV="false" rot="0">
              <a:off x="0" y="0"/>
              <a:ext cx="1072896" cy="1072896"/>
            </a:xfrm>
            <a:custGeom>
              <a:avLst/>
              <a:gdLst/>
              <a:ahLst/>
              <a:cxnLst/>
              <a:rect r="r" b="b" t="t" l="l"/>
              <a:pathLst>
                <a:path h="1072896" w="1072896">
                  <a:moveTo>
                    <a:pt x="0" y="0"/>
                  </a:moveTo>
                  <a:lnTo>
                    <a:pt x="1072896" y="0"/>
                  </a:lnTo>
                  <a:lnTo>
                    <a:pt x="1072896" y="1072896"/>
                  </a:lnTo>
                  <a:lnTo>
                    <a:pt x="0" y="10728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1371600" y="5989320"/>
            <a:ext cx="8961120" cy="548640"/>
            <a:chOff x="0" y="0"/>
            <a:chExt cx="11948160" cy="73152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1948160" cy="731520"/>
            </a:xfrm>
            <a:custGeom>
              <a:avLst/>
              <a:gdLst/>
              <a:ahLst/>
              <a:cxnLst/>
              <a:rect r="r" b="b" t="t" l="l"/>
              <a:pathLst>
                <a:path h="731520" w="11948160">
                  <a:moveTo>
                    <a:pt x="0" y="0"/>
                  </a:moveTo>
                  <a:lnTo>
                    <a:pt x="11948160" y="0"/>
                  </a:lnTo>
                  <a:lnTo>
                    <a:pt x="1194816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68255" r="0" b="-268255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57150"/>
              <a:ext cx="11948160" cy="7886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120"/>
                </a:lnSpc>
              </a:pPr>
              <a:r>
                <a:rPr lang="en-US" sz="2600" b="true">
                  <a:solidFill>
                    <a:srgbClr val="7E8F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Inserir gráfico de resultados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371600" y="6519672"/>
            <a:ext cx="8961120" cy="438912"/>
            <a:chOff x="0" y="0"/>
            <a:chExt cx="11948160" cy="585216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1948160" cy="585216"/>
            </a:xfrm>
            <a:custGeom>
              <a:avLst/>
              <a:gdLst/>
              <a:ahLst/>
              <a:cxnLst/>
              <a:rect r="r" b="b" t="t" l="l"/>
              <a:pathLst>
                <a:path h="585216" w="11948160">
                  <a:moveTo>
                    <a:pt x="0" y="0"/>
                  </a:moveTo>
                  <a:lnTo>
                    <a:pt x="11948160" y="0"/>
                  </a:lnTo>
                  <a:lnTo>
                    <a:pt x="11948160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47819" r="0" b="-347819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11948160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400"/>
                </a:lnSpc>
              </a:pPr>
              <a:r>
                <a:rPr lang="en-US" sz="2000" i="true">
                  <a:solidFill>
                    <a:srgbClr val="7E8FA6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Substitua por diagrama, fluxo, tabela ou captura de tela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1051543" y="2821943"/>
            <a:ext cx="6243323" cy="1890779"/>
            <a:chOff x="0" y="0"/>
            <a:chExt cx="8324431" cy="2521039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8324469" cy="2521077"/>
            </a:xfrm>
            <a:custGeom>
              <a:avLst/>
              <a:gdLst/>
              <a:ahLst/>
              <a:cxnLst/>
              <a:rect r="r" b="b" t="t" l="l"/>
              <a:pathLst>
                <a:path h="2521077" w="8324469">
                  <a:moveTo>
                    <a:pt x="0" y="197739"/>
                  </a:moveTo>
                  <a:cubicBezTo>
                    <a:pt x="0" y="88519"/>
                    <a:pt x="88519" y="0"/>
                    <a:pt x="197739" y="0"/>
                  </a:cubicBezTo>
                  <a:lnTo>
                    <a:pt x="8126730" y="0"/>
                  </a:lnTo>
                  <a:cubicBezTo>
                    <a:pt x="8235950" y="0"/>
                    <a:pt x="8324469" y="88519"/>
                    <a:pt x="8324469" y="197739"/>
                  </a:cubicBezTo>
                  <a:lnTo>
                    <a:pt x="8324469" y="2323338"/>
                  </a:lnTo>
                  <a:cubicBezTo>
                    <a:pt x="8324469" y="2432558"/>
                    <a:pt x="8235950" y="2521077"/>
                    <a:pt x="8126730" y="2521077"/>
                  </a:cubicBezTo>
                  <a:lnTo>
                    <a:pt x="197739" y="2521077"/>
                  </a:lnTo>
                  <a:cubicBezTo>
                    <a:pt x="88519" y="2521077"/>
                    <a:pt x="0" y="2432558"/>
                    <a:pt x="0" y="2323338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3DEEA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11521440" y="3054096"/>
            <a:ext cx="2926080" cy="1463040"/>
            <a:chOff x="0" y="0"/>
            <a:chExt cx="3901440" cy="195072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3901440" cy="1950720"/>
            </a:xfrm>
            <a:custGeom>
              <a:avLst/>
              <a:gdLst/>
              <a:ahLst/>
              <a:cxnLst/>
              <a:rect r="r" b="b" t="t" l="l"/>
              <a:pathLst>
                <a:path h="1950720" w="3901440">
                  <a:moveTo>
                    <a:pt x="0" y="0"/>
                  </a:moveTo>
                  <a:lnTo>
                    <a:pt x="3901440" y="0"/>
                  </a:lnTo>
                  <a:lnTo>
                    <a:pt x="3901440" y="1950720"/>
                  </a:lnTo>
                  <a:lnTo>
                    <a:pt x="0" y="19507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123825"/>
              <a:ext cx="3901440" cy="20745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200"/>
                </a:lnSpc>
              </a:pPr>
              <a:r>
                <a:rPr lang="en-US" sz="6000" b="true">
                  <a:solidFill>
                    <a:srgbClr val="38BDF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00 ms</a:t>
              </a: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4173200" y="3054096"/>
            <a:ext cx="2926080" cy="1463040"/>
            <a:chOff x="0" y="0"/>
            <a:chExt cx="3901440" cy="195072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3901440" cy="1950720"/>
            </a:xfrm>
            <a:custGeom>
              <a:avLst/>
              <a:gdLst/>
              <a:ahLst/>
              <a:cxnLst/>
              <a:rect r="r" b="b" t="t" l="l"/>
              <a:pathLst>
                <a:path h="1950720" w="3901440">
                  <a:moveTo>
                    <a:pt x="0" y="0"/>
                  </a:moveTo>
                  <a:lnTo>
                    <a:pt x="3901440" y="0"/>
                  </a:lnTo>
                  <a:lnTo>
                    <a:pt x="3901440" y="1950720"/>
                  </a:lnTo>
                  <a:lnTo>
                    <a:pt x="0" y="19507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47625"/>
              <a:ext cx="3901440" cy="19983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>
                  <a:solidFill>
                    <a:srgbClr val="7E8F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Lorem ipsum dolor</a:t>
              </a:r>
            </a:p>
            <a:p>
              <a:pPr algn="l">
                <a:lnSpc>
                  <a:spcPts val="2520"/>
                </a:lnSpc>
              </a:pPr>
              <a:r>
                <a:rPr lang="en-US" sz="2100">
                  <a:solidFill>
                    <a:srgbClr val="7E8F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Lorem ipsum dolor sit.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11051543" y="4979927"/>
            <a:ext cx="6243323" cy="1890779"/>
            <a:chOff x="0" y="0"/>
            <a:chExt cx="8324431" cy="2521039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8324469" cy="2521077"/>
            </a:xfrm>
            <a:custGeom>
              <a:avLst/>
              <a:gdLst/>
              <a:ahLst/>
              <a:cxnLst/>
              <a:rect r="r" b="b" t="t" l="l"/>
              <a:pathLst>
                <a:path h="2521077" w="8324469">
                  <a:moveTo>
                    <a:pt x="0" y="197739"/>
                  </a:moveTo>
                  <a:cubicBezTo>
                    <a:pt x="0" y="88519"/>
                    <a:pt x="88519" y="0"/>
                    <a:pt x="197739" y="0"/>
                  </a:cubicBezTo>
                  <a:lnTo>
                    <a:pt x="8126730" y="0"/>
                  </a:lnTo>
                  <a:cubicBezTo>
                    <a:pt x="8235950" y="0"/>
                    <a:pt x="8324469" y="88519"/>
                    <a:pt x="8324469" y="197739"/>
                  </a:cubicBezTo>
                  <a:lnTo>
                    <a:pt x="8324469" y="2323338"/>
                  </a:lnTo>
                  <a:cubicBezTo>
                    <a:pt x="8324469" y="2432558"/>
                    <a:pt x="8235950" y="2521077"/>
                    <a:pt x="8126730" y="2521077"/>
                  </a:cubicBezTo>
                  <a:lnTo>
                    <a:pt x="197739" y="2521077"/>
                  </a:lnTo>
                  <a:cubicBezTo>
                    <a:pt x="88519" y="2521077"/>
                    <a:pt x="0" y="2432558"/>
                    <a:pt x="0" y="2323338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3DEEA"/>
              </a:solidFill>
              <a:prstDash val="solid"/>
              <a:miter/>
            </a:ln>
          </p:spPr>
        </p:sp>
      </p:grpSp>
      <p:grpSp>
        <p:nvGrpSpPr>
          <p:cNvPr name="Group 30" id="30"/>
          <p:cNvGrpSpPr/>
          <p:nvPr/>
        </p:nvGrpSpPr>
        <p:grpSpPr>
          <a:xfrm rot="0">
            <a:off x="11521440" y="5212080"/>
            <a:ext cx="2926080" cy="1463040"/>
            <a:chOff x="0" y="0"/>
            <a:chExt cx="3901440" cy="195072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3901440" cy="1950720"/>
            </a:xfrm>
            <a:custGeom>
              <a:avLst/>
              <a:gdLst/>
              <a:ahLst/>
              <a:cxnLst/>
              <a:rect r="r" b="b" t="t" l="l"/>
              <a:pathLst>
                <a:path h="1950720" w="3901440">
                  <a:moveTo>
                    <a:pt x="0" y="0"/>
                  </a:moveTo>
                  <a:lnTo>
                    <a:pt x="3901440" y="0"/>
                  </a:lnTo>
                  <a:lnTo>
                    <a:pt x="3901440" y="1950720"/>
                  </a:lnTo>
                  <a:lnTo>
                    <a:pt x="0" y="19507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123825"/>
              <a:ext cx="3901440" cy="20745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200"/>
                </a:lnSpc>
              </a:pPr>
              <a:r>
                <a:rPr lang="en-US" sz="6000" b="true">
                  <a:solidFill>
                    <a:srgbClr val="38BDF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00%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14173200" y="5212080"/>
            <a:ext cx="2926080" cy="1463040"/>
            <a:chOff x="0" y="0"/>
            <a:chExt cx="3901440" cy="195072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3901440" cy="1950720"/>
            </a:xfrm>
            <a:custGeom>
              <a:avLst/>
              <a:gdLst/>
              <a:ahLst/>
              <a:cxnLst/>
              <a:rect r="r" b="b" t="t" l="l"/>
              <a:pathLst>
                <a:path h="1950720" w="3901440">
                  <a:moveTo>
                    <a:pt x="0" y="0"/>
                  </a:moveTo>
                  <a:lnTo>
                    <a:pt x="3901440" y="0"/>
                  </a:lnTo>
                  <a:lnTo>
                    <a:pt x="3901440" y="1950720"/>
                  </a:lnTo>
                  <a:lnTo>
                    <a:pt x="0" y="19507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47625"/>
              <a:ext cx="3901440" cy="19983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>
                  <a:solidFill>
                    <a:srgbClr val="7E8F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Consectetur elit</a:t>
              </a:r>
            </a:p>
            <a:p>
              <a:pPr algn="l">
                <a:lnSpc>
                  <a:spcPts val="2520"/>
                </a:lnSpc>
              </a:pPr>
              <a:r>
                <a:rPr lang="en-US" sz="2100">
                  <a:solidFill>
                    <a:srgbClr val="7E8F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Lorem ipsum dolor sit.</a:t>
              </a: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11051543" y="7137911"/>
            <a:ext cx="6243323" cy="1890779"/>
            <a:chOff x="0" y="0"/>
            <a:chExt cx="8324431" cy="2521039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8324469" cy="2521077"/>
            </a:xfrm>
            <a:custGeom>
              <a:avLst/>
              <a:gdLst/>
              <a:ahLst/>
              <a:cxnLst/>
              <a:rect r="r" b="b" t="t" l="l"/>
              <a:pathLst>
                <a:path h="2521077" w="8324469">
                  <a:moveTo>
                    <a:pt x="0" y="197739"/>
                  </a:moveTo>
                  <a:cubicBezTo>
                    <a:pt x="0" y="88519"/>
                    <a:pt x="88519" y="0"/>
                    <a:pt x="197739" y="0"/>
                  </a:cubicBezTo>
                  <a:lnTo>
                    <a:pt x="8126730" y="0"/>
                  </a:lnTo>
                  <a:cubicBezTo>
                    <a:pt x="8235950" y="0"/>
                    <a:pt x="8324469" y="88519"/>
                    <a:pt x="8324469" y="197739"/>
                  </a:cubicBezTo>
                  <a:lnTo>
                    <a:pt x="8324469" y="2323338"/>
                  </a:lnTo>
                  <a:cubicBezTo>
                    <a:pt x="8324469" y="2432558"/>
                    <a:pt x="8235950" y="2521077"/>
                    <a:pt x="8126730" y="2521077"/>
                  </a:cubicBezTo>
                  <a:lnTo>
                    <a:pt x="197739" y="2521077"/>
                  </a:lnTo>
                  <a:cubicBezTo>
                    <a:pt x="88519" y="2521077"/>
                    <a:pt x="0" y="2432558"/>
                    <a:pt x="0" y="2323338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3DEEA"/>
              </a:solidFill>
              <a:prstDash val="solid"/>
              <a:miter/>
            </a:ln>
          </p:spPr>
        </p:sp>
      </p:grpSp>
      <p:grpSp>
        <p:nvGrpSpPr>
          <p:cNvPr name="Group 38" id="38"/>
          <p:cNvGrpSpPr/>
          <p:nvPr/>
        </p:nvGrpSpPr>
        <p:grpSpPr>
          <a:xfrm rot="0">
            <a:off x="11521440" y="7370064"/>
            <a:ext cx="2926080" cy="1463040"/>
            <a:chOff x="0" y="0"/>
            <a:chExt cx="3901440" cy="195072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3901440" cy="1950720"/>
            </a:xfrm>
            <a:custGeom>
              <a:avLst/>
              <a:gdLst/>
              <a:ahLst/>
              <a:cxnLst/>
              <a:rect r="r" b="b" t="t" l="l"/>
              <a:pathLst>
                <a:path h="1950720" w="3901440">
                  <a:moveTo>
                    <a:pt x="0" y="0"/>
                  </a:moveTo>
                  <a:lnTo>
                    <a:pt x="3901440" y="0"/>
                  </a:lnTo>
                  <a:lnTo>
                    <a:pt x="3901440" y="1950720"/>
                  </a:lnTo>
                  <a:lnTo>
                    <a:pt x="0" y="19507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123825"/>
              <a:ext cx="3901440" cy="20745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200"/>
                </a:lnSpc>
              </a:pPr>
              <a:r>
                <a:rPr lang="en-US" sz="6000" b="true">
                  <a:solidFill>
                    <a:srgbClr val="38BDF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0.000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14173200" y="7370064"/>
            <a:ext cx="2926080" cy="1463040"/>
            <a:chOff x="0" y="0"/>
            <a:chExt cx="3901440" cy="195072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3901440" cy="1950720"/>
            </a:xfrm>
            <a:custGeom>
              <a:avLst/>
              <a:gdLst/>
              <a:ahLst/>
              <a:cxnLst/>
              <a:rect r="r" b="b" t="t" l="l"/>
              <a:pathLst>
                <a:path h="1950720" w="3901440">
                  <a:moveTo>
                    <a:pt x="0" y="0"/>
                  </a:moveTo>
                  <a:lnTo>
                    <a:pt x="3901440" y="0"/>
                  </a:lnTo>
                  <a:lnTo>
                    <a:pt x="3901440" y="1950720"/>
                  </a:lnTo>
                  <a:lnTo>
                    <a:pt x="0" y="19507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47625"/>
              <a:ext cx="3901440" cy="19983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>
                  <a:solidFill>
                    <a:srgbClr val="7E8F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Tempor incididunt</a:t>
              </a:r>
            </a:p>
            <a:p>
              <a:pPr algn="l">
                <a:lnSpc>
                  <a:spcPts val="2520"/>
                </a:lnSpc>
              </a:pPr>
              <a:r>
                <a:rPr lang="en-US" sz="2100">
                  <a:solidFill>
                    <a:srgbClr val="7E8F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Lorem ipsum dolor sit.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1005840" y="9692640"/>
            <a:ext cx="10058400" cy="457200"/>
            <a:chOff x="0" y="0"/>
            <a:chExt cx="13411200" cy="60960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13411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3411200">
                  <a:moveTo>
                    <a:pt x="0" y="0"/>
                  </a:moveTo>
                  <a:lnTo>
                    <a:pt x="13411200" y="0"/>
                  </a:lnTo>
                  <a:lnTo>
                    <a:pt x="13411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78670" r="0" b="-378670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38100"/>
              <a:ext cx="13411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7E8F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Seminário de IoT — Segurança em IoT · Grupo 6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16367760" y="9692640"/>
            <a:ext cx="914400" cy="457200"/>
            <a:chOff x="0" y="0"/>
            <a:chExt cx="1219200" cy="60960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1219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49" id="49"/>
            <p:cNvSpPr txBox="true"/>
            <p:nvPr/>
          </p:nvSpPr>
          <p:spPr>
            <a:xfrm>
              <a:off x="0" y="-38100"/>
              <a:ext cx="1219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7E8F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40</a:t>
              </a:r>
            </a:p>
          </p:txBody>
        </p:sp>
      </p:grpSp>
    </p:spTree>
  </p:cSld>
  <p:clrMapOvr>
    <a:masterClrMapping/>
  </p:clrMapOvr>
</p:sld>
</file>

<file path=ppt/slides/slide4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05840" y="914400"/>
            <a:ext cx="621792" cy="559613"/>
            <a:chOff x="0" y="0"/>
            <a:chExt cx="829056" cy="74615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29056" cy="746125"/>
            </a:xfrm>
            <a:custGeom>
              <a:avLst/>
              <a:gdLst/>
              <a:ahLst/>
              <a:cxnLst/>
              <a:rect r="r" b="b" t="t" l="l"/>
              <a:pathLst>
                <a:path h="746125" w="829056">
                  <a:moveTo>
                    <a:pt x="0" y="373126"/>
                  </a:moveTo>
                  <a:lnTo>
                    <a:pt x="186563" y="0"/>
                  </a:lnTo>
                  <a:lnTo>
                    <a:pt x="642493" y="0"/>
                  </a:lnTo>
                  <a:lnTo>
                    <a:pt x="829056" y="373126"/>
                  </a:lnTo>
                  <a:lnTo>
                    <a:pt x="642493" y="746125"/>
                  </a:lnTo>
                  <a:lnTo>
                    <a:pt x="186563" y="746125"/>
                  </a:lnTo>
                  <a:close/>
                </a:path>
              </a:pathLst>
            </a:custGeom>
            <a:solidFill>
              <a:srgbClr val="38BDF8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865376" y="859536"/>
            <a:ext cx="13898880" cy="475488"/>
            <a:chOff x="0" y="0"/>
            <a:chExt cx="18531840" cy="63398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8531839" cy="633984"/>
            </a:xfrm>
            <a:custGeom>
              <a:avLst/>
              <a:gdLst/>
              <a:ahLst/>
              <a:cxnLst/>
              <a:rect r="r" b="b" t="t" l="l"/>
              <a:pathLst>
                <a:path h="633984" w="18531839">
                  <a:moveTo>
                    <a:pt x="0" y="0"/>
                  </a:moveTo>
                  <a:lnTo>
                    <a:pt x="18531839" y="0"/>
                  </a:lnTo>
                  <a:lnTo>
                    <a:pt x="18531839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19562" r="0" b="-519562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18531840" cy="68160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b="true" sz="2200" spc="399">
                  <a:solidFill>
                    <a:srgbClr val="4A6FA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FECHAMENTO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005840" y="1426464"/>
            <a:ext cx="15727680" cy="1097280"/>
            <a:chOff x="0" y="0"/>
            <a:chExt cx="20970240" cy="146304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0970239" cy="1463040"/>
            </a:xfrm>
            <a:custGeom>
              <a:avLst/>
              <a:gdLst/>
              <a:ahLst/>
              <a:cxnLst/>
              <a:rect r="r" b="b" t="t" l="l"/>
              <a:pathLst>
                <a:path h="1463040" w="20970239">
                  <a:moveTo>
                    <a:pt x="0" y="0"/>
                  </a:moveTo>
                  <a:lnTo>
                    <a:pt x="20970239" y="0"/>
                  </a:lnTo>
                  <a:lnTo>
                    <a:pt x="20970239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29285" r="0" b="-229285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42875"/>
              <a:ext cx="20970240" cy="16059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920"/>
                </a:lnSpc>
              </a:pPr>
              <a:r>
                <a:rPr lang="en-US" sz="66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Discussão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005840" y="2926080"/>
            <a:ext cx="1060704" cy="1060704"/>
            <a:chOff x="0" y="0"/>
            <a:chExt cx="1414272" cy="14142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414272" cy="1414272"/>
            </a:xfrm>
            <a:custGeom>
              <a:avLst/>
              <a:gdLst/>
              <a:ahLst/>
              <a:cxnLst/>
              <a:rect r="r" b="b" t="t" l="l"/>
              <a:pathLst>
                <a:path h="1414272" w="1414272">
                  <a:moveTo>
                    <a:pt x="0" y="707136"/>
                  </a:moveTo>
                  <a:cubicBezTo>
                    <a:pt x="0" y="316611"/>
                    <a:pt x="316611" y="0"/>
                    <a:pt x="707136" y="0"/>
                  </a:cubicBezTo>
                  <a:cubicBezTo>
                    <a:pt x="1097661" y="0"/>
                    <a:pt x="1414272" y="316611"/>
                    <a:pt x="1414272" y="707136"/>
                  </a:cubicBezTo>
                  <a:cubicBezTo>
                    <a:pt x="1414272" y="1097661"/>
                    <a:pt x="1097661" y="1414272"/>
                    <a:pt x="707136" y="1414272"/>
                  </a:cubicBezTo>
                  <a:cubicBezTo>
                    <a:pt x="316611" y="1414272"/>
                    <a:pt x="0" y="1097661"/>
                    <a:pt x="0" y="707136"/>
                  </a:cubicBezTo>
                  <a:close/>
                </a:path>
              </a:pathLst>
            </a:custGeom>
            <a:solidFill>
              <a:srgbClr val="4A6FA5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280160" y="3200400"/>
            <a:ext cx="512064" cy="512064"/>
            <a:chOff x="0" y="0"/>
            <a:chExt cx="682752" cy="682752"/>
          </a:xfrm>
        </p:grpSpPr>
        <p:sp>
          <p:nvSpPr>
            <p:cNvPr name="Freeform 13" id="13" descr="/home/claude/icons/FiAlertTriangle_FFFFFF.png"/>
            <p:cNvSpPr/>
            <p:nvPr/>
          </p:nvSpPr>
          <p:spPr>
            <a:xfrm flipH="false" flipV="false" rot="0">
              <a:off x="0" y="0"/>
              <a:ext cx="682752" cy="682752"/>
            </a:xfrm>
            <a:custGeom>
              <a:avLst/>
              <a:gdLst/>
              <a:ahLst/>
              <a:cxnLst/>
              <a:rect r="r" b="b" t="t" l="l"/>
              <a:pathLst>
                <a:path h="682752" w="682752">
                  <a:moveTo>
                    <a:pt x="0" y="0"/>
                  </a:moveTo>
                  <a:lnTo>
                    <a:pt x="682752" y="0"/>
                  </a:lnTo>
                  <a:lnTo>
                    <a:pt x="682752" y="682752"/>
                  </a:lnTo>
                  <a:lnTo>
                    <a:pt x="0" y="6827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2468880" y="2834640"/>
            <a:ext cx="8229600" cy="621792"/>
            <a:chOff x="0" y="0"/>
            <a:chExt cx="10972800" cy="829056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0972800" cy="829056"/>
            </a:xfrm>
            <a:custGeom>
              <a:avLst/>
              <a:gdLst/>
              <a:ahLst/>
              <a:cxnLst/>
              <a:rect r="r" b="b" t="t" l="l"/>
              <a:pathLst>
                <a:path h="829056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07890" r="0" b="-207890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76200"/>
              <a:ext cx="10972800" cy="90525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800"/>
                </a:lnSpc>
              </a:pPr>
              <a:r>
                <a:rPr lang="en-US" sz="40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Conceito 01 — Lorem ipsum dolor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2468880" y="3456432"/>
            <a:ext cx="9144000" cy="731520"/>
            <a:chOff x="0" y="0"/>
            <a:chExt cx="12192000" cy="97536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2192000" cy="975360"/>
            </a:xfrm>
            <a:custGeom>
              <a:avLst/>
              <a:gdLst/>
              <a:ahLst/>
              <a:cxnLst/>
              <a:rect r="r" b="b" t="t" l="l"/>
              <a:pathLst>
                <a:path h="975360" w="12192000">
                  <a:moveTo>
                    <a:pt x="0" y="0"/>
                  </a:moveTo>
                  <a:lnTo>
                    <a:pt x="12192000" y="0"/>
                  </a:lnTo>
                  <a:lnTo>
                    <a:pt x="1219200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93562" r="0" b="-193562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12192000" cy="10134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7E8F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Lorem ipsum dolor sit amet, consectetur adipiscing elit, sed do eiusmod tempor.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005840" y="4517136"/>
            <a:ext cx="1060704" cy="1060704"/>
            <a:chOff x="0" y="0"/>
            <a:chExt cx="1414272" cy="1414272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414272" cy="1414272"/>
            </a:xfrm>
            <a:custGeom>
              <a:avLst/>
              <a:gdLst/>
              <a:ahLst/>
              <a:cxnLst/>
              <a:rect r="r" b="b" t="t" l="l"/>
              <a:pathLst>
                <a:path h="1414272" w="1414272">
                  <a:moveTo>
                    <a:pt x="0" y="707136"/>
                  </a:moveTo>
                  <a:cubicBezTo>
                    <a:pt x="0" y="316611"/>
                    <a:pt x="316611" y="0"/>
                    <a:pt x="707136" y="0"/>
                  </a:cubicBezTo>
                  <a:cubicBezTo>
                    <a:pt x="1097661" y="0"/>
                    <a:pt x="1414272" y="316611"/>
                    <a:pt x="1414272" y="707136"/>
                  </a:cubicBezTo>
                  <a:cubicBezTo>
                    <a:pt x="1414272" y="1097661"/>
                    <a:pt x="1097661" y="1414272"/>
                    <a:pt x="707136" y="1414272"/>
                  </a:cubicBezTo>
                  <a:cubicBezTo>
                    <a:pt x="316611" y="1414272"/>
                    <a:pt x="0" y="1097661"/>
                    <a:pt x="0" y="707136"/>
                  </a:cubicBezTo>
                  <a:close/>
                </a:path>
              </a:pathLst>
            </a:custGeom>
            <a:solidFill>
              <a:srgbClr val="4A6FA5"/>
            </a:solidFill>
          </p:spPr>
        </p:sp>
      </p:grpSp>
      <p:grpSp>
        <p:nvGrpSpPr>
          <p:cNvPr name="Group 22" id="22"/>
          <p:cNvGrpSpPr/>
          <p:nvPr/>
        </p:nvGrpSpPr>
        <p:grpSpPr>
          <a:xfrm rot="0">
            <a:off x="1280160" y="4791456"/>
            <a:ext cx="512064" cy="512064"/>
            <a:chOff x="0" y="0"/>
            <a:chExt cx="682752" cy="682752"/>
          </a:xfrm>
        </p:grpSpPr>
        <p:sp>
          <p:nvSpPr>
            <p:cNvPr name="Freeform 23" id="23" descr="/home/claude/icons/FiCheckCircle_FFFFFF.png"/>
            <p:cNvSpPr/>
            <p:nvPr/>
          </p:nvSpPr>
          <p:spPr>
            <a:xfrm flipH="false" flipV="false" rot="0">
              <a:off x="0" y="0"/>
              <a:ext cx="682752" cy="682752"/>
            </a:xfrm>
            <a:custGeom>
              <a:avLst/>
              <a:gdLst/>
              <a:ahLst/>
              <a:cxnLst/>
              <a:rect r="r" b="b" t="t" l="l"/>
              <a:pathLst>
                <a:path h="682752" w="682752">
                  <a:moveTo>
                    <a:pt x="0" y="0"/>
                  </a:moveTo>
                  <a:lnTo>
                    <a:pt x="682752" y="0"/>
                  </a:lnTo>
                  <a:lnTo>
                    <a:pt x="682752" y="682752"/>
                  </a:lnTo>
                  <a:lnTo>
                    <a:pt x="0" y="6827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2468880" y="4425696"/>
            <a:ext cx="8229600" cy="621792"/>
            <a:chOff x="0" y="0"/>
            <a:chExt cx="10972800" cy="829056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0972800" cy="829056"/>
            </a:xfrm>
            <a:custGeom>
              <a:avLst/>
              <a:gdLst/>
              <a:ahLst/>
              <a:cxnLst/>
              <a:rect r="r" b="b" t="t" l="l"/>
              <a:pathLst>
                <a:path h="829056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07890" r="0" b="-207890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76200"/>
              <a:ext cx="10972800" cy="90525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800"/>
                </a:lnSpc>
              </a:pPr>
              <a:r>
                <a:rPr lang="en-US" sz="40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Conceito 02 — Lorem ipsum dolor</a:t>
              </a: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2468880" y="5047488"/>
            <a:ext cx="9144000" cy="731520"/>
            <a:chOff x="0" y="0"/>
            <a:chExt cx="12192000" cy="97536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2192000" cy="975360"/>
            </a:xfrm>
            <a:custGeom>
              <a:avLst/>
              <a:gdLst/>
              <a:ahLst/>
              <a:cxnLst/>
              <a:rect r="r" b="b" t="t" l="l"/>
              <a:pathLst>
                <a:path h="975360" w="12192000">
                  <a:moveTo>
                    <a:pt x="0" y="0"/>
                  </a:moveTo>
                  <a:lnTo>
                    <a:pt x="12192000" y="0"/>
                  </a:lnTo>
                  <a:lnTo>
                    <a:pt x="1219200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93562" r="0" b="-193562"/>
              </a:stretch>
            </a:blip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38100"/>
              <a:ext cx="12192000" cy="10134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7E8F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Lorem ipsum dolor sit amet, consectetur adipiscing elit, sed do eiusmod tempor.</a:t>
              </a: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1005840" y="6108192"/>
            <a:ext cx="1060704" cy="1060704"/>
            <a:chOff x="0" y="0"/>
            <a:chExt cx="1414272" cy="1414272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414272" cy="1414272"/>
            </a:xfrm>
            <a:custGeom>
              <a:avLst/>
              <a:gdLst/>
              <a:ahLst/>
              <a:cxnLst/>
              <a:rect r="r" b="b" t="t" l="l"/>
              <a:pathLst>
                <a:path h="1414272" w="1414272">
                  <a:moveTo>
                    <a:pt x="0" y="707136"/>
                  </a:moveTo>
                  <a:cubicBezTo>
                    <a:pt x="0" y="316611"/>
                    <a:pt x="316611" y="0"/>
                    <a:pt x="707136" y="0"/>
                  </a:cubicBezTo>
                  <a:cubicBezTo>
                    <a:pt x="1097661" y="0"/>
                    <a:pt x="1414272" y="316611"/>
                    <a:pt x="1414272" y="707136"/>
                  </a:cubicBezTo>
                  <a:cubicBezTo>
                    <a:pt x="1414272" y="1097661"/>
                    <a:pt x="1097661" y="1414272"/>
                    <a:pt x="707136" y="1414272"/>
                  </a:cubicBezTo>
                  <a:cubicBezTo>
                    <a:pt x="316611" y="1414272"/>
                    <a:pt x="0" y="1097661"/>
                    <a:pt x="0" y="707136"/>
                  </a:cubicBezTo>
                  <a:close/>
                </a:path>
              </a:pathLst>
            </a:custGeom>
            <a:solidFill>
              <a:srgbClr val="4A6FA5"/>
            </a:solidFill>
          </p:spPr>
        </p:sp>
      </p:grpSp>
      <p:grpSp>
        <p:nvGrpSpPr>
          <p:cNvPr name="Group 32" id="32"/>
          <p:cNvGrpSpPr/>
          <p:nvPr/>
        </p:nvGrpSpPr>
        <p:grpSpPr>
          <a:xfrm rot="0">
            <a:off x="1280160" y="6382512"/>
            <a:ext cx="512064" cy="512064"/>
            <a:chOff x="0" y="0"/>
            <a:chExt cx="682752" cy="682752"/>
          </a:xfrm>
        </p:grpSpPr>
        <p:sp>
          <p:nvSpPr>
            <p:cNvPr name="Freeform 33" id="33" descr="/home/claude/icons/FiLink_FFFFFF.png"/>
            <p:cNvSpPr/>
            <p:nvPr/>
          </p:nvSpPr>
          <p:spPr>
            <a:xfrm flipH="false" flipV="false" rot="0">
              <a:off x="0" y="0"/>
              <a:ext cx="682752" cy="682752"/>
            </a:xfrm>
            <a:custGeom>
              <a:avLst/>
              <a:gdLst/>
              <a:ahLst/>
              <a:cxnLst/>
              <a:rect r="r" b="b" t="t" l="l"/>
              <a:pathLst>
                <a:path h="682752" w="682752">
                  <a:moveTo>
                    <a:pt x="0" y="0"/>
                  </a:moveTo>
                  <a:lnTo>
                    <a:pt x="682752" y="0"/>
                  </a:lnTo>
                  <a:lnTo>
                    <a:pt x="682752" y="682752"/>
                  </a:lnTo>
                  <a:lnTo>
                    <a:pt x="0" y="6827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34" id="34"/>
          <p:cNvGrpSpPr/>
          <p:nvPr/>
        </p:nvGrpSpPr>
        <p:grpSpPr>
          <a:xfrm rot="0">
            <a:off x="2468880" y="6016752"/>
            <a:ext cx="8229600" cy="621792"/>
            <a:chOff x="0" y="0"/>
            <a:chExt cx="10972800" cy="829056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10972800" cy="829056"/>
            </a:xfrm>
            <a:custGeom>
              <a:avLst/>
              <a:gdLst/>
              <a:ahLst/>
              <a:cxnLst/>
              <a:rect r="r" b="b" t="t" l="l"/>
              <a:pathLst>
                <a:path h="829056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07890" r="0" b="-207890"/>
              </a:stretch>
            </a:blipFill>
          </p:spPr>
        </p:sp>
        <p:sp>
          <p:nvSpPr>
            <p:cNvPr name="TextBox 36" id="36"/>
            <p:cNvSpPr txBox="true"/>
            <p:nvPr/>
          </p:nvSpPr>
          <p:spPr>
            <a:xfrm>
              <a:off x="0" y="-76200"/>
              <a:ext cx="10972800" cy="90525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800"/>
                </a:lnSpc>
              </a:pPr>
              <a:r>
                <a:rPr lang="en-US" sz="40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Conceito 03 — Lorem ipsum dolor</a:t>
              </a:r>
            </a:p>
          </p:txBody>
        </p:sp>
      </p:grpSp>
      <p:grpSp>
        <p:nvGrpSpPr>
          <p:cNvPr name="Group 37" id="37"/>
          <p:cNvGrpSpPr/>
          <p:nvPr/>
        </p:nvGrpSpPr>
        <p:grpSpPr>
          <a:xfrm rot="0">
            <a:off x="2468880" y="6638544"/>
            <a:ext cx="9144000" cy="731520"/>
            <a:chOff x="0" y="0"/>
            <a:chExt cx="12192000" cy="97536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12192000" cy="975360"/>
            </a:xfrm>
            <a:custGeom>
              <a:avLst/>
              <a:gdLst/>
              <a:ahLst/>
              <a:cxnLst/>
              <a:rect r="r" b="b" t="t" l="l"/>
              <a:pathLst>
                <a:path h="975360" w="12192000">
                  <a:moveTo>
                    <a:pt x="0" y="0"/>
                  </a:moveTo>
                  <a:lnTo>
                    <a:pt x="12192000" y="0"/>
                  </a:lnTo>
                  <a:lnTo>
                    <a:pt x="1219200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93562" r="0" b="-193562"/>
              </a:stretch>
            </a:blipFill>
          </p:spPr>
        </p:sp>
        <p:sp>
          <p:nvSpPr>
            <p:cNvPr name="TextBox 39" id="39"/>
            <p:cNvSpPr txBox="true"/>
            <p:nvPr/>
          </p:nvSpPr>
          <p:spPr>
            <a:xfrm>
              <a:off x="0" y="-38100"/>
              <a:ext cx="12192000" cy="10134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7E8F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Lorem ipsum dolor sit amet, consectetur adipiscing elit, sed do eiusmod tempor.</a:t>
              </a:r>
            </a:p>
          </p:txBody>
        </p:sp>
      </p:grpSp>
      <p:grpSp>
        <p:nvGrpSpPr>
          <p:cNvPr name="Group 40" id="40"/>
          <p:cNvGrpSpPr/>
          <p:nvPr/>
        </p:nvGrpSpPr>
        <p:grpSpPr>
          <a:xfrm rot="0">
            <a:off x="1005840" y="7699248"/>
            <a:ext cx="1060704" cy="1060704"/>
            <a:chOff x="0" y="0"/>
            <a:chExt cx="1414272" cy="1414272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1414272" cy="1414272"/>
            </a:xfrm>
            <a:custGeom>
              <a:avLst/>
              <a:gdLst/>
              <a:ahLst/>
              <a:cxnLst/>
              <a:rect r="r" b="b" t="t" l="l"/>
              <a:pathLst>
                <a:path h="1414272" w="1414272">
                  <a:moveTo>
                    <a:pt x="0" y="707136"/>
                  </a:moveTo>
                  <a:cubicBezTo>
                    <a:pt x="0" y="316611"/>
                    <a:pt x="316611" y="0"/>
                    <a:pt x="707136" y="0"/>
                  </a:cubicBezTo>
                  <a:cubicBezTo>
                    <a:pt x="1097661" y="0"/>
                    <a:pt x="1414272" y="316611"/>
                    <a:pt x="1414272" y="707136"/>
                  </a:cubicBezTo>
                  <a:cubicBezTo>
                    <a:pt x="1414272" y="1097661"/>
                    <a:pt x="1097661" y="1414272"/>
                    <a:pt x="707136" y="1414272"/>
                  </a:cubicBezTo>
                  <a:cubicBezTo>
                    <a:pt x="316611" y="1414272"/>
                    <a:pt x="0" y="1097661"/>
                    <a:pt x="0" y="707136"/>
                  </a:cubicBezTo>
                  <a:close/>
                </a:path>
              </a:pathLst>
            </a:custGeom>
            <a:solidFill>
              <a:srgbClr val="4A6FA5"/>
            </a:solidFill>
          </p:spPr>
        </p:sp>
      </p:grpSp>
      <p:grpSp>
        <p:nvGrpSpPr>
          <p:cNvPr name="Group 42" id="42"/>
          <p:cNvGrpSpPr/>
          <p:nvPr/>
        </p:nvGrpSpPr>
        <p:grpSpPr>
          <a:xfrm rot="0">
            <a:off x="1280160" y="7973568"/>
            <a:ext cx="512064" cy="512064"/>
            <a:chOff x="0" y="0"/>
            <a:chExt cx="682752" cy="682752"/>
          </a:xfrm>
        </p:grpSpPr>
        <p:sp>
          <p:nvSpPr>
            <p:cNvPr name="Freeform 43" id="43" descr="/home/claude/icons/FiUsers_FFFFFF.png"/>
            <p:cNvSpPr/>
            <p:nvPr/>
          </p:nvSpPr>
          <p:spPr>
            <a:xfrm flipH="false" flipV="false" rot="0">
              <a:off x="0" y="0"/>
              <a:ext cx="682752" cy="682752"/>
            </a:xfrm>
            <a:custGeom>
              <a:avLst/>
              <a:gdLst/>
              <a:ahLst/>
              <a:cxnLst/>
              <a:rect r="r" b="b" t="t" l="l"/>
              <a:pathLst>
                <a:path h="682752" w="682752">
                  <a:moveTo>
                    <a:pt x="0" y="0"/>
                  </a:moveTo>
                  <a:lnTo>
                    <a:pt x="682752" y="0"/>
                  </a:lnTo>
                  <a:lnTo>
                    <a:pt x="682752" y="682752"/>
                  </a:lnTo>
                  <a:lnTo>
                    <a:pt x="0" y="6827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44" id="44"/>
          <p:cNvGrpSpPr/>
          <p:nvPr/>
        </p:nvGrpSpPr>
        <p:grpSpPr>
          <a:xfrm rot="0">
            <a:off x="2468880" y="7607808"/>
            <a:ext cx="8229600" cy="621792"/>
            <a:chOff x="0" y="0"/>
            <a:chExt cx="10972800" cy="829056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10972800" cy="829056"/>
            </a:xfrm>
            <a:custGeom>
              <a:avLst/>
              <a:gdLst/>
              <a:ahLst/>
              <a:cxnLst/>
              <a:rect r="r" b="b" t="t" l="l"/>
              <a:pathLst>
                <a:path h="829056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07890" r="0" b="-207890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76200"/>
              <a:ext cx="10972800" cy="90525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800"/>
                </a:lnSpc>
              </a:pPr>
              <a:r>
                <a:rPr lang="en-US" sz="40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Conceito 04 — Lorem ipsum dolor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2468880" y="8229600"/>
            <a:ext cx="9144000" cy="731520"/>
            <a:chOff x="0" y="0"/>
            <a:chExt cx="12192000" cy="97536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12192000" cy="975360"/>
            </a:xfrm>
            <a:custGeom>
              <a:avLst/>
              <a:gdLst/>
              <a:ahLst/>
              <a:cxnLst/>
              <a:rect r="r" b="b" t="t" l="l"/>
              <a:pathLst>
                <a:path h="975360" w="12192000">
                  <a:moveTo>
                    <a:pt x="0" y="0"/>
                  </a:moveTo>
                  <a:lnTo>
                    <a:pt x="12192000" y="0"/>
                  </a:lnTo>
                  <a:lnTo>
                    <a:pt x="1219200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93562" r="0" b="-193562"/>
              </a:stretch>
            </a:blipFill>
          </p:spPr>
        </p:sp>
        <p:sp>
          <p:nvSpPr>
            <p:cNvPr name="TextBox 49" id="49"/>
            <p:cNvSpPr txBox="true"/>
            <p:nvPr/>
          </p:nvSpPr>
          <p:spPr>
            <a:xfrm>
              <a:off x="0" y="-38100"/>
              <a:ext cx="12192000" cy="10134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7E8F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Lorem ipsum dolor sit amet, consectetur adipiscing elit, sed do eiusmod tempor.</a:t>
              </a: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12237082" y="2818762"/>
            <a:ext cx="5060947" cy="6249667"/>
            <a:chOff x="0" y="0"/>
            <a:chExt cx="6747929" cy="8332889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6748018" cy="8332978"/>
            </a:xfrm>
            <a:custGeom>
              <a:avLst/>
              <a:gdLst/>
              <a:ahLst/>
              <a:cxnLst/>
              <a:rect r="r" b="b" t="t" l="l"/>
              <a:pathLst>
                <a:path h="8332978" w="6748018">
                  <a:moveTo>
                    <a:pt x="0" y="196342"/>
                  </a:moveTo>
                  <a:cubicBezTo>
                    <a:pt x="0" y="87884"/>
                    <a:pt x="87884" y="0"/>
                    <a:pt x="196342" y="0"/>
                  </a:cubicBezTo>
                  <a:lnTo>
                    <a:pt x="6551676" y="0"/>
                  </a:lnTo>
                  <a:cubicBezTo>
                    <a:pt x="6660134" y="0"/>
                    <a:pt x="6748018" y="87884"/>
                    <a:pt x="6748018" y="196342"/>
                  </a:cubicBezTo>
                  <a:lnTo>
                    <a:pt x="6748018" y="8136636"/>
                  </a:lnTo>
                  <a:cubicBezTo>
                    <a:pt x="6748018" y="8245094"/>
                    <a:pt x="6660134" y="8332978"/>
                    <a:pt x="6551676" y="8332978"/>
                  </a:cubicBezTo>
                  <a:lnTo>
                    <a:pt x="196342" y="8332978"/>
                  </a:lnTo>
                  <a:cubicBezTo>
                    <a:pt x="87884" y="8332851"/>
                    <a:pt x="0" y="8244967"/>
                    <a:pt x="0" y="8136636"/>
                  </a:cubicBezTo>
                  <a:close/>
                </a:path>
              </a:pathLst>
            </a:custGeom>
            <a:solidFill>
              <a:srgbClr val="F7FAFD"/>
            </a:solidFill>
            <a:ln w="31750" cap="sq">
              <a:solidFill>
                <a:srgbClr val="A9C1DC"/>
              </a:solidFill>
              <a:prstDash val="dash"/>
              <a:miter/>
            </a:ln>
          </p:spPr>
        </p:sp>
      </p:grpSp>
      <p:grpSp>
        <p:nvGrpSpPr>
          <p:cNvPr name="Group 52" id="52"/>
          <p:cNvGrpSpPr/>
          <p:nvPr/>
        </p:nvGrpSpPr>
        <p:grpSpPr>
          <a:xfrm rot="0">
            <a:off x="14365224" y="5175504"/>
            <a:ext cx="804672" cy="804672"/>
            <a:chOff x="0" y="0"/>
            <a:chExt cx="1072896" cy="1072896"/>
          </a:xfrm>
        </p:grpSpPr>
        <p:sp>
          <p:nvSpPr>
            <p:cNvPr name="Freeform 53" id="53" descr="/home/claude/icons/FiImage_64748B.png"/>
            <p:cNvSpPr/>
            <p:nvPr/>
          </p:nvSpPr>
          <p:spPr>
            <a:xfrm flipH="false" flipV="false" rot="0">
              <a:off x="0" y="0"/>
              <a:ext cx="1072896" cy="1072896"/>
            </a:xfrm>
            <a:custGeom>
              <a:avLst/>
              <a:gdLst/>
              <a:ahLst/>
              <a:cxnLst/>
              <a:rect r="r" b="b" t="t" l="l"/>
              <a:pathLst>
                <a:path h="1072896" w="1072896">
                  <a:moveTo>
                    <a:pt x="0" y="0"/>
                  </a:moveTo>
                  <a:lnTo>
                    <a:pt x="1072896" y="0"/>
                  </a:lnTo>
                  <a:lnTo>
                    <a:pt x="1072896" y="1072896"/>
                  </a:lnTo>
                  <a:lnTo>
                    <a:pt x="0" y="10728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grpSp>
        <p:nvGrpSpPr>
          <p:cNvPr name="Group 54" id="54"/>
          <p:cNvGrpSpPr/>
          <p:nvPr/>
        </p:nvGrpSpPr>
        <p:grpSpPr>
          <a:xfrm rot="0">
            <a:off x="12618720" y="6035040"/>
            <a:ext cx="4297680" cy="548640"/>
            <a:chOff x="0" y="0"/>
            <a:chExt cx="5730240" cy="731520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5730240" cy="731520"/>
            </a:xfrm>
            <a:custGeom>
              <a:avLst/>
              <a:gdLst/>
              <a:ahLst/>
              <a:cxnLst/>
              <a:rect r="r" b="b" t="t" l="l"/>
              <a:pathLst>
                <a:path h="731520" w="5730240">
                  <a:moveTo>
                    <a:pt x="0" y="0"/>
                  </a:moveTo>
                  <a:lnTo>
                    <a:pt x="5730240" y="0"/>
                  </a:lnTo>
                  <a:lnTo>
                    <a:pt x="573024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02632" r="0" b="-102632"/>
              </a:stretch>
            </a:blipFill>
          </p:spPr>
        </p:sp>
        <p:sp>
          <p:nvSpPr>
            <p:cNvPr name="TextBox 56" id="56"/>
            <p:cNvSpPr txBox="true"/>
            <p:nvPr/>
          </p:nvSpPr>
          <p:spPr>
            <a:xfrm>
              <a:off x="0" y="-57150"/>
              <a:ext cx="5730240" cy="7886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120"/>
                </a:lnSpc>
              </a:pPr>
              <a:r>
                <a:rPr lang="en-US" sz="2600" b="true">
                  <a:solidFill>
                    <a:srgbClr val="7E8F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Inserir ilustração</a:t>
              </a:r>
            </a:p>
          </p:txBody>
        </p:sp>
      </p:grpSp>
      <p:grpSp>
        <p:nvGrpSpPr>
          <p:cNvPr name="Group 57" id="57"/>
          <p:cNvGrpSpPr/>
          <p:nvPr/>
        </p:nvGrpSpPr>
        <p:grpSpPr>
          <a:xfrm rot="0">
            <a:off x="12618720" y="6565392"/>
            <a:ext cx="4297680" cy="438912"/>
            <a:chOff x="0" y="0"/>
            <a:chExt cx="5730240" cy="585216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5730240" cy="585216"/>
            </a:xfrm>
            <a:custGeom>
              <a:avLst/>
              <a:gdLst/>
              <a:ahLst/>
              <a:cxnLst/>
              <a:rect r="r" b="b" t="t" l="l"/>
              <a:pathLst>
                <a:path h="585216" w="5730240">
                  <a:moveTo>
                    <a:pt x="0" y="0"/>
                  </a:moveTo>
                  <a:lnTo>
                    <a:pt x="5730240" y="0"/>
                  </a:lnTo>
                  <a:lnTo>
                    <a:pt x="5730240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40790" r="0" b="-140790"/>
              </a:stretch>
            </a:blipFill>
          </p:spPr>
        </p:sp>
        <p:sp>
          <p:nvSpPr>
            <p:cNvPr name="TextBox 59" id="59"/>
            <p:cNvSpPr txBox="true"/>
            <p:nvPr/>
          </p:nvSpPr>
          <p:spPr>
            <a:xfrm>
              <a:off x="0" y="-38100"/>
              <a:ext cx="5730240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400"/>
                </a:lnSpc>
              </a:pPr>
              <a:r>
                <a:rPr lang="en-US" sz="2000" i="true">
                  <a:solidFill>
                    <a:srgbClr val="7E8FA6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Substitua por diagrama, fluxo, tabela ou captura de tela</a:t>
              </a:r>
            </a:p>
          </p:txBody>
        </p:sp>
      </p:grpSp>
      <p:grpSp>
        <p:nvGrpSpPr>
          <p:cNvPr name="Group 60" id="60"/>
          <p:cNvGrpSpPr/>
          <p:nvPr/>
        </p:nvGrpSpPr>
        <p:grpSpPr>
          <a:xfrm rot="0">
            <a:off x="1005840" y="9692640"/>
            <a:ext cx="10058400" cy="457200"/>
            <a:chOff x="0" y="0"/>
            <a:chExt cx="13411200" cy="609600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13411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3411200">
                  <a:moveTo>
                    <a:pt x="0" y="0"/>
                  </a:moveTo>
                  <a:lnTo>
                    <a:pt x="13411200" y="0"/>
                  </a:lnTo>
                  <a:lnTo>
                    <a:pt x="13411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78670" r="0" b="-378670"/>
              </a:stretch>
            </a:blipFill>
          </p:spPr>
        </p:sp>
        <p:sp>
          <p:nvSpPr>
            <p:cNvPr name="TextBox 62" id="62"/>
            <p:cNvSpPr txBox="true"/>
            <p:nvPr/>
          </p:nvSpPr>
          <p:spPr>
            <a:xfrm>
              <a:off x="0" y="-38100"/>
              <a:ext cx="13411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7E8F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Seminário de IoT — Segurança em IoT · Grupo 6</a:t>
              </a:r>
            </a:p>
          </p:txBody>
        </p:sp>
      </p:grpSp>
      <p:grpSp>
        <p:nvGrpSpPr>
          <p:cNvPr name="Group 63" id="63"/>
          <p:cNvGrpSpPr/>
          <p:nvPr/>
        </p:nvGrpSpPr>
        <p:grpSpPr>
          <a:xfrm rot="0">
            <a:off x="16367760" y="9692640"/>
            <a:ext cx="914400" cy="457200"/>
            <a:chOff x="0" y="0"/>
            <a:chExt cx="1219200" cy="609600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1219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65" id="65"/>
            <p:cNvSpPr txBox="true"/>
            <p:nvPr/>
          </p:nvSpPr>
          <p:spPr>
            <a:xfrm>
              <a:off x="0" y="-38100"/>
              <a:ext cx="1219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7E8F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41</a:t>
              </a:r>
            </a:p>
          </p:txBody>
        </p:sp>
      </p:grpSp>
    </p:spTree>
  </p:cSld>
  <p:clrMapOvr>
    <a:masterClrMapping/>
  </p:clrMapOvr>
</p:sld>
</file>

<file path=ppt/slides/slide4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05840" y="914400"/>
            <a:ext cx="621792" cy="559613"/>
            <a:chOff x="0" y="0"/>
            <a:chExt cx="829056" cy="74615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29056" cy="746125"/>
            </a:xfrm>
            <a:custGeom>
              <a:avLst/>
              <a:gdLst/>
              <a:ahLst/>
              <a:cxnLst/>
              <a:rect r="r" b="b" t="t" l="l"/>
              <a:pathLst>
                <a:path h="746125" w="829056">
                  <a:moveTo>
                    <a:pt x="0" y="373126"/>
                  </a:moveTo>
                  <a:lnTo>
                    <a:pt x="186563" y="0"/>
                  </a:lnTo>
                  <a:lnTo>
                    <a:pt x="642493" y="0"/>
                  </a:lnTo>
                  <a:lnTo>
                    <a:pt x="829056" y="373126"/>
                  </a:lnTo>
                  <a:lnTo>
                    <a:pt x="642493" y="746125"/>
                  </a:lnTo>
                  <a:lnTo>
                    <a:pt x="186563" y="746125"/>
                  </a:lnTo>
                  <a:close/>
                </a:path>
              </a:pathLst>
            </a:custGeom>
            <a:solidFill>
              <a:srgbClr val="38BDF8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865376" y="859536"/>
            <a:ext cx="13898880" cy="475488"/>
            <a:chOff x="0" y="0"/>
            <a:chExt cx="18531840" cy="63398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8531839" cy="633984"/>
            </a:xfrm>
            <a:custGeom>
              <a:avLst/>
              <a:gdLst/>
              <a:ahLst/>
              <a:cxnLst/>
              <a:rect r="r" b="b" t="t" l="l"/>
              <a:pathLst>
                <a:path h="633984" w="18531839">
                  <a:moveTo>
                    <a:pt x="0" y="0"/>
                  </a:moveTo>
                  <a:lnTo>
                    <a:pt x="18531839" y="0"/>
                  </a:lnTo>
                  <a:lnTo>
                    <a:pt x="18531839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19562" r="0" b="-519562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18531840" cy="68160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b="true" sz="2200" spc="399">
                  <a:solidFill>
                    <a:srgbClr val="4A6FA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FECHAMENTO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005840" y="1426464"/>
            <a:ext cx="15727680" cy="1097280"/>
            <a:chOff x="0" y="0"/>
            <a:chExt cx="20970240" cy="146304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0970239" cy="1463040"/>
            </a:xfrm>
            <a:custGeom>
              <a:avLst/>
              <a:gdLst/>
              <a:ahLst/>
              <a:cxnLst/>
              <a:rect r="r" b="b" t="t" l="l"/>
              <a:pathLst>
                <a:path h="1463040" w="20970239">
                  <a:moveTo>
                    <a:pt x="0" y="0"/>
                  </a:moveTo>
                  <a:lnTo>
                    <a:pt x="20970239" y="0"/>
                  </a:lnTo>
                  <a:lnTo>
                    <a:pt x="20970239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29285" r="0" b="-229285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42875"/>
              <a:ext cx="20970240" cy="16059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920"/>
                </a:lnSpc>
              </a:pPr>
              <a:r>
                <a:rPr lang="en-US" sz="66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Conclusões</a:t>
              </a: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1005840" y="2701290"/>
            <a:ext cx="1554480" cy="14135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159"/>
              </a:lnSpc>
            </a:pPr>
            <a:r>
              <a:rPr lang="en-US" sz="6800" b="true">
                <a:solidFill>
                  <a:srgbClr val="38BDF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01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2743200" y="2834640"/>
            <a:ext cx="14447520" cy="621792"/>
            <a:chOff x="0" y="0"/>
            <a:chExt cx="19263360" cy="829056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9263361" cy="829056"/>
            </a:xfrm>
            <a:custGeom>
              <a:avLst/>
              <a:gdLst/>
              <a:ahLst/>
              <a:cxnLst/>
              <a:rect r="r" b="b" t="t" l="l"/>
              <a:pathLst>
                <a:path h="829056" w="19263361">
                  <a:moveTo>
                    <a:pt x="0" y="0"/>
                  </a:moveTo>
                  <a:lnTo>
                    <a:pt x="19263361" y="0"/>
                  </a:lnTo>
                  <a:lnTo>
                    <a:pt x="19263361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02740" r="0" b="-402740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76200"/>
              <a:ext cx="19263360" cy="90525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800"/>
                </a:lnSpc>
              </a:pPr>
              <a:r>
                <a:rPr lang="en-US" sz="40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Contribuição — Lorem ipsum dolor sit amet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2743200" y="3493008"/>
            <a:ext cx="14447520" cy="731520"/>
            <a:chOff x="0" y="0"/>
            <a:chExt cx="19263360" cy="97536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9263361" cy="975360"/>
            </a:xfrm>
            <a:custGeom>
              <a:avLst/>
              <a:gdLst/>
              <a:ahLst/>
              <a:cxnLst/>
              <a:rect r="r" b="b" t="t" l="l"/>
              <a:pathLst>
                <a:path h="975360" w="19263361">
                  <a:moveTo>
                    <a:pt x="0" y="0"/>
                  </a:moveTo>
                  <a:lnTo>
                    <a:pt x="19263361" y="0"/>
                  </a:lnTo>
                  <a:lnTo>
                    <a:pt x="19263361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34829" r="0" b="-334829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19263360" cy="10134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7E8F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Lorem ipsum dolor sit amet, consectetur adipiscing elit, sed do eiusmod tempor incididunt ut labore.</a:t>
              </a:r>
            </a:p>
          </p:txBody>
        </p:sp>
      </p:grpSp>
      <p:sp>
        <p:nvSpPr>
          <p:cNvPr name="TextBox 17" id="17"/>
          <p:cNvSpPr txBox="true"/>
          <p:nvPr/>
        </p:nvSpPr>
        <p:spPr>
          <a:xfrm rot="0">
            <a:off x="1005840" y="4274058"/>
            <a:ext cx="1554480" cy="14135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159"/>
              </a:lnSpc>
            </a:pPr>
            <a:r>
              <a:rPr lang="en-US" sz="6800" b="true">
                <a:solidFill>
                  <a:srgbClr val="38BDF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02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2743200" y="4407408"/>
            <a:ext cx="14447520" cy="621792"/>
            <a:chOff x="0" y="0"/>
            <a:chExt cx="19263360" cy="829056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9263361" cy="829056"/>
            </a:xfrm>
            <a:custGeom>
              <a:avLst/>
              <a:gdLst/>
              <a:ahLst/>
              <a:cxnLst/>
              <a:rect r="r" b="b" t="t" l="l"/>
              <a:pathLst>
                <a:path h="829056" w="19263361">
                  <a:moveTo>
                    <a:pt x="0" y="0"/>
                  </a:moveTo>
                  <a:lnTo>
                    <a:pt x="19263361" y="0"/>
                  </a:lnTo>
                  <a:lnTo>
                    <a:pt x="19263361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02740" r="0" b="-402740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76200"/>
              <a:ext cx="19263360" cy="90525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800"/>
                </a:lnSpc>
              </a:pPr>
              <a:r>
                <a:rPr lang="en-US" sz="40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Contribuição — Lorem ipsum dolor sit amet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2743200" y="5065776"/>
            <a:ext cx="14447520" cy="731520"/>
            <a:chOff x="0" y="0"/>
            <a:chExt cx="19263360" cy="97536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9263361" cy="975360"/>
            </a:xfrm>
            <a:custGeom>
              <a:avLst/>
              <a:gdLst/>
              <a:ahLst/>
              <a:cxnLst/>
              <a:rect r="r" b="b" t="t" l="l"/>
              <a:pathLst>
                <a:path h="975360" w="19263361">
                  <a:moveTo>
                    <a:pt x="0" y="0"/>
                  </a:moveTo>
                  <a:lnTo>
                    <a:pt x="19263361" y="0"/>
                  </a:lnTo>
                  <a:lnTo>
                    <a:pt x="19263361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34829" r="0" b="-334829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38100"/>
              <a:ext cx="19263360" cy="10134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7E8F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Lorem ipsum dolor sit amet, consectetur adipiscing elit, sed do eiusmod tempor incididunt ut labore.</a:t>
              </a: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1005840" y="5846826"/>
            <a:ext cx="1554480" cy="14135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159"/>
              </a:lnSpc>
            </a:pPr>
            <a:r>
              <a:rPr lang="en-US" sz="6800" b="true">
                <a:solidFill>
                  <a:srgbClr val="38BDF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03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2743200" y="5980176"/>
            <a:ext cx="14447520" cy="621792"/>
            <a:chOff x="0" y="0"/>
            <a:chExt cx="19263360" cy="829056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9263361" cy="829056"/>
            </a:xfrm>
            <a:custGeom>
              <a:avLst/>
              <a:gdLst/>
              <a:ahLst/>
              <a:cxnLst/>
              <a:rect r="r" b="b" t="t" l="l"/>
              <a:pathLst>
                <a:path h="829056" w="19263361">
                  <a:moveTo>
                    <a:pt x="0" y="0"/>
                  </a:moveTo>
                  <a:lnTo>
                    <a:pt x="19263361" y="0"/>
                  </a:lnTo>
                  <a:lnTo>
                    <a:pt x="19263361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02740" r="0" b="-402740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76200"/>
              <a:ext cx="19263360" cy="90525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800"/>
                </a:lnSpc>
              </a:pPr>
              <a:r>
                <a:rPr lang="en-US" sz="40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Contribuição — Lorem ipsum dolor sit amet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2743200" y="6638544"/>
            <a:ext cx="14447520" cy="731520"/>
            <a:chOff x="0" y="0"/>
            <a:chExt cx="19263360" cy="97536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9263361" cy="975360"/>
            </a:xfrm>
            <a:custGeom>
              <a:avLst/>
              <a:gdLst/>
              <a:ahLst/>
              <a:cxnLst/>
              <a:rect r="r" b="b" t="t" l="l"/>
              <a:pathLst>
                <a:path h="975360" w="19263361">
                  <a:moveTo>
                    <a:pt x="0" y="0"/>
                  </a:moveTo>
                  <a:lnTo>
                    <a:pt x="19263361" y="0"/>
                  </a:lnTo>
                  <a:lnTo>
                    <a:pt x="19263361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34829" r="0" b="-334829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38100"/>
              <a:ext cx="19263360" cy="10134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7E8F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Lorem ipsum dolor sit amet, consectetur adipiscing elit, sed do eiusmod tempor incididunt ut labore.</a:t>
              </a: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1005840" y="7419594"/>
            <a:ext cx="1554480" cy="14135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159"/>
              </a:lnSpc>
            </a:pPr>
            <a:r>
              <a:rPr lang="en-US" sz="6800" b="true">
                <a:solidFill>
                  <a:srgbClr val="38BDF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04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2743200" y="7552944"/>
            <a:ext cx="14447520" cy="621792"/>
            <a:chOff x="0" y="0"/>
            <a:chExt cx="19263360" cy="829056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9263361" cy="829056"/>
            </a:xfrm>
            <a:custGeom>
              <a:avLst/>
              <a:gdLst/>
              <a:ahLst/>
              <a:cxnLst/>
              <a:rect r="r" b="b" t="t" l="l"/>
              <a:pathLst>
                <a:path h="829056" w="19263361">
                  <a:moveTo>
                    <a:pt x="0" y="0"/>
                  </a:moveTo>
                  <a:lnTo>
                    <a:pt x="19263361" y="0"/>
                  </a:lnTo>
                  <a:lnTo>
                    <a:pt x="19263361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02740" r="0" b="-402740"/>
              </a:stretch>
            </a:blip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76200"/>
              <a:ext cx="19263360" cy="90525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800"/>
                </a:lnSpc>
              </a:pPr>
              <a:r>
                <a:rPr lang="en-US" sz="40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Contribuição — Lorem ipsum dolor sit amet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2743200" y="8211312"/>
            <a:ext cx="14447520" cy="731520"/>
            <a:chOff x="0" y="0"/>
            <a:chExt cx="19263360" cy="97536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19263361" cy="975360"/>
            </a:xfrm>
            <a:custGeom>
              <a:avLst/>
              <a:gdLst/>
              <a:ahLst/>
              <a:cxnLst/>
              <a:rect r="r" b="b" t="t" l="l"/>
              <a:pathLst>
                <a:path h="975360" w="19263361">
                  <a:moveTo>
                    <a:pt x="0" y="0"/>
                  </a:moveTo>
                  <a:lnTo>
                    <a:pt x="19263361" y="0"/>
                  </a:lnTo>
                  <a:lnTo>
                    <a:pt x="19263361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34829" r="0" b="-334829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38100"/>
              <a:ext cx="19263360" cy="10134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7E8F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Lorem ipsum dolor sit amet, consectetur adipiscing elit, sed do eiusmod tempor incididunt ut labore.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1005840" y="9692640"/>
            <a:ext cx="10058400" cy="457200"/>
            <a:chOff x="0" y="0"/>
            <a:chExt cx="13411200" cy="60960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13411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3411200">
                  <a:moveTo>
                    <a:pt x="0" y="0"/>
                  </a:moveTo>
                  <a:lnTo>
                    <a:pt x="13411200" y="0"/>
                  </a:lnTo>
                  <a:lnTo>
                    <a:pt x="13411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78670" r="0" b="-378670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38100"/>
              <a:ext cx="13411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7E8F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Seminário de IoT — Segurança em IoT · Grupo 6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16367760" y="9692640"/>
            <a:ext cx="914400" cy="457200"/>
            <a:chOff x="0" y="0"/>
            <a:chExt cx="1219200" cy="60960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1219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38100"/>
              <a:ext cx="1219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7E8F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42</a:t>
              </a:r>
            </a:p>
          </p:txBody>
        </p:sp>
      </p:grpSp>
    </p:spTree>
  </p:cSld>
  <p:clrMapOvr>
    <a:masterClrMapping/>
  </p:clrMapOvr>
</p:sld>
</file>

<file path=ppt/slides/slide4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05840" y="914400"/>
            <a:ext cx="621792" cy="559613"/>
            <a:chOff x="0" y="0"/>
            <a:chExt cx="829056" cy="74615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29056" cy="746125"/>
            </a:xfrm>
            <a:custGeom>
              <a:avLst/>
              <a:gdLst/>
              <a:ahLst/>
              <a:cxnLst/>
              <a:rect r="r" b="b" t="t" l="l"/>
              <a:pathLst>
                <a:path h="746125" w="829056">
                  <a:moveTo>
                    <a:pt x="0" y="373126"/>
                  </a:moveTo>
                  <a:lnTo>
                    <a:pt x="186563" y="0"/>
                  </a:lnTo>
                  <a:lnTo>
                    <a:pt x="642493" y="0"/>
                  </a:lnTo>
                  <a:lnTo>
                    <a:pt x="829056" y="373126"/>
                  </a:lnTo>
                  <a:lnTo>
                    <a:pt x="642493" y="746125"/>
                  </a:lnTo>
                  <a:lnTo>
                    <a:pt x="186563" y="746125"/>
                  </a:lnTo>
                  <a:close/>
                </a:path>
              </a:pathLst>
            </a:custGeom>
            <a:solidFill>
              <a:srgbClr val="38BDF8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865376" y="859536"/>
            <a:ext cx="13898880" cy="475488"/>
            <a:chOff x="0" y="0"/>
            <a:chExt cx="18531840" cy="63398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8531839" cy="633984"/>
            </a:xfrm>
            <a:custGeom>
              <a:avLst/>
              <a:gdLst/>
              <a:ahLst/>
              <a:cxnLst/>
              <a:rect r="r" b="b" t="t" l="l"/>
              <a:pathLst>
                <a:path h="633984" w="18531839">
                  <a:moveTo>
                    <a:pt x="0" y="0"/>
                  </a:moveTo>
                  <a:lnTo>
                    <a:pt x="18531839" y="0"/>
                  </a:lnTo>
                  <a:lnTo>
                    <a:pt x="18531839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19562" r="0" b="-519562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18531840" cy="68160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b="true" sz="2200" spc="399">
                  <a:solidFill>
                    <a:srgbClr val="4A6FA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FECHAMENTO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005840" y="1426464"/>
            <a:ext cx="15727680" cy="1097280"/>
            <a:chOff x="0" y="0"/>
            <a:chExt cx="20970240" cy="146304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0970239" cy="1463040"/>
            </a:xfrm>
            <a:custGeom>
              <a:avLst/>
              <a:gdLst/>
              <a:ahLst/>
              <a:cxnLst/>
              <a:rect r="r" b="b" t="t" l="l"/>
              <a:pathLst>
                <a:path h="1463040" w="20970239">
                  <a:moveTo>
                    <a:pt x="0" y="0"/>
                  </a:moveTo>
                  <a:lnTo>
                    <a:pt x="20970239" y="0"/>
                  </a:lnTo>
                  <a:lnTo>
                    <a:pt x="20970239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29285" r="0" b="-229285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42875"/>
              <a:ext cx="20970240" cy="16059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920"/>
                </a:lnSpc>
              </a:pPr>
              <a:r>
                <a:rPr lang="en-US" sz="66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Trabalhos Futuros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993143" y="2821943"/>
            <a:ext cx="5328923" cy="6151883"/>
            <a:chOff x="0" y="0"/>
            <a:chExt cx="7105231" cy="8202511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7105396" cy="8202676"/>
            </a:xfrm>
            <a:custGeom>
              <a:avLst/>
              <a:gdLst/>
              <a:ahLst/>
              <a:cxnLst/>
              <a:rect r="r" b="b" t="t" l="l"/>
              <a:pathLst>
                <a:path h="8202676" w="7105396">
                  <a:moveTo>
                    <a:pt x="0" y="196088"/>
                  </a:moveTo>
                  <a:cubicBezTo>
                    <a:pt x="0" y="87757"/>
                    <a:pt x="87757" y="0"/>
                    <a:pt x="196088" y="0"/>
                  </a:cubicBezTo>
                  <a:lnTo>
                    <a:pt x="6909308" y="0"/>
                  </a:lnTo>
                  <a:cubicBezTo>
                    <a:pt x="7017512" y="0"/>
                    <a:pt x="7105396" y="87757"/>
                    <a:pt x="7105396" y="196088"/>
                  </a:cubicBezTo>
                  <a:lnTo>
                    <a:pt x="7105396" y="8006588"/>
                  </a:lnTo>
                  <a:cubicBezTo>
                    <a:pt x="7105396" y="8114792"/>
                    <a:pt x="7017638" y="8202676"/>
                    <a:pt x="6909308" y="8202676"/>
                  </a:cubicBezTo>
                  <a:lnTo>
                    <a:pt x="196088" y="8202676"/>
                  </a:lnTo>
                  <a:cubicBezTo>
                    <a:pt x="87757" y="8202549"/>
                    <a:pt x="0" y="8114792"/>
                    <a:pt x="0" y="8006461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3DEEA"/>
              </a:solidFill>
              <a:prstDash val="solid"/>
              <a:miter/>
            </a:ln>
          </p:spPr>
        </p:sp>
      </p:grpSp>
      <p:grpSp>
        <p:nvGrpSpPr>
          <p:cNvPr name="Group 12" id="12"/>
          <p:cNvGrpSpPr/>
          <p:nvPr/>
        </p:nvGrpSpPr>
        <p:grpSpPr>
          <a:xfrm rot="0">
            <a:off x="1463040" y="3383280"/>
            <a:ext cx="1207008" cy="1207008"/>
            <a:chOff x="0" y="0"/>
            <a:chExt cx="1609344" cy="1609344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609344" cy="1609344"/>
            </a:xfrm>
            <a:custGeom>
              <a:avLst/>
              <a:gdLst/>
              <a:ahLst/>
              <a:cxnLst/>
              <a:rect r="r" b="b" t="t" l="l"/>
              <a:pathLst>
                <a:path h="1609344" w="1609344">
                  <a:moveTo>
                    <a:pt x="0" y="804672"/>
                  </a:moveTo>
                  <a:cubicBezTo>
                    <a:pt x="0" y="360299"/>
                    <a:pt x="360299" y="0"/>
                    <a:pt x="804672" y="0"/>
                  </a:cubicBezTo>
                  <a:cubicBezTo>
                    <a:pt x="1249045" y="0"/>
                    <a:pt x="1609344" y="360299"/>
                    <a:pt x="1609344" y="804672"/>
                  </a:cubicBezTo>
                  <a:cubicBezTo>
                    <a:pt x="1609344" y="1249045"/>
                    <a:pt x="1249045" y="1609344"/>
                    <a:pt x="804672" y="1609344"/>
                  </a:cubicBezTo>
                  <a:cubicBezTo>
                    <a:pt x="360299" y="1609344"/>
                    <a:pt x="0" y="1249045"/>
                    <a:pt x="0" y="804672"/>
                  </a:cubicBezTo>
                  <a:close/>
                </a:path>
              </a:pathLst>
            </a:custGeom>
            <a:solidFill>
              <a:srgbClr val="4A6FA5"/>
            </a:solid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1773936" y="3694176"/>
            <a:ext cx="585216" cy="585216"/>
            <a:chOff x="0" y="0"/>
            <a:chExt cx="780288" cy="780288"/>
          </a:xfrm>
        </p:grpSpPr>
        <p:sp>
          <p:nvSpPr>
            <p:cNvPr name="Freeform 15" id="15" descr="/home/claude/icons/FiSearch_FFFFFF.png"/>
            <p:cNvSpPr/>
            <p:nvPr/>
          </p:nvSpPr>
          <p:spPr>
            <a:xfrm flipH="false" flipV="false" rot="0">
              <a:off x="0" y="0"/>
              <a:ext cx="780288" cy="780288"/>
            </a:xfrm>
            <a:custGeom>
              <a:avLst/>
              <a:gdLst/>
              <a:ahLst/>
              <a:cxnLst/>
              <a:rect r="r" b="b" t="t" l="l"/>
              <a:pathLst>
                <a:path h="780288" w="780288">
                  <a:moveTo>
                    <a:pt x="0" y="0"/>
                  </a:moveTo>
                  <a:lnTo>
                    <a:pt x="780288" y="0"/>
                  </a:lnTo>
                  <a:lnTo>
                    <a:pt x="780288" y="780288"/>
                  </a:lnTo>
                  <a:lnTo>
                    <a:pt x="0" y="7802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1463040" y="4937760"/>
            <a:ext cx="4389120" cy="640080"/>
            <a:chOff x="0" y="0"/>
            <a:chExt cx="5852160" cy="85344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5852160" cy="853440"/>
            </a:xfrm>
            <a:custGeom>
              <a:avLst/>
              <a:gdLst/>
              <a:ahLst/>
              <a:cxnLst/>
              <a:rect r="r" b="b" t="t" l="l"/>
              <a:pathLst>
                <a:path h="853440" w="5852160">
                  <a:moveTo>
                    <a:pt x="0" y="0"/>
                  </a:moveTo>
                  <a:lnTo>
                    <a:pt x="5852160" y="0"/>
                  </a:lnTo>
                  <a:lnTo>
                    <a:pt x="585216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83611" r="0" b="-83611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76200"/>
              <a:ext cx="5852160" cy="9296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800"/>
                </a:lnSpc>
              </a:pPr>
              <a:r>
                <a:rPr lang="en-US" sz="40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Frente 01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1463040" y="5577840"/>
            <a:ext cx="4389120" cy="548640"/>
            <a:chOff x="0" y="0"/>
            <a:chExt cx="5852160" cy="73152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5852160" cy="731520"/>
            </a:xfrm>
            <a:custGeom>
              <a:avLst/>
              <a:gdLst/>
              <a:ahLst/>
              <a:cxnLst/>
              <a:rect r="r" b="b" t="t" l="l"/>
              <a:pathLst>
                <a:path h="731520" w="5852160">
                  <a:moveTo>
                    <a:pt x="0" y="0"/>
                  </a:moveTo>
                  <a:lnTo>
                    <a:pt x="5852160" y="0"/>
                  </a:lnTo>
                  <a:lnTo>
                    <a:pt x="585216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05880" r="0" b="-105880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57150"/>
              <a:ext cx="5852160" cy="7886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rPr lang="en-US" sz="2600" b="true">
                  <a:solidFill>
                    <a:srgbClr val="38BDF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Lorem ipsum</a:t>
              </a:r>
            </a:p>
          </p:txBody>
        </p:sp>
      </p:grpSp>
      <p:sp>
        <p:nvSpPr>
          <p:cNvPr name="TextBox 22" id="22"/>
          <p:cNvSpPr txBox="true"/>
          <p:nvPr/>
        </p:nvSpPr>
        <p:spPr>
          <a:xfrm rot="0">
            <a:off x="1463040" y="6179820"/>
            <a:ext cx="4389120" cy="2415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7E8FA6"/>
                </a:solidFill>
                <a:latin typeface="Calibri (MS)"/>
                <a:ea typeface="Calibri (MS)"/>
                <a:cs typeface="Calibri (MS)"/>
                <a:sym typeface="Calibri (MS)"/>
              </a:rPr>
              <a:t>Lorem ipsum dolor sit amet, consectetur adipiscing elit. Sed do eiusmod tempor incididunt ut labore et dolore magna aliqua.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6662423" y="2821943"/>
            <a:ext cx="5328923" cy="6151883"/>
            <a:chOff x="0" y="0"/>
            <a:chExt cx="7105231" cy="8202511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7105396" cy="8202676"/>
            </a:xfrm>
            <a:custGeom>
              <a:avLst/>
              <a:gdLst/>
              <a:ahLst/>
              <a:cxnLst/>
              <a:rect r="r" b="b" t="t" l="l"/>
              <a:pathLst>
                <a:path h="8202676" w="7105396">
                  <a:moveTo>
                    <a:pt x="0" y="196088"/>
                  </a:moveTo>
                  <a:cubicBezTo>
                    <a:pt x="0" y="87757"/>
                    <a:pt x="87757" y="0"/>
                    <a:pt x="196088" y="0"/>
                  </a:cubicBezTo>
                  <a:lnTo>
                    <a:pt x="6909308" y="0"/>
                  </a:lnTo>
                  <a:cubicBezTo>
                    <a:pt x="7017512" y="0"/>
                    <a:pt x="7105396" y="87757"/>
                    <a:pt x="7105396" y="196088"/>
                  </a:cubicBezTo>
                  <a:lnTo>
                    <a:pt x="7105396" y="8006588"/>
                  </a:lnTo>
                  <a:cubicBezTo>
                    <a:pt x="7105396" y="8114792"/>
                    <a:pt x="7017638" y="8202676"/>
                    <a:pt x="6909308" y="8202676"/>
                  </a:cubicBezTo>
                  <a:lnTo>
                    <a:pt x="196088" y="8202676"/>
                  </a:lnTo>
                  <a:cubicBezTo>
                    <a:pt x="87757" y="8202549"/>
                    <a:pt x="0" y="8114792"/>
                    <a:pt x="0" y="8006461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3DEEA"/>
              </a:solidFill>
              <a:prstDash val="solid"/>
              <a:miter/>
            </a:ln>
          </p:spPr>
        </p:sp>
      </p:grpSp>
      <p:grpSp>
        <p:nvGrpSpPr>
          <p:cNvPr name="Group 25" id="25"/>
          <p:cNvGrpSpPr/>
          <p:nvPr/>
        </p:nvGrpSpPr>
        <p:grpSpPr>
          <a:xfrm rot="0">
            <a:off x="7132320" y="3383280"/>
            <a:ext cx="1207008" cy="1207008"/>
            <a:chOff x="0" y="0"/>
            <a:chExt cx="1609344" cy="1609344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609344" cy="1609344"/>
            </a:xfrm>
            <a:custGeom>
              <a:avLst/>
              <a:gdLst/>
              <a:ahLst/>
              <a:cxnLst/>
              <a:rect r="r" b="b" t="t" l="l"/>
              <a:pathLst>
                <a:path h="1609344" w="1609344">
                  <a:moveTo>
                    <a:pt x="0" y="804672"/>
                  </a:moveTo>
                  <a:cubicBezTo>
                    <a:pt x="0" y="360299"/>
                    <a:pt x="360299" y="0"/>
                    <a:pt x="804672" y="0"/>
                  </a:cubicBezTo>
                  <a:cubicBezTo>
                    <a:pt x="1249045" y="0"/>
                    <a:pt x="1609344" y="360299"/>
                    <a:pt x="1609344" y="804672"/>
                  </a:cubicBezTo>
                  <a:cubicBezTo>
                    <a:pt x="1609344" y="1249045"/>
                    <a:pt x="1249045" y="1609344"/>
                    <a:pt x="804672" y="1609344"/>
                  </a:cubicBezTo>
                  <a:cubicBezTo>
                    <a:pt x="360299" y="1609344"/>
                    <a:pt x="0" y="1249045"/>
                    <a:pt x="0" y="804672"/>
                  </a:cubicBezTo>
                  <a:close/>
                </a:path>
              </a:pathLst>
            </a:custGeom>
            <a:solidFill>
              <a:srgbClr val="4A6FA5"/>
            </a:solid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7443216" y="3694176"/>
            <a:ext cx="585216" cy="585216"/>
            <a:chOff x="0" y="0"/>
            <a:chExt cx="780288" cy="780288"/>
          </a:xfrm>
        </p:grpSpPr>
        <p:sp>
          <p:nvSpPr>
            <p:cNvPr name="Freeform 28" id="28" descr="/home/claude/icons/FiZap_FFFFFF.png"/>
            <p:cNvSpPr/>
            <p:nvPr/>
          </p:nvSpPr>
          <p:spPr>
            <a:xfrm flipH="false" flipV="false" rot="0">
              <a:off x="0" y="0"/>
              <a:ext cx="780288" cy="780288"/>
            </a:xfrm>
            <a:custGeom>
              <a:avLst/>
              <a:gdLst/>
              <a:ahLst/>
              <a:cxnLst/>
              <a:rect r="r" b="b" t="t" l="l"/>
              <a:pathLst>
                <a:path h="780288" w="780288">
                  <a:moveTo>
                    <a:pt x="0" y="0"/>
                  </a:moveTo>
                  <a:lnTo>
                    <a:pt x="780288" y="0"/>
                  </a:lnTo>
                  <a:lnTo>
                    <a:pt x="780288" y="780288"/>
                  </a:lnTo>
                  <a:lnTo>
                    <a:pt x="0" y="7802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7132320" y="4937760"/>
            <a:ext cx="4389120" cy="640080"/>
            <a:chOff x="0" y="0"/>
            <a:chExt cx="5852160" cy="85344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5852160" cy="853440"/>
            </a:xfrm>
            <a:custGeom>
              <a:avLst/>
              <a:gdLst/>
              <a:ahLst/>
              <a:cxnLst/>
              <a:rect r="r" b="b" t="t" l="l"/>
              <a:pathLst>
                <a:path h="853440" w="5852160">
                  <a:moveTo>
                    <a:pt x="0" y="0"/>
                  </a:moveTo>
                  <a:lnTo>
                    <a:pt x="5852160" y="0"/>
                  </a:lnTo>
                  <a:lnTo>
                    <a:pt x="585216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83611" r="0" b="-83611"/>
              </a:stretch>
            </a:blipFill>
          </p:spPr>
        </p:sp>
        <p:sp>
          <p:nvSpPr>
            <p:cNvPr name="TextBox 31" id="31"/>
            <p:cNvSpPr txBox="true"/>
            <p:nvPr/>
          </p:nvSpPr>
          <p:spPr>
            <a:xfrm>
              <a:off x="0" y="-76200"/>
              <a:ext cx="5852160" cy="9296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800"/>
                </a:lnSpc>
              </a:pPr>
              <a:r>
                <a:rPr lang="en-US" sz="40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Frente 02</a:t>
              </a: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7132320" y="5577840"/>
            <a:ext cx="4389120" cy="548640"/>
            <a:chOff x="0" y="0"/>
            <a:chExt cx="5852160" cy="73152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5852160" cy="731520"/>
            </a:xfrm>
            <a:custGeom>
              <a:avLst/>
              <a:gdLst/>
              <a:ahLst/>
              <a:cxnLst/>
              <a:rect r="r" b="b" t="t" l="l"/>
              <a:pathLst>
                <a:path h="731520" w="5852160">
                  <a:moveTo>
                    <a:pt x="0" y="0"/>
                  </a:moveTo>
                  <a:lnTo>
                    <a:pt x="5852160" y="0"/>
                  </a:lnTo>
                  <a:lnTo>
                    <a:pt x="585216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05880" r="0" b="-105880"/>
              </a:stretch>
            </a:blip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57150"/>
              <a:ext cx="5852160" cy="7886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rPr lang="en-US" sz="2600" b="true">
                  <a:solidFill>
                    <a:srgbClr val="38BDF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Lorem ipsum</a:t>
              </a:r>
            </a:p>
          </p:txBody>
        </p:sp>
      </p:grpSp>
      <p:sp>
        <p:nvSpPr>
          <p:cNvPr name="TextBox 35" id="35"/>
          <p:cNvSpPr txBox="true"/>
          <p:nvPr/>
        </p:nvSpPr>
        <p:spPr>
          <a:xfrm rot="0">
            <a:off x="7132320" y="6179820"/>
            <a:ext cx="4389120" cy="2415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7E8FA6"/>
                </a:solidFill>
                <a:latin typeface="Calibri (MS)"/>
                <a:ea typeface="Calibri (MS)"/>
                <a:cs typeface="Calibri (MS)"/>
                <a:sym typeface="Calibri (MS)"/>
              </a:rPr>
              <a:t>Lorem ipsum dolor sit amet, consectetur adipiscing elit. Sed do eiusmod tempor incididunt ut labore et dolore magna aliqua.</a:t>
            </a:r>
          </a:p>
        </p:txBody>
      </p:sp>
      <p:grpSp>
        <p:nvGrpSpPr>
          <p:cNvPr name="Group 36" id="36"/>
          <p:cNvGrpSpPr/>
          <p:nvPr/>
        </p:nvGrpSpPr>
        <p:grpSpPr>
          <a:xfrm rot="0">
            <a:off x="12331703" y="2821943"/>
            <a:ext cx="5328923" cy="6151883"/>
            <a:chOff x="0" y="0"/>
            <a:chExt cx="7105231" cy="8202511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7105396" cy="8202676"/>
            </a:xfrm>
            <a:custGeom>
              <a:avLst/>
              <a:gdLst/>
              <a:ahLst/>
              <a:cxnLst/>
              <a:rect r="r" b="b" t="t" l="l"/>
              <a:pathLst>
                <a:path h="8202676" w="7105396">
                  <a:moveTo>
                    <a:pt x="0" y="196088"/>
                  </a:moveTo>
                  <a:cubicBezTo>
                    <a:pt x="0" y="87757"/>
                    <a:pt x="87757" y="0"/>
                    <a:pt x="196088" y="0"/>
                  </a:cubicBezTo>
                  <a:lnTo>
                    <a:pt x="6909308" y="0"/>
                  </a:lnTo>
                  <a:cubicBezTo>
                    <a:pt x="7017512" y="0"/>
                    <a:pt x="7105396" y="87757"/>
                    <a:pt x="7105396" y="196088"/>
                  </a:cubicBezTo>
                  <a:lnTo>
                    <a:pt x="7105396" y="8006588"/>
                  </a:lnTo>
                  <a:cubicBezTo>
                    <a:pt x="7105396" y="8114792"/>
                    <a:pt x="7017638" y="8202676"/>
                    <a:pt x="6909308" y="8202676"/>
                  </a:cubicBezTo>
                  <a:lnTo>
                    <a:pt x="196088" y="8202676"/>
                  </a:lnTo>
                  <a:cubicBezTo>
                    <a:pt x="87757" y="8202549"/>
                    <a:pt x="0" y="8114792"/>
                    <a:pt x="0" y="8006461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3DEEA"/>
              </a:solidFill>
              <a:prstDash val="solid"/>
              <a:miter/>
            </a:ln>
          </p:spPr>
        </p:sp>
      </p:grpSp>
      <p:grpSp>
        <p:nvGrpSpPr>
          <p:cNvPr name="Group 38" id="38"/>
          <p:cNvGrpSpPr/>
          <p:nvPr/>
        </p:nvGrpSpPr>
        <p:grpSpPr>
          <a:xfrm rot="0">
            <a:off x="12801600" y="3383280"/>
            <a:ext cx="1207008" cy="1207008"/>
            <a:chOff x="0" y="0"/>
            <a:chExt cx="1609344" cy="1609344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1609344" cy="1609344"/>
            </a:xfrm>
            <a:custGeom>
              <a:avLst/>
              <a:gdLst/>
              <a:ahLst/>
              <a:cxnLst/>
              <a:rect r="r" b="b" t="t" l="l"/>
              <a:pathLst>
                <a:path h="1609344" w="1609344">
                  <a:moveTo>
                    <a:pt x="0" y="804672"/>
                  </a:moveTo>
                  <a:cubicBezTo>
                    <a:pt x="0" y="360299"/>
                    <a:pt x="360299" y="0"/>
                    <a:pt x="804672" y="0"/>
                  </a:cubicBezTo>
                  <a:cubicBezTo>
                    <a:pt x="1249045" y="0"/>
                    <a:pt x="1609344" y="360299"/>
                    <a:pt x="1609344" y="804672"/>
                  </a:cubicBezTo>
                  <a:cubicBezTo>
                    <a:pt x="1609344" y="1249045"/>
                    <a:pt x="1249045" y="1609344"/>
                    <a:pt x="804672" y="1609344"/>
                  </a:cubicBezTo>
                  <a:cubicBezTo>
                    <a:pt x="360299" y="1609344"/>
                    <a:pt x="0" y="1249045"/>
                    <a:pt x="0" y="804672"/>
                  </a:cubicBezTo>
                  <a:close/>
                </a:path>
              </a:pathLst>
            </a:custGeom>
            <a:solidFill>
              <a:srgbClr val="4A6FA5"/>
            </a:solidFill>
          </p:spPr>
        </p:sp>
      </p:grpSp>
      <p:grpSp>
        <p:nvGrpSpPr>
          <p:cNvPr name="Group 40" id="40"/>
          <p:cNvGrpSpPr/>
          <p:nvPr/>
        </p:nvGrpSpPr>
        <p:grpSpPr>
          <a:xfrm rot="0">
            <a:off x="13112496" y="3694176"/>
            <a:ext cx="585216" cy="585216"/>
            <a:chOff x="0" y="0"/>
            <a:chExt cx="780288" cy="780288"/>
          </a:xfrm>
        </p:grpSpPr>
        <p:sp>
          <p:nvSpPr>
            <p:cNvPr name="Freeform 41" id="41" descr="/home/claude/icons/FiGlobe_FFFFFF.png"/>
            <p:cNvSpPr/>
            <p:nvPr/>
          </p:nvSpPr>
          <p:spPr>
            <a:xfrm flipH="false" flipV="false" rot="0">
              <a:off x="0" y="0"/>
              <a:ext cx="780288" cy="780288"/>
            </a:xfrm>
            <a:custGeom>
              <a:avLst/>
              <a:gdLst/>
              <a:ahLst/>
              <a:cxnLst/>
              <a:rect r="r" b="b" t="t" l="l"/>
              <a:pathLst>
                <a:path h="780288" w="780288">
                  <a:moveTo>
                    <a:pt x="0" y="0"/>
                  </a:moveTo>
                  <a:lnTo>
                    <a:pt x="780288" y="0"/>
                  </a:lnTo>
                  <a:lnTo>
                    <a:pt x="780288" y="780288"/>
                  </a:lnTo>
                  <a:lnTo>
                    <a:pt x="0" y="7802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42" id="42"/>
          <p:cNvGrpSpPr/>
          <p:nvPr/>
        </p:nvGrpSpPr>
        <p:grpSpPr>
          <a:xfrm rot="0">
            <a:off x="12801600" y="4937760"/>
            <a:ext cx="4389120" cy="640080"/>
            <a:chOff x="0" y="0"/>
            <a:chExt cx="5852160" cy="85344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5852160" cy="853440"/>
            </a:xfrm>
            <a:custGeom>
              <a:avLst/>
              <a:gdLst/>
              <a:ahLst/>
              <a:cxnLst/>
              <a:rect r="r" b="b" t="t" l="l"/>
              <a:pathLst>
                <a:path h="853440" w="5852160">
                  <a:moveTo>
                    <a:pt x="0" y="0"/>
                  </a:moveTo>
                  <a:lnTo>
                    <a:pt x="5852160" y="0"/>
                  </a:lnTo>
                  <a:lnTo>
                    <a:pt x="585216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83611" r="0" b="-83611"/>
              </a:stretch>
            </a:blipFill>
          </p:spPr>
        </p:sp>
        <p:sp>
          <p:nvSpPr>
            <p:cNvPr name="TextBox 44" id="44"/>
            <p:cNvSpPr txBox="true"/>
            <p:nvPr/>
          </p:nvSpPr>
          <p:spPr>
            <a:xfrm>
              <a:off x="0" y="-76200"/>
              <a:ext cx="5852160" cy="9296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800"/>
                </a:lnSpc>
              </a:pPr>
              <a:r>
                <a:rPr lang="en-US" sz="40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Frente 03</a:t>
              </a:r>
            </a:p>
          </p:txBody>
        </p:sp>
      </p:grpSp>
      <p:grpSp>
        <p:nvGrpSpPr>
          <p:cNvPr name="Group 45" id="45"/>
          <p:cNvGrpSpPr/>
          <p:nvPr/>
        </p:nvGrpSpPr>
        <p:grpSpPr>
          <a:xfrm rot="0">
            <a:off x="12801600" y="5577840"/>
            <a:ext cx="4389120" cy="548640"/>
            <a:chOff x="0" y="0"/>
            <a:chExt cx="5852160" cy="73152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5852160" cy="731520"/>
            </a:xfrm>
            <a:custGeom>
              <a:avLst/>
              <a:gdLst/>
              <a:ahLst/>
              <a:cxnLst/>
              <a:rect r="r" b="b" t="t" l="l"/>
              <a:pathLst>
                <a:path h="731520" w="5852160">
                  <a:moveTo>
                    <a:pt x="0" y="0"/>
                  </a:moveTo>
                  <a:lnTo>
                    <a:pt x="5852160" y="0"/>
                  </a:lnTo>
                  <a:lnTo>
                    <a:pt x="585216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05880" r="0" b="-105880"/>
              </a:stretch>
            </a:blipFill>
          </p:spPr>
        </p:sp>
        <p:sp>
          <p:nvSpPr>
            <p:cNvPr name="TextBox 47" id="47"/>
            <p:cNvSpPr txBox="true"/>
            <p:nvPr/>
          </p:nvSpPr>
          <p:spPr>
            <a:xfrm>
              <a:off x="0" y="-57150"/>
              <a:ext cx="5852160" cy="7886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rPr lang="en-US" sz="2600" b="true">
                  <a:solidFill>
                    <a:srgbClr val="38BDF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Lorem ipsum</a:t>
              </a:r>
            </a:p>
          </p:txBody>
        </p:sp>
      </p:grpSp>
      <p:sp>
        <p:nvSpPr>
          <p:cNvPr name="TextBox 48" id="48"/>
          <p:cNvSpPr txBox="true"/>
          <p:nvPr/>
        </p:nvSpPr>
        <p:spPr>
          <a:xfrm rot="0">
            <a:off x="12801600" y="6179820"/>
            <a:ext cx="4389120" cy="2415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7E8FA6"/>
                </a:solidFill>
                <a:latin typeface="Calibri (MS)"/>
                <a:ea typeface="Calibri (MS)"/>
                <a:cs typeface="Calibri (MS)"/>
                <a:sym typeface="Calibri (MS)"/>
              </a:rPr>
              <a:t>Lorem ipsum dolor sit amet, consectetur adipiscing elit. Sed do eiusmod tempor incididunt ut labore et dolore magna aliqua.</a:t>
            </a:r>
          </a:p>
        </p:txBody>
      </p:sp>
      <p:grpSp>
        <p:nvGrpSpPr>
          <p:cNvPr name="Group 49" id="49"/>
          <p:cNvGrpSpPr/>
          <p:nvPr/>
        </p:nvGrpSpPr>
        <p:grpSpPr>
          <a:xfrm rot="0">
            <a:off x="1005840" y="9692640"/>
            <a:ext cx="10058400" cy="457200"/>
            <a:chOff x="0" y="0"/>
            <a:chExt cx="13411200" cy="609600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13411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3411200">
                  <a:moveTo>
                    <a:pt x="0" y="0"/>
                  </a:moveTo>
                  <a:lnTo>
                    <a:pt x="13411200" y="0"/>
                  </a:lnTo>
                  <a:lnTo>
                    <a:pt x="13411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78670" r="0" b="-378670"/>
              </a:stretch>
            </a:blipFill>
          </p:spPr>
        </p:sp>
        <p:sp>
          <p:nvSpPr>
            <p:cNvPr name="TextBox 51" id="51"/>
            <p:cNvSpPr txBox="true"/>
            <p:nvPr/>
          </p:nvSpPr>
          <p:spPr>
            <a:xfrm>
              <a:off x="0" y="-38100"/>
              <a:ext cx="13411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7E8F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Seminário de IoT — Segurança em IoT · Grupo 6</a:t>
              </a:r>
            </a:p>
          </p:txBody>
        </p:sp>
      </p:grpSp>
      <p:grpSp>
        <p:nvGrpSpPr>
          <p:cNvPr name="Group 52" id="52"/>
          <p:cNvGrpSpPr/>
          <p:nvPr/>
        </p:nvGrpSpPr>
        <p:grpSpPr>
          <a:xfrm rot="0">
            <a:off x="16367760" y="9692640"/>
            <a:ext cx="914400" cy="457200"/>
            <a:chOff x="0" y="0"/>
            <a:chExt cx="1219200" cy="60960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1219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54" id="54"/>
            <p:cNvSpPr txBox="true"/>
            <p:nvPr/>
          </p:nvSpPr>
          <p:spPr>
            <a:xfrm>
              <a:off x="0" y="-38100"/>
              <a:ext cx="1219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7E8F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43</a:t>
              </a:r>
            </a:p>
          </p:txBody>
        </p:sp>
      </p:grpSp>
    </p:spTree>
  </p:cSld>
  <p:clrMapOvr>
    <a:masterClrMapping/>
  </p:clrMapOvr>
</p:sld>
</file>

<file path=ppt/slides/slide4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05840" y="914400"/>
            <a:ext cx="621792" cy="559613"/>
            <a:chOff x="0" y="0"/>
            <a:chExt cx="829056" cy="74615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29056" cy="746125"/>
            </a:xfrm>
            <a:custGeom>
              <a:avLst/>
              <a:gdLst/>
              <a:ahLst/>
              <a:cxnLst/>
              <a:rect r="r" b="b" t="t" l="l"/>
              <a:pathLst>
                <a:path h="746125" w="829056">
                  <a:moveTo>
                    <a:pt x="0" y="373126"/>
                  </a:moveTo>
                  <a:lnTo>
                    <a:pt x="186563" y="0"/>
                  </a:lnTo>
                  <a:lnTo>
                    <a:pt x="642493" y="0"/>
                  </a:lnTo>
                  <a:lnTo>
                    <a:pt x="829056" y="373126"/>
                  </a:lnTo>
                  <a:lnTo>
                    <a:pt x="642493" y="746125"/>
                  </a:lnTo>
                  <a:lnTo>
                    <a:pt x="186563" y="746125"/>
                  </a:lnTo>
                  <a:close/>
                </a:path>
              </a:pathLst>
            </a:custGeom>
            <a:solidFill>
              <a:srgbClr val="38BDF8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865376" y="859536"/>
            <a:ext cx="13898880" cy="475488"/>
            <a:chOff x="0" y="0"/>
            <a:chExt cx="18531840" cy="63398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8531839" cy="633984"/>
            </a:xfrm>
            <a:custGeom>
              <a:avLst/>
              <a:gdLst/>
              <a:ahLst/>
              <a:cxnLst/>
              <a:rect r="r" b="b" t="t" l="l"/>
              <a:pathLst>
                <a:path h="633984" w="18531839">
                  <a:moveTo>
                    <a:pt x="0" y="0"/>
                  </a:moveTo>
                  <a:lnTo>
                    <a:pt x="18531839" y="0"/>
                  </a:lnTo>
                  <a:lnTo>
                    <a:pt x="18531839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19562" r="0" b="-519562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18531840" cy="68160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b="true" sz="2200" spc="399">
                  <a:solidFill>
                    <a:srgbClr val="4A6FA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BIBLIOGRAFIA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005840" y="1426464"/>
            <a:ext cx="15727680" cy="1097280"/>
            <a:chOff x="0" y="0"/>
            <a:chExt cx="20970240" cy="146304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0970239" cy="1463040"/>
            </a:xfrm>
            <a:custGeom>
              <a:avLst/>
              <a:gdLst/>
              <a:ahLst/>
              <a:cxnLst/>
              <a:rect r="r" b="b" t="t" l="l"/>
              <a:pathLst>
                <a:path h="1463040" w="20970239">
                  <a:moveTo>
                    <a:pt x="0" y="0"/>
                  </a:moveTo>
                  <a:lnTo>
                    <a:pt x="20970239" y="0"/>
                  </a:lnTo>
                  <a:lnTo>
                    <a:pt x="20970239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29285" r="0" b="-229285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42875"/>
              <a:ext cx="20970240" cy="16059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920"/>
                </a:lnSpc>
              </a:pPr>
              <a:r>
                <a:rPr lang="en-US" sz="6600" b="true">
                  <a:solidFill>
                    <a:srgbClr val="0F2C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Referências</a:t>
              </a: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1005840" y="2767965"/>
            <a:ext cx="16276320" cy="59188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23900" indent="-361950" lvl="1">
              <a:lnSpc>
                <a:spcPts val="3600"/>
              </a:lnSpc>
              <a:buFont typeface="Arial"/>
              <a:buChar char="•"/>
            </a:pPr>
            <a:r>
              <a:rPr lang="en-US" sz="3000">
                <a:solidFill>
                  <a:srgbClr val="3A4C63"/>
                </a:solidFill>
                <a:latin typeface="Calibri (MS)"/>
                <a:ea typeface="Calibri (MS)"/>
                <a:cs typeface="Calibri (MS)"/>
                <a:sym typeface="Calibri (MS)"/>
              </a:rPr>
              <a:t>AUTOR, A. Lorem ipsum dolor sit amet: consectetur adipiscing elit. Cidade: Editora Lorem, 20XX.</a:t>
            </a:r>
          </a:p>
          <a:p>
            <a:pPr algn="l" marL="723900" indent="-361950" lvl="1">
              <a:lnSpc>
                <a:spcPts val="3600"/>
              </a:lnSpc>
              <a:buFont typeface="Arial"/>
              <a:buChar char="•"/>
            </a:pPr>
            <a:r>
              <a:rPr lang="en-US" sz="3000">
                <a:solidFill>
                  <a:srgbClr val="3A4C63"/>
                </a:solidFill>
                <a:latin typeface="Calibri (MS)"/>
                <a:ea typeface="Calibri (MS)"/>
                <a:cs typeface="Calibri (MS)"/>
                <a:sym typeface="Calibri (MS)"/>
              </a:rPr>
              <a:t>AUTOR, B.; AUTOR, C. Sed do eiusmod tempor incididunt ut labore. Revista Lorem Ipsum, v. 0, n. 0, p. 00-00, 20XX.</a:t>
            </a:r>
          </a:p>
          <a:p>
            <a:pPr algn="l" marL="723900" indent="-361950" lvl="1">
              <a:lnSpc>
                <a:spcPts val="3600"/>
              </a:lnSpc>
              <a:buFont typeface="Arial"/>
              <a:buChar char="•"/>
            </a:pPr>
            <a:r>
              <a:rPr lang="en-US" sz="3000">
                <a:solidFill>
                  <a:srgbClr val="3A4C63"/>
                </a:solidFill>
                <a:latin typeface="Calibri (MS)"/>
                <a:ea typeface="Calibri (MS)"/>
                <a:cs typeface="Calibri (MS)"/>
                <a:sym typeface="Calibri (MS)"/>
              </a:rPr>
              <a:t>ORGANIZAÇÃO LOREM. RFC 0000 — Lorem ipsum dolor sit amet. 20XX. Disponível em: &lt;URL da documentação oficial&gt;.</a:t>
            </a:r>
          </a:p>
          <a:p>
            <a:pPr algn="l" marL="723900" indent="-361950" lvl="1">
              <a:lnSpc>
                <a:spcPts val="3600"/>
              </a:lnSpc>
              <a:buFont typeface="Arial"/>
              <a:buChar char="•"/>
            </a:pPr>
            <a:r>
              <a:rPr lang="en-US" sz="3000">
                <a:solidFill>
                  <a:srgbClr val="3A4C63"/>
                </a:solidFill>
                <a:latin typeface="Calibri (MS)"/>
                <a:ea typeface="Calibri (MS)"/>
                <a:cs typeface="Calibri (MS)"/>
                <a:sym typeface="Calibri (MS)"/>
              </a:rPr>
              <a:t>AUTOR, D. Ut enim ad minim veniam: quis nostrud exercitation. Anais do Congresso Lorem, 20XX.</a:t>
            </a:r>
          </a:p>
          <a:p>
            <a:pPr algn="l" marL="723900" indent="-361950" lvl="1">
              <a:lnSpc>
                <a:spcPts val="3600"/>
              </a:lnSpc>
              <a:buFont typeface="Arial"/>
              <a:buChar char="•"/>
            </a:pPr>
            <a:r>
              <a:rPr lang="en-US" sz="3000">
                <a:solidFill>
                  <a:srgbClr val="3A4C63"/>
                </a:solidFill>
                <a:latin typeface="Calibri (MS)"/>
                <a:ea typeface="Calibri (MS)"/>
                <a:cs typeface="Calibri (MS)"/>
                <a:sym typeface="Calibri (MS)"/>
              </a:rPr>
              <a:t>AUTOR, E. Duis aute irure dolor in reprehenderit. Documentação oficial Lorem, 20XX. Disponível em: &lt;URL&gt;.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1005840" y="8869680"/>
            <a:ext cx="16276320" cy="548640"/>
            <a:chOff x="0" y="0"/>
            <a:chExt cx="21701760" cy="73152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1701761" cy="731520"/>
            </a:xfrm>
            <a:custGeom>
              <a:avLst/>
              <a:gdLst/>
              <a:ahLst/>
              <a:cxnLst/>
              <a:rect r="r" b="b" t="t" l="l"/>
              <a:pathLst>
                <a:path h="731520" w="21701761">
                  <a:moveTo>
                    <a:pt x="0" y="0"/>
                  </a:moveTo>
                  <a:lnTo>
                    <a:pt x="21701761" y="0"/>
                  </a:lnTo>
                  <a:lnTo>
                    <a:pt x="21701761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28056" r="0" b="-528056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47625"/>
              <a:ext cx="21701760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 i="true">
                  <a:solidFill>
                    <a:srgbClr val="7E8FA6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Formatação sugerida: ABNT NBR 6023 — substitua pelos itens reais (livro da disciplina, artigos, RFCs).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005840" y="9692640"/>
            <a:ext cx="10058400" cy="457200"/>
            <a:chOff x="0" y="0"/>
            <a:chExt cx="13411200" cy="609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3411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3411200">
                  <a:moveTo>
                    <a:pt x="0" y="0"/>
                  </a:moveTo>
                  <a:lnTo>
                    <a:pt x="13411200" y="0"/>
                  </a:lnTo>
                  <a:lnTo>
                    <a:pt x="13411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78670" r="0" b="-378670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13411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7E8F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Seminário de IoT — Segurança em IoT · Grupo 6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6367760" y="9692640"/>
            <a:ext cx="914400" cy="457200"/>
            <a:chOff x="0" y="0"/>
            <a:chExt cx="1219200" cy="6096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219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1219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7E8F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44</a:t>
              </a:r>
            </a:p>
          </p:txBody>
        </p:sp>
      </p:grpSp>
    </p:spTree>
  </p:cSld>
  <p:clrMapOvr>
    <a:masterClrMapping/>
  </p:clrMapOvr>
</p:sld>
</file>

<file path=ppt/slides/slide4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F2C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4630400" y="1280160"/>
            <a:ext cx="1737360" cy="1563624"/>
            <a:chOff x="0" y="0"/>
            <a:chExt cx="2316480" cy="208483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16480" cy="2084832"/>
            </a:xfrm>
            <a:custGeom>
              <a:avLst/>
              <a:gdLst/>
              <a:ahLst/>
              <a:cxnLst/>
              <a:rect r="r" b="b" t="t" l="l"/>
              <a:pathLst>
                <a:path h="2084832" w="2316480">
                  <a:moveTo>
                    <a:pt x="0" y="1042416"/>
                  </a:moveTo>
                  <a:lnTo>
                    <a:pt x="521208" y="0"/>
                  </a:lnTo>
                  <a:lnTo>
                    <a:pt x="1795272" y="0"/>
                  </a:lnTo>
                  <a:lnTo>
                    <a:pt x="2316480" y="1042416"/>
                  </a:lnTo>
                  <a:lnTo>
                    <a:pt x="1795272" y="2084832"/>
                  </a:lnTo>
                  <a:lnTo>
                    <a:pt x="521208" y="2084832"/>
                  </a:lnTo>
                  <a:close/>
                </a:path>
              </a:pathLst>
            </a:custGeom>
            <a:solidFill>
              <a:srgbClr val="1B447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3167360" y="3108960"/>
            <a:ext cx="914400" cy="822960"/>
            <a:chOff x="0" y="0"/>
            <a:chExt cx="1219200" cy="109728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19200" cy="1097280"/>
            </a:xfrm>
            <a:custGeom>
              <a:avLst/>
              <a:gdLst/>
              <a:ahLst/>
              <a:cxnLst/>
              <a:rect r="r" b="b" t="t" l="l"/>
              <a:pathLst>
                <a:path h="1097280" w="1219200">
                  <a:moveTo>
                    <a:pt x="0" y="548640"/>
                  </a:moveTo>
                  <a:lnTo>
                    <a:pt x="274320" y="0"/>
                  </a:lnTo>
                  <a:lnTo>
                    <a:pt x="944880" y="0"/>
                  </a:lnTo>
                  <a:lnTo>
                    <a:pt x="1219200" y="548640"/>
                  </a:lnTo>
                  <a:lnTo>
                    <a:pt x="944880" y="1097280"/>
                  </a:lnTo>
                  <a:lnTo>
                    <a:pt x="274320" y="1097280"/>
                  </a:lnTo>
                  <a:close/>
                </a:path>
              </a:pathLst>
            </a:custGeom>
            <a:solidFill>
              <a:srgbClr val="38BDF8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280160" y="7680960"/>
            <a:ext cx="1280160" cy="1152144"/>
            <a:chOff x="0" y="0"/>
            <a:chExt cx="1706880" cy="1536192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706880" cy="1536192"/>
            </a:xfrm>
            <a:custGeom>
              <a:avLst/>
              <a:gdLst/>
              <a:ahLst/>
              <a:cxnLst/>
              <a:rect r="r" b="b" t="t" l="l"/>
              <a:pathLst>
                <a:path h="1536192" w="1706880">
                  <a:moveTo>
                    <a:pt x="0" y="768096"/>
                  </a:moveTo>
                  <a:lnTo>
                    <a:pt x="384048" y="0"/>
                  </a:lnTo>
                  <a:lnTo>
                    <a:pt x="1322832" y="0"/>
                  </a:lnTo>
                  <a:lnTo>
                    <a:pt x="1706880" y="768096"/>
                  </a:lnTo>
                  <a:lnTo>
                    <a:pt x="1322832" y="1536192"/>
                  </a:lnTo>
                  <a:lnTo>
                    <a:pt x="384048" y="1536192"/>
                  </a:lnTo>
                  <a:close/>
                </a:path>
              </a:pathLst>
            </a:custGeom>
            <a:solidFill>
              <a:srgbClr val="1B4470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8321040" y="1645920"/>
            <a:ext cx="1645920" cy="1645920"/>
            <a:chOff x="0" y="0"/>
            <a:chExt cx="2194560" cy="219456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94560" cy="2194560"/>
            </a:xfrm>
            <a:custGeom>
              <a:avLst/>
              <a:gdLst/>
              <a:ahLst/>
              <a:cxnLst/>
              <a:rect r="r" b="b" t="t" l="l"/>
              <a:pathLst>
                <a:path h="2194560" w="2194560">
                  <a:moveTo>
                    <a:pt x="0" y="1097280"/>
                  </a:moveTo>
                  <a:cubicBezTo>
                    <a:pt x="0" y="491236"/>
                    <a:pt x="491236" y="0"/>
                    <a:pt x="1097280" y="0"/>
                  </a:cubicBezTo>
                  <a:cubicBezTo>
                    <a:pt x="1703324" y="0"/>
                    <a:pt x="2194560" y="491236"/>
                    <a:pt x="2194560" y="1097280"/>
                  </a:cubicBezTo>
                  <a:cubicBezTo>
                    <a:pt x="2194560" y="1703324"/>
                    <a:pt x="1703324" y="2194560"/>
                    <a:pt x="1097280" y="2194560"/>
                  </a:cubicBezTo>
                  <a:cubicBezTo>
                    <a:pt x="491236" y="2194560"/>
                    <a:pt x="0" y="1703324"/>
                    <a:pt x="0" y="1097280"/>
                  </a:cubicBezTo>
                  <a:close/>
                </a:path>
              </a:pathLst>
            </a:custGeom>
            <a:solidFill>
              <a:srgbClr val="4A6FA5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723376" y="2048256"/>
            <a:ext cx="841248" cy="841248"/>
            <a:chOff x="0" y="0"/>
            <a:chExt cx="1121664" cy="1121664"/>
          </a:xfrm>
        </p:grpSpPr>
        <p:sp>
          <p:nvSpPr>
            <p:cNvPr name="Freeform 11" id="11" descr="/home/claude/icons/FiHelpCircle_FFFFFF.png"/>
            <p:cNvSpPr/>
            <p:nvPr/>
          </p:nvSpPr>
          <p:spPr>
            <a:xfrm flipH="false" flipV="false" rot="0">
              <a:off x="0" y="0"/>
              <a:ext cx="1121664" cy="1121664"/>
            </a:xfrm>
            <a:custGeom>
              <a:avLst/>
              <a:gdLst/>
              <a:ahLst/>
              <a:cxnLst/>
              <a:rect r="r" b="b" t="t" l="l"/>
              <a:pathLst>
                <a:path h="1121664" w="1121664">
                  <a:moveTo>
                    <a:pt x="0" y="0"/>
                  </a:moveTo>
                  <a:lnTo>
                    <a:pt x="1121664" y="0"/>
                  </a:lnTo>
                  <a:lnTo>
                    <a:pt x="1121664" y="1121664"/>
                  </a:lnTo>
                  <a:lnTo>
                    <a:pt x="0" y="11216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097280" y="3749040"/>
            <a:ext cx="16093440" cy="1463040"/>
            <a:chOff x="0" y="0"/>
            <a:chExt cx="21457920" cy="195072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1457920" cy="1950720"/>
            </a:xfrm>
            <a:custGeom>
              <a:avLst/>
              <a:gdLst/>
              <a:ahLst/>
              <a:cxnLst/>
              <a:rect r="r" b="b" t="t" l="l"/>
              <a:pathLst>
                <a:path h="1950720" w="21457920">
                  <a:moveTo>
                    <a:pt x="0" y="0"/>
                  </a:moveTo>
                  <a:lnTo>
                    <a:pt x="21457920" y="0"/>
                  </a:lnTo>
                  <a:lnTo>
                    <a:pt x="21457920" y="1950720"/>
                  </a:lnTo>
                  <a:lnTo>
                    <a:pt x="0" y="19507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4335" r="0" b="-164335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161925"/>
              <a:ext cx="21457920" cy="21126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9600"/>
                </a:lnSpc>
              </a:pPr>
              <a:r>
                <a:rPr lang="en-US" sz="80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Perguntas?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1097280" y="5394960"/>
            <a:ext cx="16093440" cy="731520"/>
            <a:chOff x="0" y="0"/>
            <a:chExt cx="21457920" cy="97536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457920" cy="975360"/>
            </a:xfrm>
            <a:custGeom>
              <a:avLst/>
              <a:gdLst/>
              <a:ahLst/>
              <a:cxnLst/>
              <a:rect r="r" b="b" t="t" l="l"/>
              <a:pathLst>
                <a:path h="975360" w="21457920">
                  <a:moveTo>
                    <a:pt x="0" y="0"/>
                  </a:moveTo>
                  <a:lnTo>
                    <a:pt x="21457920" y="0"/>
                  </a:lnTo>
                  <a:lnTo>
                    <a:pt x="2145792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78670" r="0" b="-378670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57150"/>
              <a:ext cx="21457920" cy="10325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840"/>
                </a:lnSpc>
              </a:pPr>
              <a:r>
                <a:rPr lang="en-US" sz="3200">
                  <a:solidFill>
                    <a:srgbClr val="C9D7EA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Obrigado! · Lorem ipsum dolor sit amet, consectetur adipiscing elit.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097280" y="6492240"/>
            <a:ext cx="16093440" cy="640080"/>
            <a:chOff x="0" y="0"/>
            <a:chExt cx="21457920" cy="85344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1457920" cy="853440"/>
            </a:xfrm>
            <a:custGeom>
              <a:avLst/>
              <a:gdLst/>
              <a:ahLst/>
              <a:cxnLst/>
              <a:rect r="r" b="b" t="t" l="l"/>
              <a:pathLst>
                <a:path h="853440" w="21457920">
                  <a:moveTo>
                    <a:pt x="0" y="0"/>
                  </a:moveTo>
                  <a:lnTo>
                    <a:pt x="21457920" y="0"/>
                  </a:lnTo>
                  <a:lnTo>
                    <a:pt x="2145792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39909" r="0" b="-439909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21457920" cy="8915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>
                  <a:solidFill>
                    <a:srgbClr val="9FB4C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Grupo 6 · integrante@dominio.br · Disciplina de Internet das Coisas (IoT)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1097280" y="9692640"/>
            <a:ext cx="10058400" cy="457200"/>
            <a:chOff x="0" y="0"/>
            <a:chExt cx="13411200" cy="6096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3411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3411200">
                  <a:moveTo>
                    <a:pt x="0" y="0"/>
                  </a:moveTo>
                  <a:lnTo>
                    <a:pt x="13411200" y="0"/>
                  </a:lnTo>
                  <a:lnTo>
                    <a:pt x="13411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78670" r="0" b="-378670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38100"/>
              <a:ext cx="13411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6E85A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Seminário de IoT — Segurança em IoT · Grupo 6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16367760" y="9692640"/>
            <a:ext cx="914400" cy="457200"/>
            <a:chOff x="0" y="0"/>
            <a:chExt cx="1219200" cy="6096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219200" cy="609600"/>
            </a:xfrm>
            <a:custGeom>
              <a:avLst/>
              <a:gdLst/>
              <a:ahLst/>
              <a:cxnLst/>
              <a:rect r="r" b="b" t="t" l="l"/>
              <a:pathLst>
                <a:path h="609600" w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38100"/>
              <a:ext cx="121920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6E85A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45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DAHPT1YPoEo</dc:identifier>
  <dcterms:modified xsi:type="dcterms:W3CDTF">2011-08-01T06:04:30Z</dcterms:modified>
  <cp:revision>1</cp:revision>
</cp:coreProperties>
</file>